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8466653-56d2-7521-c7ab-7fb13819892c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a8629bd0-dce6-ab09-3805-b5c06c153916}">
          <p14:sldIdLst>
            <p14:sldId id="261"/>
          </p14:sldIdLst>
        </p14:section>
        <p14:section name="2교시" id="{3e2384b6-5343-b026-c8f5-93dba0a9ddae}">
          <p14:sldIdLst>
            <p14:sldId id="262"/>
          </p14:sldIdLst>
        </p14:section>
        <p14:section name="3교시" id="{d7c91eea-6c31-36ad-cdc6-a9dcefe94516}">
          <p14:sldIdLst>
            <p14:sldId id="263"/>
          </p14:sldIdLst>
        </p14:section>
        <p14:section name="4교시" id="{932b67e8-a5ba-03a9-a883-af62b0a04a07}">
          <p14:sldIdLst>
            <p14:sldId id="264"/>
          </p14:sldIdLst>
        </p14:section>
        <p14:section name="5교시" id="{26301853-4afd-97c2-68b6-961bcce13403}">
          <p14:sldIdLst>
            <p14:sldId id="265"/>
          </p14:sldIdLst>
        </p14:section>
        <p14:section name="6교시" id="{3aab5c35-3595-4ef1-63e7-7388bc53316e}">
          <p14:sldIdLst>
            <p14:sldId id="266"/>
          </p14:sldIdLst>
        </p14:section>
        <p14:section name="7교시" id="{17d88247-8eca-b1c1-e3b7-452e0bebc887}">
          <p14:sldIdLst>
            <p14:sldId id="267"/>
          </p14:sldIdLst>
        </p14:section>
        <p14:section name="8교시" id="{7d5ba5d3-9dfb-4349-3475-b5d6c538af12}">
          <p14:sldIdLst>
            <p14:sldId id="268"/>
          </p14:sldIdLst>
        </p14:section>
        <p14:section name="정리" id="{82880b8c-fea9-cbef-df04-7b5a7abeb3c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에서 만든 순전파 · 손실에 역방향(기울기) 계산을 붙여 학습을 빠르게 만드는 날. 09:00 Day 2 복습 퀴즈로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복습 퀴즈에서 오답이 많은 문항(softmax 안정화, 선형 쌓기, 학습률 상한)은 해당 Day 2 애니메이션으로 2~3분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cross-entropy 의 log 에 더하는 값은 오늘부터 1e-12. 이유는 6교시 gradient check 에서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 CPU 약 14초, Colab 30~60초. test 오답 306개 / 10,000. int8 양자화 가중치로도 test 0.9692 — 온디바이스 Quantization 예고 소재로 과제 5 해석에서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Neural Network Day 3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NN-day3/" TargetMode="External"/><Relationship Id="rId2" Type="http://schemas.openxmlformats.org/officeDocument/2006/relationships/hyperlink" Target="https://imguru-mooc.github.io/AI_CAMPUS/NN-day3/animation.html" TargetMode="External"/><Relationship Id="rId3" Type="http://schemas.openxmlformats.org/officeDocument/2006/relationships/hyperlink" Target="https://imguru-mooc.github.io/AI_CAMPUS/NN-day3/worksheet.html" TargetMode="External"/><Relationship Id="rId4" Type="http://schemas.openxmlformats.org/officeDocument/2006/relationships/hyperlink" Target="https://imguru-mooc.github.io/AI_CAMPUS/NN-day3/NN_Day3_lecture.ipynb" TargetMode="External"/><Relationship Id="rId5" Type="http://schemas.openxmlformats.org/officeDocument/2006/relationships/hyperlink" Target="https://imguru-mooc.github.io/AI_CAMPUS/NN-day3/NN_Day3.pdf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" name="text_1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Neural Network Day 3</a:t>
            </a:r>
            <a:endParaRPr lang="en-US" sz="4600" dirty="0"/>
          </a:p>
        </p:txBody>
      </p:sp>
      <p:sp>
        <p:nvSpPr>
          <p:cNvPr id="4" name="text_2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역전파 (backpropagation)</a:t>
            </a:r>
            <a:endParaRPr lang="en-US" sz="2600" dirty="0"/>
          </a:p>
        </p:txBody>
      </p:sp>
      <p:sp>
        <p:nvSpPr>
          <p:cNvPr id="5" name="text_3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HYUNDAI AI Insight Campus · 온디바이스 AI · Neural Network 3/5</a:t>
            </a:r>
            <a:endParaRPr lang="en-US" sz="1500" dirty="0"/>
          </a:p>
        </p:txBody>
      </p:sp>
      <p:sp>
        <p:nvSpPr>
          <p:cNvPr id="6" name="text_4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10. 22 (목)  09:00–18:00  ·  8교시  ·  Google Colab</a:t>
            </a:r>
            <a:endParaRPr lang="en-US" sz="1300" dirty="0"/>
          </a:p>
        </p:txBody>
      </p:sp>
      <p:sp>
        <p:nvSpPr>
          <p:cNvPr id="7" name="tag_5"/>
          <p:cNvSpPr/>
          <p:nvPr/>
        </p:nvSpPr>
        <p:spPr>
          <a:xfrm>
            <a:off x="105156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_6"/>
          <p:cNvSpPr txBox="1"/>
          <p:nvPr/>
        </p:nvSpPr>
        <p:spPr>
          <a:xfrm>
            <a:off x="105156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계산 그래프</a:t>
            </a:r>
            <a:endParaRPr lang="en-US" sz="1100" dirty="0"/>
          </a:p>
        </p:txBody>
      </p:sp>
      <p:sp>
        <p:nvSpPr>
          <p:cNvPr id="9" name="tag_7"/>
          <p:cNvSpPr/>
          <p:nvPr/>
        </p:nvSpPr>
        <p:spPr>
          <a:xfrm>
            <a:off x="274320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_8"/>
          <p:cNvSpPr txBox="1"/>
          <p:nvPr/>
        </p:nvSpPr>
        <p:spPr>
          <a:xfrm>
            <a:off x="274320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연쇄 법칙</a:t>
            </a:r>
            <a:endParaRPr lang="en-US" sz="1100" dirty="0"/>
          </a:p>
        </p:txBody>
      </p:sp>
      <p:sp>
        <p:nvSpPr>
          <p:cNvPr id="11" name="tag_9"/>
          <p:cNvSpPr/>
          <p:nvPr/>
        </p:nvSpPr>
        <p:spPr>
          <a:xfrm>
            <a:off x="443484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_10"/>
          <p:cNvSpPr txBox="1"/>
          <p:nvPr/>
        </p:nvSpPr>
        <p:spPr>
          <a:xfrm>
            <a:off x="443484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ReLU · Sigmoid</a:t>
            </a:r>
            <a:endParaRPr lang="en-US" sz="1100" dirty="0"/>
          </a:p>
        </p:txBody>
      </p:sp>
      <p:sp>
        <p:nvSpPr>
          <p:cNvPr id="13" name="tag_11"/>
          <p:cNvSpPr/>
          <p:nvPr/>
        </p:nvSpPr>
        <p:spPr>
          <a:xfrm>
            <a:off x="612648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text_12"/>
          <p:cNvSpPr txBox="1"/>
          <p:nvPr/>
        </p:nvSpPr>
        <p:spPr>
          <a:xfrm>
            <a:off x="612648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Affine · Softmax</a:t>
            </a:r>
            <a:endParaRPr lang="en-US" sz="1100" dirty="0"/>
          </a:p>
        </p:txBody>
      </p:sp>
      <p:sp>
        <p:nvSpPr>
          <p:cNvPr id="15" name="tag_13"/>
          <p:cNvSpPr/>
          <p:nvPr/>
        </p:nvSpPr>
        <p:spPr>
          <a:xfrm>
            <a:off x="781812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_14"/>
          <p:cNvSpPr txBox="1"/>
          <p:nvPr/>
        </p:nvSpPr>
        <p:spPr>
          <a:xfrm>
            <a:off x="781812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Gradient check</a:t>
            </a:r>
            <a:endParaRPr lang="en-US" sz="1100" dirty="0"/>
          </a:p>
        </p:txBody>
      </p:sp>
      <p:sp>
        <p:nvSpPr>
          <p:cNvPr id="17" name="tag_15"/>
          <p:cNvSpPr/>
          <p:nvPr/>
        </p:nvSpPr>
        <p:spPr>
          <a:xfrm>
            <a:off x="950976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_16"/>
          <p:cNvSpPr txBox="1"/>
          <p:nvPr/>
        </p:nvSpPr>
        <p:spPr>
          <a:xfrm>
            <a:off x="950976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MNIST MLP</a:t>
            </a:r>
            <a:endParaRPr lang="en-US" sz="1100" dirty="0"/>
          </a:p>
        </p:txBody>
      </p:sp>
      <p:sp>
        <p:nvSpPr>
          <p:cNvPr id="19" name="text_17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강사: 김정인 · 김구수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학습 목표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수업이 끝나면 여러분은 다음을 할 수 있습니다</a:t>
            </a:r>
            <a:endParaRPr lang="en-US" sz="1300" dirty="0"/>
          </a:p>
        </p:txBody>
      </p:sp>
      <p:sp>
        <p:nvSpPr>
          <p:cNvPr id="4" name="panel_18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badge_19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Num_20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_21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수치 미분의 한계</a:t>
            </a:r>
            <a:endParaRPr lang="en-US" sz="1700" dirty="0"/>
          </a:p>
        </p:txBody>
      </p:sp>
      <p:sp>
        <p:nvSpPr>
          <p:cNvPr id="8" name="text_22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파라미터 수로 비용을 계산한다 — 79,510개 → step 당 손실 159,020번</a:t>
            </a:r>
            <a:endParaRPr lang="en-US" sz="1250" dirty="0"/>
          </a:p>
        </p:txBody>
      </p:sp>
      <p:sp>
        <p:nvSpPr>
          <p:cNvPr id="9" name="panel_23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0" name="badge_24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5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_26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계산 그래프</a:t>
            </a:r>
            <a:endParaRPr lang="en-US" sz="1700" dirty="0"/>
          </a:p>
        </p:txBody>
      </p:sp>
      <p:sp>
        <p:nvSpPr>
          <p:cNvPr id="13" name="text_27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사과 · 귤 쇼핑 그래프의 순전파 값과 역전파 기울기를 손으로 채운다</a:t>
            </a:r>
            <a:endParaRPr lang="en-US" sz="1250" dirty="0"/>
          </a:p>
        </p:txBody>
      </p:sp>
      <p:sp>
        <p:nvSpPr>
          <p:cNvPr id="14" name="panel_28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5" name="badge_29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Num_30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_31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연쇄 법칙</a:t>
            </a:r>
            <a:endParaRPr lang="en-US" sz="1700" dirty="0"/>
          </a:p>
        </p:txBody>
      </p:sp>
      <p:sp>
        <p:nvSpPr>
          <p:cNvPr id="18" name="text_32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덧셈 노드 · 곱셈 노드의 backward 규칙으로 MulLayer · AddLayer 를 만든다</a:t>
            </a:r>
            <a:endParaRPr lang="en-US" sz="1250" dirty="0"/>
          </a:p>
        </p:txBody>
      </p:sp>
      <p:sp>
        <p:nvSpPr>
          <p:cNvPr id="19" name="panel_33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badge_34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badgeNum_35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_36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계층 구현</a:t>
            </a:r>
            <a:endParaRPr lang="en-US" sz="1700" dirty="0"/>
          </a:p>
        </p:txBody>
      </p:sp>
      <p:sp>
        <p:nvSpPr>
          <p:cNvPr id="23" name="text_37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Relu · Sigmoid · Affine · SoftmaxWithLoss 의 forward / backward 를 구현한다</a:t>
            </a:r>
            <a:endParaRPr lang="en-US" sz="1250" dirty="0"/>
          </a:p>
        </p:txBody>
      </p:sp>
      <p:sp>
        <p:nvSpPr>
          <p:cNvPr id="24" name="panel_38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badge_39"/>
          <p:cNvSpPr/>
          <p:nvPr/>
        </p:nvSpPr>
        <p:spPr>
          <a:xfrm>
            <a:off x="685800" y="49377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badgeNum_40"/>
          <p:cNvSpPr txBox="1"/>
          <p:nvPr/>
        </p:nvSpPr>
        <p:spPr>
          <a:xfrm>
            <a:off x="685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_41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Gradient check</a:t>
            </a:r>
            <a:endParaRPr lang="en-US" sz="1700" dirty="0"/>
          </a:p>
        </p:txBody>
      </p:sp>
      <p:sp>
        <p:nvSpPr>
          <p:cNvPr id="28" name="text_42"/>
          <p:cNvSpPr txBox="1"/>
          <p:nvPr/>
        </p:nvSpPr>
        <p:spPr>
          <a:xfrm>
            <a:off x="1234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상대 오차로 역전파를 수치 미분과 비교하고, 숨은 버그를 찾는다</a:t>
            </a:r>
            <a:endParaRPr lang="en-US" sz="1250" dirty="0"/>
          </a:p>
        </p:txBody>
      </p:sp>
      <p:sp>
        <p:nvSpPr>
          <p:cNvPr id="29" name="panel_43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0" name="badge_44"/>
          <p:cNvSpPr/>
          <p:nvPr/>
        </p:nvSpPr>
        <p:spPr>
          <a:xfrm>
            <a:off x="6400800" y="493776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badgeNum_45"/>
          <p:cNvSpPr txBox="1"/>
          <p:nvPr/>
        </p:nvSpPr>
        <p:spPr>
          <a:xfrm>
            <a:off x="6400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_46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미니배치 학습</a:t>
            </a:r>
            <a:endParaRPr lang="en-US" sz="1700" dirty="0"/>
          </a:p>
        </p:txBody>
      </p:sp>
      <p:sp>
        <p:nvSpPr>
          <p:cNvPr id="33" name="text_47"/>
          <p:cNvSpPr txBox="1"/>
          <p:nvPr/>
        </p:nvSpPr>
        <p:spPr>
          <a:xfrm>
            <a:off x="6949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미니배치 SGD 로 나선 데이터와 MNIST(test ≥ 0.95)를 학습시킨다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시간표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8교시 × 50분 · 점심 12:00–13:00 · 오전 원리(계산 그래프 · 연쇄 법칙), 오후 계층 구현 → 검증 → 학습</a:t>
            </a:r>
            <a:endParaRPr lang="en-US" sz="1300" dirty="0"/>
          </a:p>
        </p:txBody>
      </p:sp>
      <p:graphicFrame>
        <p:nvGraphicFramePr>
          <p:cNvPr id="4" name="tim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4937760"/>
                <a:gridCol w="1280160"/>
                <a:gridCol w="2770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교시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시간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주제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형태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애니메이션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 복습 퀴즈 · 수치 미분의 한계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+ 강의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 수치 미분 vs 역전파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그래프 — 사과 · 귤 쇼핑 예제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D3-2 계산 그래프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연쇄 법칙 — 덧셈 · 곱셈 노드, MulLayer · AddLayer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D3-3 연쇄 법칙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활성화 계층 — Relu · Sigmoid forward / backward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D3-4 ReLU · Sigmoid 계층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Affine · Softmax-with-Loss 역전파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D3-5 shape 퍼즐 · D3-6 y − 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Gradient check — TwoLayerNet · 상대 오차 · 버그 찾기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D3-7 Gradient check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미니배치 SGD — 나선 3클래스 분류 · 결정 경계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D3-8 미니배치 SGD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— MNIST 2층 MLP (test ≥ 0.95)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D3-9 MNIST 2층 MLP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자료 · 온라인 링크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예측(애니메이션) → 검증(노트북) → 점검(워크시트) — 모두 브라우저에서 바로 열립니다</a:t>
            </a:r>
            <a:endParaRPr lang="en-US" sz="1300" dirty="0"/>
          </a:p>
        </p:txBody>
      </p:sp>
      <p:sp>
        <p:nvSpPr>
          <p:cNvPr id="4" name="panel_48"/>
          <p:cNvSpPr/>
          <p:nvPr/>
        </p:nvSpPr>
        <p:spPr>
          <a:xfrm>
            <a:off x="457200" y="146304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49"/>
          <p:cNvSpPr txBox="1"/>
          <p:nvPr/>
        </p:nvSpPr>
        <p:spPr>
          <a:xfrm>
            <a:off x="6858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기본 주소 (Day 3)</a:t>
            </a:r>
            <a:endParaRPr lang="en-US" sz="1200" dirty="0"/>
          </a:p>
        </p:txBody>
      </p:sp>
      <p:sp>
        <p:nvSpPr>
          <p:cNvPr id="6" name="text_50"/>
          <p:cNvSpPr txBox="1"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https://imguru-mooc.github.io/AI_CAMPUS/NN-day3/</a:t>
            </a:r>
            <a:endParaRPr lang="en-US" sz="1800" dirty="0"/>
          </a:p>
        </p:txBody>
      </p:sp>
      <p:sp>
        <p:nvSpPr>
          <p:cNvPr id="7" name="panel_51"/>
          <p:cNvSpPr/>
          <p:nvPr/>
        </p:nvSpPr>
        <p:spPr>
          <a:xfrm>
            <a:off x="457200" y="26517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text_52"/>
          <p:cNvSpPr txBox="1"/>
          <p:nvPr/>
        </p:nvSpPr>
        <p:spPr>
          <a:xfrm>
            <a:off x="68580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400" dirty="0"/>
          </a:p>
        </p:txBody>
      </p:sp>
      <p:sp>
        <p:nvSpPr>
          <p:cNvPr id="9" name="text_53"/>
          <p:cNvSpPr txBox="1"/>
          <p:nvPr/>
        </p:nvSpPr>
        <p:spPr>
          <a:xfrm>
            <a:off x="466344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애니메이션 9개 (D3-1 ~ D3-9) — #d3-5 처럼 바로가기</a:t>
            </a:r>
            <a:endParaRPr lang="en-US" sz="1300" dirty="0"/>
          </a:p>
        </p:txBody>
      </p:sp>
      <p:sp>
        <p:nvSpPr>
          <p:cNvPr id="10" name="panel_54"/>
          <p:cNvSpPr/>
          <p:nvPr/>
        </p:nvSpPr>
        <p:spPr>
          <a:xfrm>
            <a:off x="457200" y="3310128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1" name="text_55"/>
          <p:cNvSpPr txBox="1"/>
          <p:nvPr/>
        </p:nvSpPr>
        <p:spPr>
          <a:xfrm>
            <a:off x="68580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400" dirty="0"/>
          </a:p>
        </p:txBody>
      </p:sp>
      <p:sp>
        <p:nvSpPr>
          <p:cNvPr id="12" name="text_56"/>
          <p:cNvSpPr txBox="1"/>
          <p:nvPr/>
        </p:nvSpPr>
        <p:spPr>
          <a:xfrm>
            <a:off x="4663440" y="33101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개념 워크시트 — #t1 ~ #t8 교시 바로가기</a:t>
            </a:r>
            <a:endParaRPr lang="en-US" sz="1300" dirty="0"/>
          </a:p>
        </p:txBody>
      </p:sp>
      <p:sp>
        <p:nvSpPr>
          <p:cNvPr id="13" name="panel_57"/>
          <p:cNvSpPr/>
          <p:nvPr/>
        </p:nvSpPr>
        <p:spPr>
          <a:xfrm>
            <a:off x="457200" y="3968496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58"/>
          <p:cNvSpPr txBox="1"/>
          <p:nvPr/>
        </p:nvSpPr>
        <p:spPr>
          <a:xfrm>
            <a:off x="685800" y="3968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NN_Day3_lecture.ipynb</a:t>
            </a:r>
            <a:endParaRPr lang="en-US" sz="1400" dirty="0"/>
          </a:p>
        </p:txBody>
      </p:sp>
      <p:sp>
        <p:nvSpPr>
          <p:cNvPr id="15" name="text_59"/>
          <p:cNvSpPr txBox="1"/>
          <p:nvPr/>
        </p:nvSpPr>
        <p:spPr>
          <a:xfrm>
            <a:off x="4663440" y="39684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강의 노트북 — 1~8교시 문제 + MNIST 미니 프로젝트 (Colab 에서 열기)</a:t>
            </a:r>
            <a:endParaRPr lang="en-US" sz="1300" dirty="0"/>
          </a:p>
        </p:txBody>
      </p:sp>
      <p:sp>
        <p:nvSpPr>
          <p:cNvPr id="16" name="panel_60"/>
          <p:cNvSpPr/>
          <p:nvPr/>
        </p:nvSpPr>
        <p:spPr>
          <a:xfrm>
            <a:off x="457200" y="4626864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61"/>
          <p:cNvSpPr txBox="1"/>
          <p:nvPr/>
        </p:nvSpPr>
        <p:spPr>
          <a:xfrm>
            <a:off x="685800" y="46268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NN_Day3.pdf</a:t>
            </a:r>
            <a:endParaRPr lang="en-US" sz="1400" dirty="0"/>
          </a:p>
        </p:txBody>
      </p:sp>
      <p:sp>
        <p:nvSpPr>
          <p:cNvPr id="18" name="text_62"/>
          <p:cNvSpPr txBox="1"/>
          <p:nvPr/>
        </p:nvSpPr>
        <p:spPr>
          <a:xfrm>
            <a:off x="4663440" y="4626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오늘 슬라이드 PDF</a:t>
            </a:r>
            <a:endParaRPr lang="en-US" sz="1300" dirty="0"/>
          </a:p>
        </p:txBody>
      </p:sp>
      <p:sp>
        <p:nvSpPr>
          <p:cNvPr id="19" name="panel_63"/>
          <p:cNvSpPr/>
          <p:nvPr/>
        </p:nvSpPr>
        <p:spPr>
          <a:xfrm>
            <a:off x="457200" y="5285232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text_64"/>
          <p:cNvSpPr txBox="1"/>
          <p:nvPr/>
        </p:nvSpPr>
        <p:spPr>
          <a:xfrm>
            <a:off x="685800" y="5285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 복습 퀴즈</a:t>
            </a:r>
            <a:endParaRPr lang="en-US" sz="1400" dirty="0"/>
          </a:p>
        </p:txBody>
      </p:sp>
      <p:sp>
        <p:nvSpPr>
          <p:cNvPr id="21" name="text_65"/>
          <p:cNvSpPr txBox="1"/>
          <p:nvPr/>
        </p:nvSpPr>
        <p:spPr>
          <a:xfrm>
            <a:off x="4663440" y="52852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09:00 시작 — 강사가 Google Forms 링크 공유 (20문항 · 15분)</a:t>
            </a:r>
            <a:endParaRPr lang="en-US" sz="1300" dirty="0"/>
          </a:p>
        </p:txBody>
      </p:sp>
      <p:sp>
        <p:nvSpPr>
          <p:cNvPr id="22" name="text_66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노트북은 "파일 → Drive에 사본 저장" 후 작업 · 런타임이 끊기면 환경 셀(계층 클래스 포함)부터 다시 실행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 만드는 것 — 학습의 고리 중 "기울기" 칸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Day 2: 순전파 · 손실을 완성했지만 기울기는 손 유도 · 수치 미분. 오늘은 역방향으로 한 번에 모든 기울기를 구합니다</a:t>
            </a:r>
            <a:endParaRPr lang="en-US" sz="1300" dirty="0"/>
          </a:p>
        </p:txBody>
      </p:sp>
      <p:sp>
        <p:nvSpPr>
          <p:cNvPr id="4" name="panel_67"/>
          <p:cNvSpPr/>
          <p:nvPr/>
        </p:nvSpPr>
        <p:spPr>
          <a:xfrm>
            <a:off x="45720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_68"/>
          <p:cNvSpPr txBox="1"/>
          <p:nvPr/>
        </p:nvSpPr>
        <p:spPr>
          <a:xfrm>
            <a:off x="64008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순전파</a:t>
            </a:r>
            <a:endParaRPr lang="en-US" sz="1800" dirty="0"/>
          </a:p>
        </p:txBody>
      </p:sp>
      <p:sp>
        <p:nvSpPr>
          <p:cNvPr id="6" name="text_69"/>
          <p:cNvSpPr txBox="1"/>
          <p:nvPr/>
        </p:nvSpPr>
        <p:spPr>
          <a:xfrm>
            <a:off x="64008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Y = XW + b → 활성화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Day 2</a:t>
            </a:r>
            <a:endParaRPr lang="en-US" sz="1250" dirty="0"/>
          </a:p>
        </p:txBody>
      </p:sp>
      <p:sp>
        <p:nvSpPr>
          <p:cNvPr id="7" name="text_70"/>
          <p:cNvSpPr txBox="1"/>
          <p:nvPr/>
        </p:nvSpPr>
        <p:spPr>
          <a:xfrm>
            <a:off x="3090672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panel_71"/>
          <p:cNvSpPr/>
          <p:nvPr/>
        </p:nvSpPr>
        <p:spPr>
          <a:xfrm>
            <a:off x="333756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9" name="text_72"/>
          <p:cNvSpPr txBox="1"/>
          <p:nvPr/>
        </p:nvSpPr>
        <p:spPr>
          <a:xfrm>
            <a:off x="352044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손실</a:t>
            </a:r>
            <a:endParaRPr lang="en-US" sz="1800" dirty="0"/>
          </a:p>
        </p:txBody>
      </p:sp>
      <p:sp>
        <p:nvSpPr>
          <p:cNvPr id="10" name="text_73"/>
          <p:cNvSpPr txBox="1"/>
          <p:nvPr/>
        </p:nvSpPr>
        <p:spPr>
          <a:xfrm>
            <a:off x="352044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softmax · 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Day 2</a:t>
            </a:r>
            <a:endParaRPr lang="en-US" sz="1250" dirty="0"/>
          </a:p>
        </p:txBody>
      </p:sp>
      <p:sp>
        <p:nvSpPr>
          <p:cNvPr id="11" name="text_74"/>
          <p:cNvSpPr txBox="1"/>
          <p:nvPr/>
        </p:nvSpPr>
        <p:spPr>
          <a:xfrm>
            <a:off x="5971032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panel_75"/>
          <p:cNvSpPr/>
          <p:nvPr/>
        </p:nvSpPr>
        <p:spPr>
          <a:xfrm>
            <a:off x="621792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31750">
            <a:solidFill>
              <a:srgbClr val="F5B942"/>
            </a:solidFill>
            <a:prstDash val="solid"/>
          </a:ln>
        </p:spPr>
      </p:sp>
      <p:sp>
        <p:nvSpPr>
          <p:cNvPr id="13" name="text_76"/>
          <p:cNvSpPr txBox="1"/>
          <p:nvPr/>
        </p:nvSpPr>
        <p:spPr>
          <a:xfrm>
            <a:off x="640080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역전파</a:t>
            </a:r>
            <a:endParaRPr lang="en-US" sz="1800" dirty="0"/>
          </a:p>
        </p:txBody>
      </p:sp>
      <p:sp>
        <p:nvSpPr>
          <p:cNvPr id="14" name="text_77"/>
          <p:cNvSpPr txBox="1"/>
          <p:nvPr/>
        </p:nvSpPr>
        <p:spPr>
          <a:xfrm>
            <a:off x="640080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dout 을 거꾸로 전달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Day 3 (오늘)</a:t>
            </a:r>
            <a:endParaRPr lang="en-US" sz="1250" dirty="0"/>
          </a:p>
        </p:txBody>
      </p:sp>
      <p:sp>
        <p:nvSpPr>
          <p:cNvPr id="15" name="text_78"/>
          <p:cNvSpPr txBox="1"/>
          <p:nvPr/>
        </p:nvSpPr>
        <p:spPr>
          <a:xfrm>
            <a:off x="8851392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panel_79"/>
          <p:cNvSpPr/>
          <p:nvPr/>
        </p:nvSpPr>
        <p:spPr>
          <a:xfrm>
            <a:off x="909828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7" name="text_80"/>
          <p:cNvSpPr txBox="1"/>
          <p:nvPr/>
        </p:nvSpPr>
        <p:spPr>
          <a:xfrm>
            <a:off x="928116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갱신</a:t>
            </a:r>
            <a:endParaRPr lang="en-US" sz="1800" dirty="0"/>
          </a:p>
        </p:txBody>
      </p:sp>
      <p:sp>
        <p:nvSpPr>
          <p:cNvPr id="18" name="text_81"/>
          <p:cNvSpPr txBox="1"/>
          <p:nvPr/>
        </p:nvSpPr>
        <p:spPr>
          <a:xfrm>
            <a:off x="928116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 ← W − η·dW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Day 3 미니배치 SGD</a:t>
            </a:r>
            <a:endParaRPr lang="en-US" sz="1250" dirty="0"/>
          </a:p>
        </p:txBody>
      </p:sp>
      <p:sp>
        <p:nvSpPr>
          <p:cNvPr id="19" name="panel_82"/>
          <p:cNvSpPr/>
          <p:nvPr/>
        </p:nvSpPr>
        <p:spPr>
          <a:xfrm>
            <a:off x="457200" y="310896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text_83"/>
          <p:cNvSpPr txBox="1"/>
          <p:nvPr/>
        </p:nvSpPr>
        <p:spPr>
          <a:xfrm>
            <a:off x="68580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수치 미분 (Day 1 · 2)</a:t>
            </a:r>
            <a:endParaRPr lang="en-US" sz="1500" dirty="0"/>
          </a:p>
        </p:txBody>
      </p:sp>
      <p:sp>
        <p:nvSpPr>
          <p:cNvPr id="21" name="codebg_84"/>
          <p:cNvSpPr/>
          <p:nvPr/>
        </p:nvSpPr>
        <p:spPr>
          <a:xfrm>
            <a:off x="685800" y="3749040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code_85"/>
          <p:cNvSpPr txBox="1"/>
          <p:nvPr/>
        </p:nvSpPr>
        <p:spPr>
          <a:xfrm>
            <a:off x="795528" y="3803904"/>
            <a:ext cx="4855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784·100 + 100 + 100·10 + 10 = 79,510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손실 계산 2P = 159,020 번 / step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69 초 / step  →  1 epoch ≈ 11.5 시간</a:t>
            </a:r>
            <a:endParaRPr lang="en-US" sz="1300" dirty="0"/>
          </a:p>
        </p:txBody>
      </p:sp>
      <p:sp>
        <p:nvSpPr>
          <p:cNvPr id="23" name="text_86"/>
          <p:cNvSpPr txBox="1"/>
          <p:nvPr/>
        </p:nvSpPr>
        <p:spPr>
          <a:xfrm>
            <a:off x="68580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파라미터마다 손실 2번, 순전파 한 번도 P 에 비례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→ 전체 비용 ∝ P²</a:t>
            </a:r>
            <a:endParaRPr lang="en-US" sz="1250" dirty="0"/>
          </a:p>
        </p:txBody>
      </p:sp>
      <p:sp>
        <p:nvSpPr>
          <p:cNvPr id="24" name="panel_87"/>
          <p:cNvSpPr/>
          <p:nvPr/>
        </p:nvSpPr>
        <p:spPr>
          <a:xfrm>
            <a:off x="6199632" y="310896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88"/>
          <p:cNvSpPr txBox="1"/>
          <p:nvPr/>
        </p:nvSpPr>
        <p:spPr>
          <a:xfrm>
            <a:off x="6428232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역전파 (Day 3)</a:t>
            </a:r>
            <a:endParaRPr lang="en-US" sz="1500" dirty="0"/>
          </a:p>
        </p:txBody>
      </p:sp>
      <p:sp>
        <p:nvSpPr>
          <p:cNvPr id="26" name="codebg_89"/>
          <p:cNvSpPr/>
          <p:nvPr/>
        </p:nvSpPr>
        <p:spPr>
          <a:xfrm>
            <a:off x="6428232" y="3749040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7" name="code_90"/>
          <p:cNvSpPr txBox="1"/>
          <p:nvPr/>
        </p:nvSpPr>
        <p:spPr>
          <a:xfrm>
            <a:off x="6537960" y="3803904"/>
            <a:ext cx="4855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순전파 1번 + 역방향 1번 (≈ 순전파 2~3배)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 ms / step  →  1 epoch ≈ 1.2 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약 35,000 배 빠르다</a:t>
            </a:r>
            <a:endParaRPr lang="en-US" sz="1300" dirty="0"/>
          </a:p>
        </p:txBody>
      </p:sp>
      <p:sp>
        <p:nvSpPr>
          <p:cNvPr id="28" name="text_91"/>
          <p:cNvSpPr txBox="1"/>
          <p:nvPr/>
        </p:nvSpPr>
        <p:spPr>
          <a:xfrm>
            <a:off x="6428232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측정: 서버 CPU · 배치 100 기준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Colab 은 기기마다 달라 "수십 초 vs 수 ms" 로 기억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92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93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_94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Day 2 복습 퀴즈 · 수치 미분의 한계</a:t>
            </a:r>
            <a:endParaRPr lang="en-US" sz="2600" dirty="0"/>
          </a:p>
        </p:txBody>
      </p:sp>
      <p:sp>
        <p:nvSpPr>
          <p:cNvPr id="5" name="text_95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200" dirty="0"/>
          </a:p>
        </p:txBody>
      </p:sp>
      <p:sp>
        <p:nvSpPr>
          <p:cNvPr id="6" name="panel_96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97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98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09:00–09:15 Day 2 복습 퀴즈 (20문항)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수치 미분: 파라미터마다 손실 2번 → step 당 2P 번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순전파 한 번도 P 에 비례 → 전체 ∝ P²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역전파 = 순전파 1 + 역방향 1 (≈ 순전파 2~3배)</a:t>
            </a:r>
            <a:endParaRPr lang="en-US" sz="1250" dirty="0"/>
          </a:p>
        </p:txBody>
      </p:sp>
      <p:sp>
        <p:nvSpPr>
          <p:cNvPr id="9" name="text_99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00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01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02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1-1  count_params(net)</a:t>
            </a:r>
            <a:endParaRPr lang="en-US" sz="1150" dirty="0"/>
          </a:p>
        </p:txBody>
      </p:sp>
      <p:sp>
        <p:nvSpPr>
          <p:cNvPr id="13" name="badge_103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04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05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1-2  손실 계산 횟수 2 * P</a:t>
            </a:r>
            <a:endParaRPr lang="en-US" sz="1150" dirty="0"/>
          </a:p>
        </p:txBody>
      </p:sp>
      <p:sp>
        <p:nvSpPr>
          <p:cNvPr id="16" name="badge_106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07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0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1-3  시간 측정 · 784-100-10 외삽</a:t>
            </a:r>
            <a:endParaRPr lang="en-US" sz="1150" dirty="0"/>
          </a:p>
        </p:txBody>
      </p:sp>
      <p:sp>
        <p:nvSpPr>
          <p:cNvPr id="19" name="animTag_109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10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D3-1 수치 미분 vs 역전파 비용</a:t>
            </a:r>
            <a:endParaRPr lang="en-US" sz="1100" dirty="0"/>
          </a:p>
        </p:txBody>
      </p:sp>
      <p:sp>
        <p:nvSpPr>
          <p:cNvPr id="21" name="panel_111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12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13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파라미터 수</a:t>
            </a:r>
            <a:endParaRPr lang="en-US" sz="1250" dirty="0"/>
          </a:p>
        </p:txBody>
      </p:sp>
      <p:sp>
        <p:nvSpPr>
          <p:cNvPr id="24" name="codebg_114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15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784·100 + 100 + 100·10 + 10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79,510</a:t>
            </a:r>
            <a:endParaRPr lang="en-US" sz="1300" dirty="0"/>
          </a:p>
        </p:txBody>
      </p:sp>
      <p:sp>
        <p:nvSpPr>
          <p:cNvPr id="26" name="text_116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손실 계산</a:t>
            </a:r>
            <a:endParaRPr lang="en-US" sz="1250" dirty="0"/>
          </a:p>
        </p:txBody>
      </p:sp>
      <p:sp>
        <p:nvSpPr>
          <p:cNvPr id="27" name="codebg_117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18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 P = 159,020 번 / step</a:t>
            </a:r>
            <a:endParaRPr lang="en-US" sz="1300" dirty="0"/>
          </a:p>
        </p:txBody>
      </p:sp>
      <p:sp>
        <p:nvSpPr>
          <p:cNvPr id="29" name="text_119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작은 망</a:t>
            </a:r>
            <a:endParaRPr lang="en-US" sz="1250" dirty="0"/>
          </a:p>
        </p:txBody>
      </p:sp>
      <p:sp>
        <p:nvSpPr>
          <p:cNvPr id="30" name="codebg_120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21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784-1-10: 805 · 784-2-10: 1,600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784-4-10: 3,190  → 시간 재고 외삽</a:t>
            </a:r>
            <a:endParaRPr lang="en-US" sz="1300" dirty="0"/>
          </a:p>
        </p:txBody>
      </p:sp>
      <p:sp>
        <p:nvSpPr>
          <p:cNvPr id="32" name="text_122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측정</a:t>
            </a:r>
            <a:endParaRPr lang="en-US" sz="1250" dirty="0"/>
          </a:p>
        </p:txBody>
      </p:sp>
      <p:sp>
        <p:nvSpPr>
          <p:cNvPr id="33" name="codebg_123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24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손실 1회 ≈ 0.43 ms → 수치 미분 ≈ 69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역전파 ≈ 2 ms (약 35,000 배)</a:t>
            </a:r>
            <a:endParaRPr lang="en-US" sz="1300" dirty="0"/>
          </a:p>
        </p:txBody>
      </p:sp>
      <p:sp>
        <p:nvSpPr>
          <p:cNvPr id="35" name="text_125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26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 epoch(600 step) 기준 수치 미분 ≈ 11.5 시간, 역전파 ≈ 1.2 초. Colab 숫자는 기기마다 다르니 비율로 기억.</a:t>
            </a:r>
            <a:endParaRPr lang="en-US" sz="115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27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128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4" name="text_129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계산 그래프</a:t>
            </a:r>
            <a:endParaRPr lang="en-US" sz="2600" dirty="0"/>
          </a:p>
        </p:txBody>
      </p:sp>
      <p:sp>
        <p:nvSpPr>
          <p:cNvPr id="5" name="text_130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200" dirty="0"/>
          </a:p>
        </p:txBody>
      </p:sp>
      <p:sp>
        <p:nvSpPr>
          <p:cNvPr id="6" name="panel_131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32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33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노드 = 연산, 엣지 = 값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국소 계산: 노드는 자기 입력 · 출력만 안다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순방향 = 값 계산, 역방향 = 기울기 계산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사과 · 귤 쇼핑 — 소비세 1.1</a:t>
            </a:r>
            <a:endParaRPr lang="en-US" sz="1250" dirty="0"/>
          </a:p>
        </p:txBody>
      </p:sp>
      <p:sp>
        <p:nvSpPr>
          <p:cNvPr id="9" name="text_134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35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36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37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2-1  순전파 값 채우기</a:t>
            </a:r>
            <a:endParaRPr lang="en-US" sz="1150" dirty="0"/>
          </a:p>
        </p:txBody>
      </p:sp>
      <p:sp>
        <p:nvSpPr>
          <p:cNvPr id="13" name="badge_138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39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40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2-2  손으로 역전파 값 채우기</a:t>
            </a:r>
            <a:endParaRPr lang="en-US" sz="1150" dirty="0"/>
          </a:p>
        </p:txBody>
      </p:sp>
      <p:sp>
        <p:nvSpPr>
          <p:cNvPr id="16" name="badge_141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42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43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2-3  수치 미분으로 확인</a:t>
            </a:r>
            <a:endParaRPr lang="en-US" sz="1150" dirty="0"/>
          </a:p>
        </p:txBody>
      </p:sp>
      <p:sp>
        <p:nvSpPr>
          <p:cNvPr id="19" name="animTag_14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4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D3-2 계산 그래프 — 사과 · 귤 쇼핑</a:t>
            </a:r>
            <a:endParaRPr lang="en-US" sz="1100" dirty="0"/>
          </a:p>
        </p:txBody>
      </p:sp>
      <p:sp>
        <p:nvSpPr>
          <p:cNvPr id="21" name="panel_14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4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48"/>
          <p:cNvSpPr txBox="1"/>
          <p:nvPr/>
        </p:nvSpPr>
        <p:spPr>
          <a:xfrm>
            <a:off x="5047488" y="164592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순전파</a:t>
            </a:r>
            <a:endParaRPr lang="en-US" sz="1250" dirty="0"/>
          </a:p>
        </p:txBody>
      </p:sp>
      <p:sp>
        <p:nvSpPr>
          <p:cNvPr id="24" name="codebg_149"/>
          <p:cNvSpPr/>
          <p:nvPr/>
        </p:nvSpPr>
        <p:spPr>
          <a:xfrm>
            <a:off x="6446520" y="164592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50"/>
          <p:cNvSpPr txBox="1"/>
          <p:nvPr/>
        </p:nvSpPr>
        <p:spPr>
          <a:xfrm>
            <a:off x="6556248" y="170078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사과 100 × 2 = 200,  귤 150 × 3 = 450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 + 450) × 1.1 = 715</a:t>
            </a:r>
            <a:endParaRPr lang="en-US" sz="1300" dirty="0"/>
          </a:p>
        </p:txBody>
      </p:sp>
      <p:sp>
        <p:nvSpPr>
          <p:cNvPr id="26" name="text_151"/>
          <p:cNvSpPr txBox="1"/>
          <p:nvPr/>
        </p:nvSpPr>
        <p:spPr>
          <a:xfrm>
            <a:off x="5047488" y="284988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역전파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(dout = 1)</a:t>
            </a:r>
            <a:endParaRPr lang="en-US" sz="1250" dirty="0"/>
          </a:p>
        </p:txBody>
      </p:sp>
      <p:sp>
        <p:nvSpPr>
          <p:cNvPr id="27" name="codebg_152"/>
          <p:cNvSpPr/>
          <p:nvPr/>
        </p:nvSpPr>
        <p:spPr>
          <a:xfrm>
            <a:off x="6446520" y="284988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53"/>
          <p:cNvSpPr txBox="1"/>
          <p:nvPr/>
        </p:nvSpPr>
        <p:spPr>
          <a:xfrm>
            <a:off x="6556248" y="290474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d소비세 = 650,  d합계 = 1.1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d사과가격 = 2.2,  d사과개수 = 110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d귤가격 = 3.3,  d귤개수 = 165</a:t>
            </a:r>
            <a:endParaRPr lang="en-US" sz="1250" dirty="0"/>
          </a:p>
        </p:txBody>
      </p:sp>
      <p:sp>
        <p:nvSpPr>
          <p:cNvPr id="29" name="text_154"/>
          <p:cNvSpPr txBox="1"/>
          <p:nvPr/>
        </p:nvSpPr>
        <p:spPr>
          <a:xfrm>
            <a:off x="5047488" y="405384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의미</a:t>
            </a:r>
            <a:endParaRPr lang="en-US" sz="1250" dirty="0"/>
          </a:p>
        </p:txBody>
      </p:sp>
      <p:sp>
        <p:nvSpPr>
          <p:cNvPr id="30" name="codebg_155"/>
          <p:cNvSpPr/>
          <p:nvPr/>
        </p:nvSpPr>
        <p:spPr>
          <a:xfrm>
            <a:off x="6446520" y="405384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56"/>
          <p:cNvSpPr txBox="1"/>
          <p:nvPr/>
        </p:nvSpPr>
        <p:spPr>
          <a:xfrm>
            <a:off x="6556248" y="410870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사과 가격 1원 ↑ → 최종 금액 2.2원 ↑</a:t>
            </a:r>
            <a:endParaRPr lang="en-US" sz="1300" dirty="0"/>
          </a:p>
        </p:txBody>
      </p:sp>
      <p:sp>
        <p:nvSpPr>
          <p:cNvPr id="32" name="text_157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3" name="text_158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역방향 한 번으로 모든 입력(가격 · 개수 · 소비세)의 기울기가 동시에 나온다 — 수치 미분은 입력마다 따로.</a:t>
            </a:r>
            <a:endParaRPr lang="en-US" sz="115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59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badgeNum_160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4" name="text_161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연쇄 법칙</a:t>
            </a:r>
            <a:endParaRPr lang="en-US" sz="2600" dirty="0"/>
          </a:p>
        </p:txBody>
      </p:sp>
      <p:sp>
        <p:nvSpPr>
          <p:cNvPr id="5" name="text_162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200" dirty="0"/>
          </a:p>
        </p:txBody>
      </p:sp>
      <p:sp>
        <p:nvSpPr>
          <p:cNvPr id="6" name="panel_163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64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65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합성 함수의 미분 = 국소 미분의 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덧셈 노드: dout 을 그대로 양쪽에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곱셈 노드: dout × 상대편 입력 (서로 바꿔 곱함)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계층 = forward / backward 한 쌍</a:t>
            </a:r>
            <a:endParaRPr lang="en-US" sz="1250" dirty="0"/>
          </a:p>
        </p:txBody>
      </p:sp>
      <p:sp>
        <p:nvSpPr>
          <p:cNvPr id="9" name="text_166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67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68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69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3-1  MulLayer forward/backward</a:t>
            </a:r>
            <a:endParaRPr lang="en-US" sz="1150" dirty="0"/>
          </a:p>
        </p:txBody>
      </p:sp>
      <p:sp>
        <p:nvSpPr>
          <p:cNvPr id="13" name="badge_170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71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72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3-2  AddLayer</a:t>
            </a:r>
            <a:endParaRPr lang="en-US" sz="1150" dirty="0"/>
          </a:p>
        </p:txBody>
      </p:sp>
      <p:sp>
        <p:nvSpPr>
          <p:cNvPr id="16" name="badge_173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74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75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3-3  계층으로 사과 · 귤 그래프 조립</a:t>
            </a:r>
            <a:endParaRPr lang="en-US" sz="1150" dirty="0"/>
          </a:p>
        </p:txBody>
      </p:sp>
      <p:sp>
        <p:nvSpPr>
          <p:cNvPr id="19" name="animTag_176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77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D3-3 연쇄 법칙 · 덧셈/곱셈 노드</a:t>
            </a:r>
            <a:endParaRPr lang="en-US" sz="1100" dirty="0"/>
          </a:p>
        </p:txBody>
      </p:sp>
      <p:sp>
        <p:nvSpPr>
          <p:cNvPr id="21" name="panel_178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79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80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연쇄 법칙</a:t>
            </a:r>
            <a:endParaRPr lang="en-US" sz="1250" dirty="0"/>
          </a:p>
        </p:txBody>
      </p:sp>
      <p:sp>
        <p:nvSpPr>
          <p:cNvPr id="24" name="codebg_181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82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t²,  t = x + y,  x = 3, y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∂z/∂x = 2t · 1 = 8,  ∂z/∂y = 8</a:t>
            </a:r>
            <a:endParaRPr lang="en-US" sz="1300" dirty="0"/>
          </a:p>
        </p:txBody>
      </p:sp>
      <p:sp>
        <p:nvSpPr>
          <p:cNvPr id="26" name="text_183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덧셈 노드</a:t>
            </a:r>
            <a:endParaRPr lang="en-US" sz="1250" dirty="0"/>
          </a:p>
        </p:txBody>
      </p:sp>
      <p:sp>
        <p:nvSpPr>
          <p:cNvPr id="27" name="codebg_184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85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dout * 1;  dy = dout * 1</a:t>
            </a:r>
            <a:endParaRPr lang="en-US" sz="1300" dirty="0"/>
          </a:p>
        </p:txBody>
      </p:sp>
      <p:sp>
        <p:nvSpPr>
          <p:cNvPr id="29" name="text_186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곱셈 노드</a:t>
            </a:r>
            <a:endParaRPr lang="en-US" sz="1250" dirty="0"/>
          </a:p>
        </p:txBody>
      </p:sp>
      <p:sp>
        <p:nvSpPr>
          <p:cNvPr id="30" name="codebg_187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88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dout * y;  dy = dout * x</a:t>
            </a:r>
            <a:endParaRPr lang="en-US" sz="1300" dirty="0"/>
          </a:p>
        </p:txBody>
      </p:sp>
      <p:sp>
        <p:nvSpPr>
          <p:cNvPr id="32" name="text_189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MulLayer</a:t>
            </a:r>
            <a:endParaRPr lang="en-US" sz="1250" dirty="0"/>
          </a:p>
        </p:txBody>
      </p:sp>
      <p:sp>
        <p:nvSpPr>
          <p:cNvPr id="33" name="codebg_190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91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forward:  self.x, self.y = x, y; return x * 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backward: return dout * self.y, dout * self.x</a:t>
            </a:r>
            <a:endParaRPr lang="en-US" sz="1300" dirty="0"/>
          </a:p>
        </p:txBody>
      </p:sp>
      <p:sp>
        <p:nvSpPr>
          <p:cNvPr id="35" name="text_192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93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곱셈 노드는 forward 입력을 저장해야 backward 가 가능하다 → 4교시 "계층은 값을 저장한다".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94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badgeNum_195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4" name="text_196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활성화 계층 — Relu · Sigmoid</a:t>
            </a:r>
            <a:endParaRPr lang="en-US" sz="2600" dirty="0"/>
          </a:p>
        </p:txBody>
      </p:sp>
      <p:sp>
        <p:nvSpPr>
          <p:cNvPr id="5" name="text_197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200" dirty="0"/>
          </a:p>
        </p:txBody>
      </p:sp>
      <p:sp>
        <p:nvSpPr>
          <p:cNvPr id="6" name="panel_198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99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00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계층은 forward 때 backward 에 필요한 값을 저장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Relu: mask = (X &lt;= 0) 저장, mask 자리 기울기 0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Sigmoid: 출력 out 저장, dout * out * (1 − out)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x = 0 이면 ReLU 기울기는 0 으로 정한다</a:t>
            </a:r>
            <a:endParaRPr lang="en-US" sz="1250" dirty="0"/>
          </a:p>
        </p:txBody>
      </p:sp>
      <p:sp>
        <p:nvSpPr>
          <p:cNvPr id="9" name="text_201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02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03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04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4-1  Relu</a:t>
            </a:r>
            <a:endParaRPr lang="en-US" sz="1150" dirty="0"/>
          </a:p>
        </p:txBody>
      </p:sp>
      <p:sp>
        <p:nvSpPr>
          <p:cNvPr id="13" name="badge_205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06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07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4-2  Sigmoid</a:t>
            </a:r>
            <a:endParaRPr lang="en-US" sz="1150" dirty="0"/>
          </a:p>
        </p:txBody>
      </p:sp>
      <p:sp>
        <p:nvSpPr>
          <p:cNvPr id="16" name="badge_208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09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1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4-3  Sigmoid backward 수치 미분 확인</a:t>
            </a:r>
            <a:endParaRPr lang="en-US" sz="1150" dirty="0"/>
          </a:p>
        </p:txBody>
      </p:sp>
      <p:sp>
        <p:nvSpPr>
          <p:cNvPr id="19" name="animTag_211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12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D3-4 ReLU · Sigmoid 계층</a:t>
            </a:r>
            <a:endParaRPr lang="en-US" sz="1100" dirty="0"/>
          </a:p>
        </p:txBody>
      </p:sp>
      <p:sp>
        <p:nvSpPr>
          <p:cNvPr id="21" name="panel_213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14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15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Relu</a:t>
            </a:r>
            <a:endParaRPr lang="en-US" sz="1250" dirty="0"/>
          </a:p>
        </p:txBody>
      </p:sp>
      <p:sp>
        <p:nvSpPr>
          <p:cNvPr id="24" name="codebg_216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17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self.mask = (X &lt;= 0); out[self.mask]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backward: dout[self.mask] = 0</a:t>
            </a:r>
            <a:endParaRPr lang="en-US" sz="1300" dirty="0"/>
          </a:p>
        </p:txBody>
      </p:sp>
      <p:sp>
        <p:nvSpPr>
          <p:cNvPr id="26" name="text_218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Relu 예</a:t>
            </a:r>
            <a:endParaRPr lang="en-US" sz="1250" dirty="0"/>
          </a:p>
        </p:txBody>
      </p:sp>
      <p:sp>
        <p:nvSpPr>
          <p:cNvPr id="27" name="codebg_219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20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[[1.0, -0.5], [-2.0, 3.0]]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[[1, 0], [0, 3]]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backward(ones) = [[1, 0], [0, 1]]</a:t>
            </a:r>
            <a:endParaRPr lang="en-US" sz="1250" dirty="0"/>
          </a:p>
        </p:txBody>
      </p:sp>
      <p:sp>
        <p:nvSpPr>
          <p:cNvPr id="29" name="text_221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Sigmoid</a:t>
            </a:r>
            <a:endParaRPr lang="en-US" sz="1250" dirty="0"/>
          </a:p>
        </p:txBody>
      </p:sp>
      <p:sp>
        <p:nvSpPr>
          <p:cNvPr id="30" name="codebg_222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23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self.out = 1 / (1 + np.exp(-x))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dout * self.out * (1.0 - self.out)</a:t>
            </a:r>
            <a:endParaRPr lang="en-US" sz="1300" dirty="0"/>
          </a:p>
        </p:txBody>
      </p:sp>
      <p:sp>
        <p:nvSpPr>
          <p:cNvPr id="32" name="text_224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Sigmoid 예</a:t>
            </a:r>
            <a:endParaRPr lang="en-US" sz="1250" dirty="0"/>
          </a:p>
        </p:txBody>
      </p:sp>
      <p:sp>
        <p:nvSpPr>
          <p:cNvPr id="33" name="codebg_225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26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[1.0, -2.0] → y = [0.7311, 0.1192]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y(1 − y) = [0.1966, 0.1050], 최대 0.25</a:t>
            </a:r>
            <a:endParaRPr lang="en-US" sz="1300" dirty="0"/>
          </a:p>
        </p:txBody>
      </p:sp>
      <p:sp>
        <p:nvSpPr>
          <p:cNvPr id="35" name="text_227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228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Day 2 의 sigmoid_grad s(1 − s) 가 그대로 나온다 — 다만 x 로 다시 계산하지 않고 저장한 out 을 쓴다.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29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badgeNum_230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" name="text_231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Affine · Softmax-with-Loss</a:t>
            </a:r>
            <a:endParaRPr lang="en-US" sz="2600" dirty="0"/>
          </a:p>
        </p:txBody>
      </p:sp>
      <p:sp>
        <p:nvSpPr>
          <p:cNvPr id="5" name="text_232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200" dirty="0"/>
          </a:p>
        </p:txBody>
      </p:sp>
      <p:sp>
        <p:nvSpPr>
          <p:cNvPr id="6" name="panel_233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34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35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Affine 계층: Y = XW + b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backward 3식은 shape 를 맞추면 하나로 정해진다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db = dout 을 행 방향(axis=0)으로 합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SoftmaxWithLoss backward = (Y − T) / N</a:t>
            </a:r>
            <a:endParaRPr lang="en-US" sz="1250" dirty="0"/>
          </a:p>
        </p:txBody>
      </p:sp>
      <p:sp>
        <p:nvSpPr>
          <p:cNvPr id="9" name="text_236"/>
          <p:cNvSpPr txBox="1"/>
          <p:nvPr/>
        </p:nvSpPr>
        <p:spPr>
          <a:xfrm>
            <a:off x="658368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37"/>
          <p:cNvSpPr/>
          <p:nvPr/>
        </p:nvSpPr>
        <p:spPr>
          <a:xfrm>
            <a:off x="685800" y="38404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38"/>
          <p:cNvSpPr txBox="1"/>
          <p:nvPr/>
        </p:nvSpPr>
        <p:spPr>
          <a:xfrm>
            <a:off x="68580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39"/>
          <p:cNvSpPr txBox="1"/>
          <p:nvPr/>
        </p:nvSpPr>
        <p:spPr>
          <a:xfrm>
            <a:off x="1078992" y="3840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5-1  Affine</a:t>
            </a:r>
            <a:endParaRPr lang="en-US" sz="1150" dirty="0"/>
          </a:p>
        </p:txBody>
      </p:sp>
      <p:sp>
        <p:nvSpPr>
          <p:cNvPr id="13" name="badge_240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41"/>
          <p:cNvSpPr txBox="1"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42"/>
          <p:cNvSpPr txBox="1"/>
          <p:nvPr/>
        </p:nvSpPr>
        <p:spPr>
          <a:xfrm>
            <a:off x="1078992" y="4261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5-2  softmax · cross_entropy_error</a:t>
            </a:r>
            <a:endParaRPr lang="en-US" sz="1150" dirty="0"/>
          </a:p>
        </p:txBody>
      </p:sp>
      <p:sp>
        <p:nvSpPr>
          <p:cNvPr id="16" name="badge_243"/>
          <p:cNvSpPr/>
          <p:nvPr/>
        </p:nvSpPr>
        <p:spPr>
          <a:xfrm>
            <a:off x="685800" y="46817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44"/>
          <p:cNvSpPr txBox="1"/>
          <p:nvPr/>
        </p:nvSpPr>
        <p:spPr>
          <a:xfrm>
            <a:off x="68580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45"/>
          <p:cNvSpPr txBox="1"/>
          <p:nvPr/>
        </p:nvSpPr>
        <p:spPr>
          <a:xfrm>
            <a:off x="1078992" y="46817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5-3  SoftmaxWithLoss</a:t>
            </a:r>
            <a:endParaRPr lang="en-US" sz="1150" dirty="0"/>
          </a:p>
        </p:txBody>
      </p:sp>
      <p:sp>
        <p:nvSpPr>
          <p:cNvPr id="19" name="badge_246"/>
          <p:cNvSpPr/>
          <p:nvPr/>
        </p:nvSpPr>
        <p:spPr>
          <a:xfrm>
            <a:off x="685800" y="5102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badgeNum_247"/>
          <p:cNvSpPr txBox="1"/>
          <p:nvPr/>
        </p:nvSpPr>
        <p:spPr>
          <a:xfrm>
            <a:off x="68580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_248"/>
          <p:cNvSpPr txBox="1"/>
          <p:nvPr/>
        </p:nvSpPr>
        <p:spPr>
          <a:xfrm>
            <a:off x="1078992" y="5102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5-4  Day 2 로지스틱 기울기와 비교</a:t>
            </a:r>
            <a:endParaRPr lang="en-US" sz="1150" dirty="0"/>
          </a:p>
        </p:txBody>
      </p:sp>
      <p:sp>
        <p:nvSpPr>
          <p:cNvPr id="22" name="animTag_249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_250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D3-5 shape 퍼즐 · D3-6 y − t</a:t>
            </a:r>
            <a:endParaRPr lang="en-US" sz="1100" dirty="0"/>
          </a:p>
        </p:txBody>
      </p:sp>
      <p:sp>
        <p:nvSpPr>
          <p:cNvPr id="24" name="panel_251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252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6" name="text_253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Affine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backward</a:t>
            </a:r>
            <a:endParaRPr lang="en-US" sz="1250" dirty="0"/>
          </a:p>
        </p:txBody>
      </p:sp>
      <p:sp>
        <p:nvSpPr>
          <p:cNvPr id="27" name="codebg_254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55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dout @ W.T       # (N,M)@(M,D) = (N,D)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X.T @ dout       # (D,N)@(N,M) = (D,M)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dout.sum(axis=0) # (M,)</a:t>
            </a:r>
            <a:endParaRPr lang="en-US" sz="1250" dirty="0"/>
          </a:p>
        </p:txBody>
      </p:sp>
      <p:sp>
        <p:nvSpPr>
          <p:cNvPr id="29" name="text_256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MNIST 1층</a:t>
            </a:r>
            <a:endParaRPr lang="en-US" sz="1250" dirty="0"/>
          </a:p>
        </p:txBody>
      </p:sp>
      <p:sp>
        <p:nvSpPr>
          <p:cNvPr id="30" name="codebg_257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58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(100,784) · W1 (784,100) · dout (100,100)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dW1 = X.T @ dout → (784, 100)</a:t>
            </a:r>
            <a:endParaRPr lang="en-US" sz="1300" dirty="0"/>
          </a:p>
        </p:txBody>
      </p:sp>
      <p:sp>
        <p:nvSpPr>
          <p:cNvPr id="32" name="text_259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Softmax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WithLoss</a:t>
            </a:r>
            <a:endParaRPr lang="en-US" sz="1250" dirty="0"/>
          </a:p>
        </p:txBody>
      </p:sp>
      <p:sp>
        <p:nvSpPr>
          <p:cNvPr id="33" name="codebg_260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61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(self.y - self.t) / 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[[0.3, 2.9, 4.0]], t = [2] → loss 0.3057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 = [0.0182, 0.2452, -0.2634]</a:t>
            </a:r>
            <a:endParaRPr lang="en-US" sz="1250" dirty="0"/>
          </a:p>
        </p:txBody>
      </p:sp>
      <p:sp>
        <p:nvSpPr>
          <p:cNvPr id="35" name="text_262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Day 2 연결</a:t>
            </a:r>
            <a:endParaRPr lang="en-US" sz="1250" dirty="0"/>
          </a:p>
        </p:txBody>
      </p:sp>
      <p:sp>
        <p:nvSpPr>
          <p:cNvPr id="36" name="codebg_263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7" name="code_264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dout = (Y − T) / N  →  dW = X.T @ dout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Day 2 의 dW = Xᵀ(Y − T)/N 과 같은 식</a:t>
            </a:r>
            <a:endParaRPr lang="en-US" sz="1300" dirty="0"/>
          </a:p>
        </p:txBody>
      </p:sp>
      <p:sp>
        <p:nvSpPr>
          <p:cNvPr id="38" name="text_265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9" name="text_266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배치 크기와 은닉 크기가 둘 다 100 이면 틀린 식도 shape 가 맞는다 → 식은 shape 의 의미로 고른다.</a:t>
            </a:r>
            <a:endParaRPr lang="en-US" sz="1150" dirty="0"/>
          </a:p>
        </p:txBody>
      </p:sp>
      <p:sp>
        <p:nvSpPr>
          <p:cNvPr id="41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2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67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badgeNum_268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4" name="text_269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Gradient check</a:t>
            </a:r>
            <a:endParaRPr lang="en-US" sz="2600" dirty="0"/>
          </a:p>
        </p:txBody>
      </p:sp>
      <p:sp>
        <p:nvSpPr>
          <p:cNvPr id="5" name="text_270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200" dirty="0"/>
          </a:p>
        </p:txBody>
      </p:sp>
      <p:sp>
        <p:nvSpPr>
          <p:cNvPr id="6" name="panel_271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72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73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TwoLayerNet: OrderedDict(Affine1, Relu1, Affine2) + SoftmaxWithLoss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gradient() = forward → backward 를 역순으로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rel_error &lt; 1e-7 통과 · ~1e-4 의심 · &gt; 1e-2 버그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log 에 1e-12 (1e-7 이면 차이 ≈ 5e-7)</a:t>
            </a:r>
            <a:endParaRPr lang="en-US" sz="1250" dirty="0"/>
          </a:p>
        </p:txBody>
      </p:sp>
      <p:sp>
        <p:nvSpPr>
          <p:cNvPr id="9" name="text_274"/>
          <p:cNvSpPr txBox="1"/>
          <p:nvPr/>
        </p:nvSpPr>
        <p:spPr>
          <a:xfrm>
            <a:off x="658368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75"/>
          <p:cNvSpPr/>
          <p:nvPr/>
        </p:nvSpPr>
        <p:spPr>
          <a:xfrm>
            <a:off x="685800" y="38404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76"/>
          <p:cNvSpPr txBox="1"/>
          <p:nvPr/>
        </p:nvSpPr>
        <p:spPr>
          <a:xfrm>
            <a:off x="68580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77"/>
          <p:cNvSpPr txBox="1"/>
          <p:nvPr/>
        </p:nvSpPr>
        <p:spPr>
          <a:xfrm>
            <a:off x="1078992" y="3840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6-1  TwoLayerNet.gradient</a:t>
            </a:r>
            <a:endParaRPr lang="en-US" sz="1150" dirty="0"/>
          </a:p>
        </p:txBody>
      </p:sp>
      <p:sp>
        <p:nvSpPr>
          <p:cNvPr id="13" name="badge_278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79"/>
          <p:cNvSpPr txBox="1"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80"/>
          <p:cNvSpPr txBox="1"/>
          <p:nvPr/>
        </p:nvSpPr>
        <p:spPr>
          <a:xfrm>
            <a:off x="1078992" y="4261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6-2  rel_error</a:t>
            </a:r>
            <a:endParaRPr lang="en-US" sz="1150" dirty="0"/>
          </a:p>
        </p:txBody>
      </p:sp>
      <p:sp>
        <p:nvSpPr>
          <p:cNvPr id="16" name="badge_281"/>
          <p:cNvSpPr/>
          <p:nvPr/>
        </p:nvSpPr>
        <p:spPr>
          <a:xfrm>
            <a:off x="685800" y="46817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82"/>
          <p:cNvSpPr txBox="1"/>
          <p:nvPr/>
        </p:nvSpPr>
        <p:spPr>
          <a:xfrm>
            <a:off x="68580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83"/>
          <p:cNvSpPr txBox="1"/>
          <p:nvPr/>
        </p:nvSpPr>
        <p:spPr>
          <a:xfrm>
            <a:off x="1078992" y="46817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6-3  gradient check 통과</a:t>
            </a:r>
            <a:endParaRPr lang="en-US" sz="1150" dirty="0"/>
          </a:p>
        </p:txBody>
      </p:sp>
      <p:sp>
        <p:nvSpPr>
          <p:cNvPr id="19" name="badge_284"/>
          <p:cNvSpPr/>
          <p:nvPr/>
        </p:nvSpPr>
        <p:spPr>
          <a:xfrm>
            <a:off x="685800" y="5102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badgeNum_285"/>
          <p:cNvSpPr txBox="1"/>
          <p:nvPr/>
        </p:nvSpPr>
        <p:spPr>
          <a:xfrm>
            <a:off x="68580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_286"/>
          <p:cNvSpPr txBox="1"/>
          <p:nvPr/>
        </p:nvSpPr>
        <p:spPr>
          <a:xfrm>
            <a:off x="1078992" y="5102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6-4  버그 찾기</a:t>
            </a:r>
            <a:endParaRPr lang="en-US" sz="1150" dirty="0"/>
          </a:p>
        </p:txBody>
      </p:sp>
      <p:sp>
        <p:nvSpPr>
          <p:cNvPr id="22" name="animTag_287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_288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D3-7 Gradient check</a:t>
            </a:r>
            <a:endParaRPr lang="en-US" sz="1100" dirty="0"/>
          </a:p>
        </p:txBody>
      </p:sp>
      <p:sp>
        <p:nvSpPr>
          <p:cNvPr id="24" name="panel_289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290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6" name="text_291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gradient</a:t>
            </a:r>
            <a:endParaRPr lang="en-US" sz="1250" dirty="0"/>
          </a:p>
        </p:txBody>
      </p:sp>
      <p:sp>
        <p:nvSpPr>
          <p:cNvPr id="27" name="codebg_292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93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self.loss(X, t); dout = self.lastLayer.backward(1)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layer in reversed(list(self.layers.values())):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dout = layer.backward(dout)</a:t>
            </a:r>
            <a:endParaRPr lang="en-US" sz="1250" dirty="0"/>
          </a:p>
        </p:txBody>
      </p:sp>
      <p:sp>
        <p:nvSpPr>
          <p:cNvPr id="29" name="text_294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rel_error</a:t>
            </a:r>
            <a:endParaRPr lang="en-US" sz="1250" dirty="0"/>
          </a:p>
        </p:txBody>
      </p:sp>
      <p:sp>
        <p:nvSpPr>
          <p:cNvPr id="30" name="codebg_295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96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‖a − b‖ / (‖a‖ + ‖b‖ + 1e-12)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784-10-10: W1 2.1e-10 · b2 3.9e-10 → 통과</a:t>
            </a:r>
            <a:endParaRPr lang="en-US" sz="1300" dirty="0"/>
          </a:p>
        </p:txBody>
      </p:sp>
      <p:sp>
        <p:nvSpPr>
          <p:cNvPr id="32" name="text_297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버그 ①</a:t>
            </a:r>
            <a:endParaRPr lang="en-US" sz="1250" dirty="0"/>
          </a:p>
        </p:txBody>
      </p:sp>
      <p:sp>
        <p:nvSpPr>
          <p:cNvPr id="33" name="codebg_298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99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dout.mean(axis=0)  → b2 상대 오차 0.5</a:t>
            </a:r>
            <a:endParaRPr lang="en-US" sz="1300" dirty="0"/>
          </a:p>
        </p:txBody>
      </p:sp>
      <p:sp>
        <p:nvSpPr>
          <p:cNvPr id="35" name="text_300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버그 ②</a:t>
            </a:r>
            <a:endParaRPr lang="en-US" sz="1250" dirty="0"/>
          </a:p>
        </p:txBody>
      </p:sp>
      <p:sp>
        <p:nvSpPr>
          <p:cNvPr id="36" name="codebg_301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7" name="code_302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dout @ W  (전치 빠짐) → W1 0.63, b1 0.56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가 (10, 10) 이라 shape 오류 없이 실행</a:t>
            </a:r>
            <a:endParaRPr lang="en-US" sz="1300" dirty="0"/>
          </a:p>
        </p:txBody>
      </p:sp>
      <p:sp>
        <p:nvSpPr>
          <p:cNvPr id="38" name="text_303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9" name="text_304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shape 가 맞아도 값이 틀릴 수 있다 → 새 계층을 만들 때마다 gradient check.</a:t>
            </a:r>
            <a:endParaRPr lang="en-US" sz="1150" dirty="0"/>
          </a:p>
        </p:txBody>
      </p:sp>
      <p:sp>
        <p:nvSpPr>
          <p:cNvPr id="40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1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30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30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4" name="text_30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미니배치 SGD — 나선 분류</a:t>
            </a:r>
            <a:endParaRPr lang="en-US" sz="2600" dirty="0"/>
          </a:p>
        </p:txBody>
      </p:sp>
      <p:sp>
        <p:nvSpPr>
          <p:cNvPr id="5" name="text_308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</a:t>
            </a:r>
            <a:endParaRPr lang="en-US" sz="1200" dirty="0"/>
          </a:p>
        </p:txBody>
      </p:sp>
      <p:sp>
        <p:nvSpPr>
          <p:cNvPr id="6" name="panel_30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1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311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epoch · batch · iteration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iters_per_epoch = N // batch_size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매 epoch 셔플: rng.permutation(N)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train / test 정확도로 일반화 확인</a:t>
            </a:r>
            <a:endParaRPr lang="en-US" sz="1250" dirty="0"/>
          </a:p>
        </p:txBody>
      </p:sp>
      <p:sp>
        <p:nvSpPr>
          <p:cNvPr id="9" name="text_312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313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314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315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7-1  iteration 수 계산</a:t>
            </a:r>
            <a:endParaRPr lang="en-US" sz="1150" dirty="0"/>
          </a:p>
        </p:txBody>
      </p:sp>
      <p:sp>
        <p:nvSpPr>
          <p:cNvPr id="13" name="badge_316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317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318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7-2  미니배치 학습 루프</a:t>
            </a:r>
            <a:endParaRPr lang="en-US" sz="1150" dirty="0"/>
          </a:p>
        </p:txBody>
      </p:sp>
      <p:sp>
        <p:nvSpPr>
          <p:cNvPr id="16" name="badge_319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320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32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7-3  결정 경계 그리기</a:t>
            </a:r>
            <a:endParaRPr lang="en-US" sz="1150" dirty="0"/>
          </a:p>
        </p:txBody>
      </p:sp>
      <p:sp>
        <p:nvSpPr>
          <p:cNvPr id="19" name="animTag_32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32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D3-8 미니배치 SGD — 나선 분류</a:t>
            </a:r>
            <a:endParaRPr lang="en-US" sz="1100" dirty="0"/>
          </a:p>
        </p:txBody>
      </p:sp>
      <p:sp>
        <p:nvSpPr>
          <p:cNvPr id="21" name="panel_32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32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326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iteration</a:t>
            </a:r>
            <a:endParaRPr lang="en-US" sz="1250" dirty="0"/>
          </a:p>
        </p:txBody>
      </p:sp>
      <p:sp>
        <p:nvSpPr>
          <p:cNvPr id="24" name="codebg_327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328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 // 30 = 8 / epoch × 300 epoch = 2,400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MNIST: 60,000 // 100 = 600 / epoch</a:t>
            </a:r>
            <a:endParaRPr lang="en-US" sz="1300" dirty="0"/>
          </a:p>
        </p:txBody>
      </p:sp>
      <p:sp>
        <p:nvSpPr>
          <p:cNvPr id="26" name="text_329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학습 루프</a:t>
            </a:r>
            <a:endParaRPr lang="en-US" sz="1250" dirty="0"/>
          </a:p>
        </p:txBody>
      </p:sp>
      <p:sp>
        <p:nvSpPr>
          <p:cNvPr id="27" name="codebg_330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331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rng.permutation(N)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range(iters_per_epoch):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idx[i*bs:(i+1)*bs]; g = net.gradient(X[b], t[b])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net.params: net.params[k] -= lr * g[k]</a:t>
            </a:r>
            <a:endParaRPr lang="en-US" sz="1100" dirty="0"/>
          </a:p>
        </p:txBody>
      </p:sp>
      <p:sp>
        <p:nvSpPr>
          <p:cNvPr id="29" name="text_332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설정</a:t>
            </a:r>
            <a:endParaRPr lang="en-US" sz="1250" dirty="0"/>
          </a:p>
        </p:txBody>
      </p:sp>
      <p:sp>
        <p:nvSpPr>
          <p:cNvPr id="30" name="codebg_333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334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TwoLayerNet(2, 100, 3) · batch 30 · lr 1.0</a:t>
            </a:r>
            <a:endParaRPr lang="en-US" sz="1300" dirty="0"/>
          </a:p>
        </p:txBody>
      </p:sp>
      <p:sp>
        <p:nvSpPr>
          <p:cNvPr id="32" name="text_335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결과</a:t>
            </a:r>
            <a:endParaRPr lang="en-US" sz="1250" dirty="0"/>
          </a:p>
        </p:txBody>
      </p:sp>
      <p:sp>
        <p:nvSpPr>
          <p:cNvPr id="33" name="codebg_336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337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1: test 0.35 → 50: 0.82 → 300: 0.983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loss 1.097 → 0.039</a:t>
            </a:r>
            <a:endParaRPr lang="en-US" sz="1300" dirty="0"/>
          </a:p>
        </p:txBody>
      </p:sp>
      <p:sp>
        <p:nvSpPr>
          <p:cNvPr id="35" name="text_338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339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결정 경계 스냅샷 epoch 1 / 10 / 50 / 300 — 은닉층 100개가 직선들을 이어 붙여 나선을 감싼다.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340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341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" name="text_342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미니 프로젝트 — MNIST 2층 MLP</a:t>
            </a:r>
            <a:endParaRPr lang="en-US" sz="2600" dirty="0"/>
          </a:p>
        </p:txBody>
      </p:sp>
      <p:sp>
        <p:nvSpPr>
          <p:cNvPr id="5" name="text_343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200" dirty="0"/>
          </a:p>
        </p:txBody>
      </p:sp>
      <p:sp>
        <p:nvSpPr>
          <p:cNvPr id="6" name="panel_344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45"/>
          <p:cNvSpPr txBox="1"/>
          <p:nvPr/>
        </p:nvSpPr>
        <p:spPr>
          <a:xfrm>
            <a:off x="658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강의 노트북 8교시  ·  784-100-10, 정확도 95% 이상</a:t>
            </a:r>
            <a:endParaRPr lang="en-US" sz="1300" dirty="0"/>
          </a:p>
        </p:txBody>
      </p:sp>
      <p:sp>
        <p:nvSpPr>
          <p:cNvPr id="8" name="codebg_346"/>
          <p:cNvSpPr/>
          <p:nvPr/>
        </p:nvSpPr>
        <p:spPr>
          <a:xfrm>
            <a:off x="658368" y="169164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code_347"/>
          <p:cNvSpPr txBox="1"/>
          <p:nvPr/>
        </p:nvSpPr>
        <p:spPr>
          <a:xfrm>
            <a:off x="768096" y="1746504"/>
            <a:ext cx="49011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x.reshape(-1, 784).astype(np.float64) / 255.0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TwoLayerNet(784, 100, 10)  # 첫 손실 ≈ 2.3026</a:t>
            </a:r>
            <a:endParaRPr lang="en-US" sz="1200" dirty="0"/>
          </a:p>
        </p:txBody>
      </p:sp>
      <p:graphicFrame>
        <p:nvGraphicFramePr>
          <p:cNvPr id="14" name="tas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56032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822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배점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전처리 — reshape · /255 · 레이블 정수 그대로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네트워크 생성 · 첫 손실 (≈ ln 10)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학습 루프 — test ≥ 0.95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학습 곡선 (손실 · 정확도)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결과 해석 (강사 채점)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1" name="text_348"/>
          <p:cNvSpPr txBox="1"/>
          <p:nvPr/>
        </p:nvSpPr>
        <p:spPr>
          <a:xfrm>
            <a:off x="658368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채점 셀 실행 → 자동 채점 90점 + 해석 10점</a:t>
            </a:r>
            <a:endParaRPr lang="en-US" sz="1200" dirty="0"/>
          </a:p>
        </p:txBody>
      </p:sp>
      <p:sp>
        <p:nvSpPr>
          <p:cNvPr id="12" name="text_349"/>
          <p:cNvSpPr txBox="1"/>
          <p:nvPr/>
        </p:nvSpPr>
        <p:spPr>
          <a:xfrm>
            <a:off x="658368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▶ D3-9 에서 학습 과정 · 오답 예시를 먼저 보고 코드로 확인</a:t>
            </a:r>
            <a:endParaRPr lang="en-US" sz="1150" dirty="0"/>
          </a:p>
        </p:txBody>
      </p:sp>
      <p:sp>
        <p:nvSpPr>
          <p:cNvPr id="13" name="panel_350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351"/>
          <p:cNvSpPr txBox="1"/>
          <p:nvPr/>
        </p:nvSpPr>
        <p:spPr>
          <a:xfrm>
            <a:off x="6373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오늘 만든 계층이 모두 들어간다</a:t>
            </a:r>
            <a:endParaRPr lang="en-US" sz="1300" dirty="0"/>
          </a:p>
        </p:txBody>
      </p:sp>
      <p:sp>
        <p:nvSpPr>
          <p:cNvPr id="15" name="partRow_352"/>
          <p:cNvSpPr/>
          <p:nvPr/>
        </p:nvSpPr>
        <p:spPr>
          <a:xfrm>
            <a:off x="6373368" y="1737360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text_353"/>
          <p:cNvSpPr txBox="1"/>
          <p:nvPr/>
        </p:nvSpPr>
        <p:spPr>
          <a:xfrm>
            <a:off x="6510528" y="17373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Affine</a:t>
            </a:r>
            <a:endParaRPr lang="en-US" sz="1300" dirty="0"/>
          </a:p>
        </p:txBody>
      </p:sp>
      <p:sp>
        <p:nvSpPr>
          <p:cNvPr id="17" name="text_354"/>
          <p:cNvSpPr txBox="1"/>
          <p:nvPr/>
        </p:nvSpPr>
        <p:spPr>
          <a:xfrm>
            <a:off x="8275320" y="17373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X.T @ dout</a:t>
            </a:r>
            <a:endParaRPr lang="en-US" sz="1150" dirty="0"/>
          </a:p>
        </p:txBody>
      </p:sp>
      <p:sp>
        <p:nvSpPr>
          <p:cNvPr id="18" name="text_355"/>
          <p:cNvSpPr txBox="1"/>
          <p:nvPr/>
        </p:nvSpPr>
        <p:spPr>
          <a:xfrm>
            <a:off x="10607040" y="17373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5교시</a:t>
            </a:r>
            <a:endParaRPr lang="en-US" sz="1100" dirty="0"/>
          </a:p>
        </p:txBody>
      </p:sp>
      <p:sp>
        <p:nvSpPr>
          <p:cNvPr id="19" name="partRow_356"/>
          <p:cNvSpPr/>
          <p:nvPr/>
        </p:nvSpPr>
        <p:spPr>
          <a:xfrm>
            <a:off x="6373368" y="2359152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text_357"/>
          <p:cNvSpPr txBox="1"/>
          <p:nvPr/>
        </p:nvSpPr>
        <p:spPr>
          <a:xfrm>
            <a:off x="6510528" y="23591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Relu</a:t>
            </a:r>
            <a:endParaRPr lang="en-US" sz="1300" dirty="0"/>
          </a:p>
        </p:txBody>
      </p:sp>
      <p:sp>
        <p:nvSpPr>
          <p:cNvPr id="21" name="text_358"/>
          <p:cNvSpPr txBox="1"/>
          <p:nvPr/>
        </p:nvSpPr>
        <p:spPr>
          <a:xfrm>
            <a:off x="8275320" y="235915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자리 기울기 0</a:t>
            </a:r>
            <a:endParaRPr lang="en-US" sz="1150" dirty="0"/>
          </a:p>
        </p:txBody>
      </p:sp>
      <p:sp>
        <p:nvSpPr>
          <p:cNvPr id="22" name="text_359"/>
          <p:cNvSpPr txBox="1"/>
          <p:nvPr/>
        </p:nvSpPr>
        <p:spPr>
          <a:xfrm>
            <a:off x="10607040" y="23591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4교시</a:t>
            </a:r>
            <a:endParaRPr lang="en-US" sz="1100" dirty="0"/>
          </a:p>
        </p:txBody>
      </p:sp>
      <p:sp>
        <p:nvSpPr>
          <p:cNvPr id="23" name="partRow_360"/>
          <p:cNvSpPr/>
          <p:nvPr/>
        </p:nvSpPr>
        <p:spPr>
          <a:xfrm>
            <a:off x="6373368" y="2980944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text_361"/>
          <p:cNvSpPr txBox="1"/>
          <p:nvPr/>
        </p:nvSpPr>
        <p:spPr>
          <a:xfrm>
            <a:off x="6510528" y="29809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SoftmaxWithLoss</a:t>
            </a:r>
            <a:endParaRPr lang="en-US" sz="1300" dirty="0"/>
          </a:p>
        </p:txBody>
      </p:sp>
      <p:sp>
        <p:nvSpPr>
          <p:cNvPr id="25" name="text_362"/>
          <p:cNvSpPr txBox="1"/>
          <p:nvPr/>
        </p:nvSpPr>
        <p:spPr>
          <a:xfrm>
            <a:off x="8275320" y="29809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 − T) / N</a:t>
            </a:r>
            <a:endParaRPr lang="en-US" sz="1150" dirty="0"/>
          </a:p>
        </p:txBody>
      </p:sp>
      <p:sp>
        <p:nvSpPr>
          <p:cNvPr id="26" name="text_363"/>
          <p:cNvSpPr txBox="1"/>
          <p:nvPr/>
        </p:nvSpPr>
        <p:spPr>
          <a:xfrm>
            <a:off x="10607040" y="298094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5교시</a:t>
            </a:r>
            <a:endParaRPr lang="en-US" sz="1100" dirty="0"/>
          </a:p>
        </p:txBody>
      </p:sp>
      <p:sp>
        <p:nvSpPr>
          <p:cNvPr id="27" name="partRow_364"/>
          <p:cNvSpPr/>
          <p:nvPr/>
        </p:nvSpPr>
        <p:spPr>
          <a:xfrm>
            <a:off x="6373368" y="3602736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text_365"/>
          <p:cNvSpPr txBox="1"/>
          <p:nvPr/>
        </p:nvSpPr>
        <p:spPr>
          <a:xfrm>
            <a:off x="6510528" y="3602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gradient()</a:t>
            </a:r>
            <a:endParaRPr lang="en-US" sz="1300" dirty="0"/>
          </a:p>
        </p:txBody>
      </p:sp>
      <p:sp>
        <p:nvSpPr>
          <p:cNvPr id="29" name="text_366"/>
          <p:cNvSpPr txBox="1"/>
          <p:nvPr/>
        </p:nvSpPr>
        <p:spPr>
          <a:xfrm>
            <a:off x="8275320" y="36027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 를 역순으로</a:t>
            </a:r>
            <a:endParaRPr lang="en-US" sz="1150" dirty="0"/>
          </a:p>
        </p:txBody>
      </p:sp>
      <p:sp>
        <p:nvSpPr>
          <p:cNvPr id="30" name="text_367"/>
          <p:cNvSpPr txBox="1"/>
          <p:nvPr/>
        </p:nvSpPr>
        <p:spPr>
          <a:xfrm>
            <a:off x="10607040" y="360273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6교시</a:t>
            </a:r>
            <a:endParaRPr lang="en-US" sz="1100" dirty="0"/>
          </a:p>
        </p:txBody>
      </p:sp>
      <p:sp>
        <p:nvSpPr>
          <p:cNvPr id="31" name="partRow_368"/>
          <p:cNvSpPr/>
          <p:nvPr/>
        </p:nvSpPr>
        <p:spPr>
          <a:xfrm>
            <a:off x="6373368" y="4224528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2" name="text_369"/>
          <p:cNvSpPr txBox="1"/>
          <p:nvPr/>
        </p:nvSpPr>
        <p:spPr>
          <a:xfrm>
            <a:off x="6510528" y="422452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미니배치 SGD</a:t>
            </a:r>
            <a:endParaRPr lang="en-US" sz="1300" dirty="0"/>
          </a:p>
        </p:txBody>
      </p:sp>
      <p:sp>
        <p:nvSpPr>
          <p:cNvPr id="33" name="text_370"/>
          <p:cNvSpPr txBox="1"/>
          <p:nvPr/>
        </p:nvSpPr>
        <p:spPr>
          <a:xfrm>
            <a:off x="8275320" y="42245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100 · lr 0.1</a:t>
            </a:r>
            <a:endParaRPr lang="en-US" sz="1150" dirty="0"/>
          </a:p>
        </p:txBody>
      </p:sp>
      <p:sp>
        <p:nvSpPr>
          <p:cNvPr id="34" name="text_371"/>
          <p:cNvSpPr txBox="1"/>
          <p:nvPr/>
        </p:nvSpPr>
        <p:spPr>
          <a:xfrm>
            <a:off x="10607040" y="422452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7교시</a:t>
            </a:r>
            <a:endParaRPr lang="en-US" sz="1100" dirty="0"/>
          </a:p>
        </p:txBody>
      </p:sp>
      <p:sp>
        <p:nvSpPr>
          <p:cNvPr id="35" name="text_372"/>
          <p:cNvSpPr txBox="1"/>
          <p:nvPr/>
        </p:nvSpPr>
        <p:spPr>
          <a:xfrm>
            <a:off x="6373368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목표 · 참고 결과</a:t>
            </a:r>
            <a:endParaRPr lang="en-US" sz="1200" dirty="0"/>
          </a:p>
        </p:txBody>
      </p:sp>
      <p:sp>
        <p:nvSpPr>
          <p:cNvPr id="36" name="text_373"/>
          <p:cNvSpPr txBox="1"/>
          <p:nvPr/>
        </p:nvSpPr>
        <p:spPr>
          <a:xfrm>
            <a:off x="6373368" y="5257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≥ 0.95 (5 epoch 에 0.9531 도달)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epoch(6,000 iter) → train 0.9747 / test 0.9694</a:t>
            </a:r>
            <a:endParaRPr lang="en-US" sz="120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핵심 정리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각 항목 옆 번호는 다시 볼 애니메이션</a:t>
            </a:r>
            <a:endParaRPr lang="en-US" sz="1300" dirty="0"/>
          </a:p>
        </p:txBody>
      </p:sp>
      <p:sp>
        <p:nvSpPr>
          <p:cNvPr id="4" name="panel_374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375"/>
          <p:cNvSpPr txBox="1"/>
          <p:nvPr/>
        </p:nvSpPr>
        <p:spPr>
          <a:xfrm>
            <a:off x="685800" y="14173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수치 미분 한계</a:t>
            </a:r>
            <a:endParaRPr lang="en-US" sz="1400" dirty="0"/>
          </a:p>
        </p:txBody>
      </p:sp>
      <p:sp>
        <p:nvSpPr>
          <p:cNvPr id="6" name="text_376"/>
          <p:cNvSpPr txBox="1"/>
          <p:nvPr/>
        </p:nvSpPr>
        <p:spPr>
          <a:xfrm>
            <a:off x="2834640" y="1417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step 당 손실 2P 번 — 79,510개 → 159,020번, 역전파는 순전파 2~3배</a:t>
            </a:r>
            <a:endParaRPr lang="en-US" sz="1300" dirty="0"/>
          </a:p>
        </p:txBody>
      </p:sp>
      <p:sp>
        <p:nvSpPr>
          <p:cNvPr id="7" name="text_377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D3-1</a:t>
            </a:r>
            <a:endParaRPr lang="en-US" sz="1200" dirty="0"/>
          </a:p>
        </p:txBody>
      </p:sp>
      <p:sp>
        <p:nvSpPr>
          <p:cNvPr id="8" name="panel_378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text_379"/>
          <p:cNvSpPr txBox="1"/>
          <p:nvPr/>
        </p:nvSpPr>
        <p:spPr>
          <a:xfrm>
            <a:off x="685800" y="2020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계산 그래프</a:t>
            </a:r>
            <a:endParaRPr lang="en-US" sz="1400" dirty="0"/>
          </a:p>
        </p:txBody>
      </p:sp>
      <p:sp>
        <p:nvSpPr>
          <p:cNvPr id="10" name="text_380"/>
          <p:cNvSpPr txBox="1"/>
          <p:nvPr/>
        </p:nvSpPr>
        <p:spPr>
          <a:xfrm>
            <a:off x="2834640" y="202082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국소 계산 — 순방향은 값, 역방향은 기울기 (사과 가격 기울기 2.2)</a:t>
            </a:r>
            <a:endParaRPr lang="en-US" sz="1300" dirty="0"/>
          </a:p>
        </p:txBody>
      </p:sp>
      <p:sp>
        <p:nvSpPr>
          <p:cNvPr id="11" name="text_381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D3-2</a:t>
            </a:r>
            <a:endParaRPr lang="en-US" sz="1200" dirty="0"/>
          </a:p>
        </p:txBody>
      </p:sp>
      <p:sp>
        <p:nvSpPr>
          <p:cNvPr id="12" name="panel_382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3" name="text_383"/>
          <p:cNvSpPr txBox="1"/>
          <p:nvPr/>
        </p:nvSpPr>
        <p:spPr>
          <a:xfrm>
            <a:off x="685800" y="26243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연쇄 법칙</a:t>
            </a:r>
            <a:endParaRPr lang="en-US" sz="1400" dirty="0"/>
          </a:p>
        </p:txBody>
      </p:sp>
      <p:sp>
        <p:nvSpPr>
          <p:cNvPr id="14" name="text_384"/>
          <p:cNvSpPr txBox="1"/>
          <p:nvPr/>
        </p:nvSpPr>
        <p:spPr>
          <a:xfrm>
            <a:off x="2834640" y="262432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덧셈 노드는 그대로, 곱셈 노드는 상대편 입력을 곱한다</a:t>
            </a:r>
            <a:endParaRPr lang="en-US" sz="1300" dirty="0"/>
          </a:p>
        </p:txBody>
      </p:sp>
      <p:sp>
        <p:nvSpPr>
          <p:cNvPr id="15" name="text_385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D3-3</a:t>
            </a:r>
            <a:endParaRPr lang="en-US" sz="1200" dirty="0"/>
          </a:p>
        </p:txBody>
      </p:sp>
      <p:sp>
        <p:nvSpPr>
          <p:cNvPr id="16" name="panel_386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387"/>
          <p:cNvSpPr txBox="1"/>
          <p:nvPr/>
        </p:nvSpPr>
        <p:spPr>
          <a:xfrm>
            <a:off x="685800" y="32278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활성화 계층</a:t>
            </a:r>
            <a:endParaRPr lang="en-US" sz="1400" dirty="0"/>
          </a:p>
        </p:txBody>
      </p:sp>
      <p:sp>
        <p:nvSpPr>
          <p:cNvPr id="18" name="text_388"/>
          <p:cNvSpPr txBox="1"/>
          <p:nvPr/>
        </p:nvSpPr>
        <p:spPr>
          <a:xfrm>
            <a:off x="2834640" y="322783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Relu: mask 자리 0 · Sigmoid: dout * out * (1 − out)</a:t>
            </a:r>
            <a:endParaRPr lang="en-US" sz="1300" dirty="0"/>
          </a:p>
        </p:txBody>
      </p:sp>
      <p:sp>
        <p:nvSpPr>
          <p:cNvPr id="19" name="text_389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200" dirty="0"/>
          </a:p>
        </p:txBody>
      </p:sp>
      <p:sp>
        <p:nvSpPr>
          <p:cNvPr id="20" name="panel_390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1" name="text_391"/>
          <p:cNvSpPr txBox="1"/>
          <p:nvPr/>
        </p:nvSpPr>
        <p:spPr>
          <a:xfrm>
            <a:off x="685800" y="383133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Affine</a:t>
            </a:r>
            <a:endParaRPr lang="en-US" sz="1400" dirty="0"/>
          </a:p>
        </p:txBody>
      </p:sp>
      <p:sp>
        <p:nvSpPr>
          <p:cNvPr id="22" name="text_392"/>
          <p:cNvSpPr txBox="1"/>
          <p:nvPr/>
        </p:nvSpPr>
        <p:spPr>
          <a:xfrm>
            <a:off x="2834640" y="383133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dX = dout @ W.T · dW = X.T @ dout · db = dout.sum(axis=0)</a:t>
            </a:r>
            <a:endParaRPr lang="en-US" sz="1300" dirty="0"/>
          </a:p>
        </p:txBody>
      </p:sp>
      <p:sp>
        <p:nvSpPr>
          <p:cNvPr id="23" name="text_393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200" dirty="0"/>
          </a:p>
        </p:txBody>
      </p:sp>
      <p:sp>
        <p:nvSpPr>
          <p:cNvPr id="24" name="panel_394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395"/>
          <p:cNvSpPr txBox="1"/>
          <p:nvPr/>
        </p:nvSpPr>
        <p:spPr>
          <a:xfrm>
            <a:off x="685800" y="44348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SoftmaxWithLoss</a:t>
            </a:r>
            <a:endParaRPr lang="en-US" sz="1400" dirty="0"/>
          </a:p>
        </p:txBody>
      </p:sp>
      <p:sp>
        <p:nvSpPr>
          <p:cNvPr id="26" name="text_396"/>
          <p:cNvSpPr txBox="1"/>
          <p:nvPr/>
        </p:nvSpPr>
        <p:spPr>
          <a:xfrm>
            <a:off x="2834640" y="443484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(Y − T) / N — Day 2 의 "(예측 − 정답)" 이 다시 나온다</a:t>
            </a:r>
            <a:endParaRPr lang="en-US" sz="1300" dirty="0"/>
          </a:p>
        </p:txBody>
      </p:sp>
      <p:sp>
        <p:nvSpPr>
          <p:cNvPr id="27" name="text_397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D3-6</a:t>
            </a:r>
            <a:endParaRPr lang="en-US" sz="1200" dirty="0"/>
          </a:p>
        </p:txBody>
      </p:sp>
      <p:sp>
        <p:nvSpPr>
          <p:cNvPr id="28" name="panel_398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9" name="text_399"/>
          <p:cNvSpPr txBox="1"/>
          <p:nvPr/>
        </p:nvSpPr>
        <p:spPr>
          <a:xfrm>
            <a:off x="685800" y="50383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Gradient check</a:t>
            </a:r>
            <a:endParaRPr lang="en-US" sz="1400" dirty="0"/>
          </a:p>
        </p:txBody>
      </p:sp>
      <p:sp>
        <p:nvSpPr>
          <p:cNvPr id="30" name="text_400"/>
          <p:cNvSpPr txBox="1"/>
          <p:nvPr/>
        </p:nvSpPr>
        <p:spPr>
          <a:xfrm>
            <a:off x="2834640" y="503834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rel_error &lt; 1e-7 통과 — shape 가 맞아도 값은 틀릴 수 있다</a:t>
            </a:r>
            <a:endParaRPr lang="en-US" sz="1300" dirty="0"/>
          </a:p>
        </p:txBody>
      </p:sp>
      <p:sp>
        <p:nvSpPr>
          <p:cNvPr id="31" name="text_401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D3-7</a:t>
            </a:r>
            <a:endParaRPr lang="en-US" sz="1200" dirty="0"/>
          </a:p>
        </p:txBody>
      </p:sp>
      <p:sp>
        <p:nvSpPr>
          <p:cNvPr id="32" name="panel_402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3" name="text_403"/>
          <p:cNvSpPr txBox="1"/>
          <p:nvPr/>
        </p:nvSpPr>
        <p:spPr>
          <a:xfrm>
            <a:off x="685800" y="56418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미니배치 SGD</a:t>
            </a:r>
            <a:endParaRPr lang="en-US" sz="1400" dirty="0"/>
          </a:p>
        </p:txBody>
      </p:sp>
      <p:sp>
        <p:nvSpPr>
          <p:cNvPr id="34" name="text_404"/>
          <p:cNvSpPr txBox="1"/>
          <p:nvPr/>
        </p:nvSpPr>
        <p:spPr>
          <a:xfrm>
            <a:off x="2834640" y="56418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epoch · batch · iteration → MNIST test 0.9694</a:t>
            </a:r>
            <a:endParaRPr lang="en-US" sz="1300" dirty="0"/>
          </a:p>
        </p:txBody>
      </p:sp>
      <p:sp>
        <p:nvSpPr>
          <p:cNvPr id="35" name="text_405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D3-8 · D3-9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Day 4 로 가는 다리 — 학습을 잘 시키는 기술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오늘은 "학습이 된다" 까지. 내일은 "더 빠르고 안정적으로, 덜 외우게" 학습시킵니다</a:t>
            </a:r>
            <a:endParaRPr lang="en-US" sz="1300" dirty="0"/>
          </a:p>
        </p:txBody>
      </p:sp>
      <p:sp>
        <p:nvSpPr>
          <p:cNvPr id="4" name="panel_406"/>
          <p:cNvSpPr/>
          <p:nvPr/>
        </p:nvSpPr>
        <p:spPr>
          <a:xfrm>
            <a:off x="457200" y="1463040"/>
            <a:ext cx="11274552" cy="4069080"/>
          </a:xfrm>
          <a:prstGeom prst="roundRect">
            <a:avLst>
              <a:gd name="adj" fmla="val 1798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407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Day 3 (오늘)</a:t>
            </a:r>
            <a:endParaRPr lang="en-US" sz="1300" dirty="0"/>
          </a:p>
        </p:txBody>
      </p:sp>
      <p:sp>
        <p:nvSpPr>
          <p:cNvPr id="6" name="text_408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4 (내일)</a:t>
            </a:r>
            <a:endParaRPr lang="en-US" sz="1300" dirty="0"/>
          </a:p>
        </p:txBody>
      </p:sp>
      <p:sp>
        <p:nvSpPr>
          <p:cNvPr id="7" name="codebg_409"/>
          <p:cNvSpPr/>
          <p:nvPr/>
        </p:nvSpPr>
        <p:spPr>
          <a:xfrm>
            <a:off x="731520" y="20116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code_410"/>
          <p:cNvSpPr txBox="1"/>
          <p:nvPr/>
        </p:nvSpPr>
        <p:spPr>
          <a:xfrm>
            <a:off x="841248" y="206654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-= lr * grad  (SGD)</a:t>
            </a:r>
            <a:endParaRPr lang="en-US" sz="1200" dirty="0"/>
          </a:p>
        </p:txBody>
      </p:sp>
      <p:sp>
        <p:nvSpPr>
          <p:cNvPr id="9" name="text_411"/>
          <p:cNvSpPr txBox="1"/>
          <p:nvPr/>
        </p:nvSpPr>
        <p:spPr>
          <a:xfrm>
            <a:off x="57607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_412"/>
          <p:cNvSpPr txBox="1"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Momentum · AdaGrad · RMSProp · Adam</a:t>
            </a:r>
            <a:endParaRPr lang="en-US" sz="1350" dirty="0"/>
          </a:p>
        </p:txBody>
      </p:sp>
      <p:sp>
        <p:nvSpPr>
          <p:cNvPr id="11" name="codebg_413"/>
          <p:cNvSpPr/>
          <p:nvPr/>
        </p:nvSpPr>
        <p:spPr>
          <a:xfrm>
            <a:off x="731520" y="2578608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2" name="code_414"/>
          <p:cNvSpPr txBox="1"/>
          <p:nvPr/>
        </p:nvSpPr>
        <p:spPr>
          <a:xfrm>
            <a:off x="841248" y="263347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weight_init_std = 0.01</a:t>
            </a:r>
            <a:endParaRPr lang="en-US" sz="1200" dirty="0"/>
          </a:p>
        </p:txBody>
      </p:sp>
      <p:sp>
        <p:nvSpPr>
          <p:cNvPr id="13" name="text_415"/>
          <p:cNvSpPr txBox="1"/>
          <p:nvPr/>
        </p:nvSpPr>
        <p:spPr>
          <a:xfrm>
            <a:off x="5760720" y="2578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_416"/>
          <p:cNvSpPr txBox="1"/>
          <p:nvPr/>
        </p:nvSpPr>
        <p:spPr>
          <a:xfrm>
            <a:off x="6446520" y="2578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Xavier · He 초기화</a:t>
            </a:r>
            <a:endParaRPr lang="en-US" sz="1350" dirty="0"/>
          </a:p>
        </p:txBody>
      </p:sp>
      <p:sp>
        <p:nvSpPr>
          <p:cNvPr id="15" name="codebg_417"/>
          <p:cNvSpPr/>
          <p:nvPr/>
        </p:nvSpPr>
        <p:spPr>
          <a:xfrm>
            <a:off x="731520" y="3145536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code_418"/>
          <p:cNvSpPr txBox="1"/>
          <p:nvPr/>
        </p:nvSpPr>
        <p:spPr>
          <a:xfrm>
            <a:off x="841248" y="3200400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층마다 달라지는 활성값 분포</a:t>
            </a:r>
            <a:endParaRPr lang="en-US" sz="1200" dirty="0"/>
          </a:p>
        </p:txBody>
      </p:sp>
      <p:sp>
        <p:nvSpPr>
          <p:cNvPr id="17" name="text_419"/>
          <p:cNvSpPr txBox="1"/>
          <p:nvPr/>
        </p:nvSpPr>
        <p:spPr>
          <a:xfrm>
            <a:off x="5760720" y="3145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_420"/>
          <p:cNvSpPr txBox="1"/>
          <p:nvPr/>
        </p:nvSpPr>
        <p:spPr>
          <a:xfrm>
            <a:off x="6446520" y="31455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Batch Norm</a:t>
            </a:r>
            <a:endParaRPr lang="en-US" sz="1350" dirty="0"/>
          </a:p>
        </p:txBody>
      </p:sp>
      <p:sp>
        <p:nvSpPr>
          <p:cNvPr id="19" name="codebg_421"/>
          <p:cNvSpPr/>
          <p:nvPr/>
        </p:nvSpPr>
        <p:spPr>
          <a:xfrm>
            <a:off x="731520" y="3712464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code_422"/>
          <p:cNvSpPr txBox="1"/>
          <p:nvPr/>
        </p:nvSpPr>
        <p:spPr>
          <a:xfrm>
            <a:off x="841248" y="376732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0.9747 vs test 0.9694</a:t>
            </a:r>
            <a:endParaRPr lang="en-US" sz="1200" dirty="0"/>
          </a:p>
        </p:txBody>
      </p:sp>
      <p:sp>
        <p:nvSpPr>
          <p:cNvPr id="21" name="text_423"/>
          <p:cNvSpPr txBox="1"/>
          <p:nvPr/>
        </p:nvSpPr>
        <p:spPr>
          <a:xfrm>
            <a:off x="5760720" y="3712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_424"/>
          <p:cNvSpPr txBox="1"/>
          <p:nvPr/>
        </p:nvSpPr>
        <p:spPr>
          <a:xfrm>
            <a:off x="6446520" y="3712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Dropout · weight decay (과적합 억제)</a:t>
            </a:r>
            <a:endParaRPr lang="en-US" sz="1350" dirty="0"/>
          </a:p>
        </p:txBody>
      </p:sp>
      <p:sp>
        <p:nvSpPr>
          <p:cNvPr id="23" name="codebg_425"/>
          <p:cNvSpPr/>
          <p:nvPr/>
        </p:nvSpPr>
        <p:spPr>
          <a:xfrm>
            <a:off x="731520" y="4279392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code_426"/>
          <p:cNvSpPr txBox="1"/>
          <p:nvPr/>
        </p:nvSpPr>
        <p:spPr>
          <a:xfrm>
            <a:off x="841248" y="4334256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0.1 · batch 100 을 손으로</a:t>
            </a:r>
            <a:endParaRPr lang="en-US" sz="1200" dirty="0"/>
          </a:p>
        </p:txBody>
      </p:sp>
      <p:sp>
        <p:nvSpPr>
          <p:cNvPr id="25" name="text_427"/>
          <p:cNvSpPr txBox="1"/>
          <p:nvPr/>
        </p:nvSpPr>
        <p:spPr>
          <a:xfrm>
            <a:off x="5760720" y="4279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_428"/>
          <p:cNvSpPr txBox="1"/>
          <p:nvPr/>
        </p:nvSpPr>
        <p:spPr>
          <a:xfrm>
            <a:off x="6446520" y="4279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하이퍼파라미터 탐색</a:t>
            </a:r>
            <a:endParaRPr lang="en-US" sz="1350" dirty="0"/>
          </a:p>
        </p:txBody>
      </p:sp>
      <p:sp>
        <p:nvSpPr>
          <p:cNvPr id="27" name="codebg_429"/>
          <p:cNvSpPr/>
          <p:nvPr/>
        </p:nvSpPr>
        <p:spPr>
          <a:xfrm>
            <a:off x="731520" y="484632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430"/>
          <p:cNvSpPr txBox="1"/>
          <p:nvPr/>
        </p:nvSpPr>
        <p:spPr>
          <a:xfrm>
            <a:off x="841248" y="490118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OrderedDict 로 쌓은 TwoLayerNet</a:t>
            </a:r>
            <a:endParaRPr lang="en-US" sz="1200" dirty="0"/>
          </a:p>
        </p:txBody>
      </p:sp>
      <p:sp>
        <p:nvSpPr>
          <p:cNvPr id="29" name="text_431"/>
          <p:cNvSpPr txBox="1"/>
          <p:nvPr/>
        </p:nvSpPr>
        <p:spPr>
          <a:xfrm>
            <a:off x="576072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_432"/>
          <p:cNvSpPr txBox="1"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Sequential · Trainer 미니 프레임워크 (mynn.py)</a:t>
            </a:r>
            <a:endParaRPr lang="en-US" sz="1350" dirty="0"/>
          </a:p>
        </p:txBody>
      </p:sp>
      <p:sp>
        <p:nvSpPr>
          <p:cNvPr id="31" name="text_433"/>
          <p:cNvSpPr txBox="1"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SGD 의 약점 → 최적화 기법 → 초기화 → 정규화 → 하이퍼파라미터 → 미니 프레임워크</a:t>
            </a:r>
            <a:endParaRPr lang="en-US" sz="1400" dirty="0"/>
          </a:p>
        </p:txBody>
      </p:sp>
      <p:sp>
        <p:nvSpPr>
          <p:cNvPr id="32" name="text_434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제출: 강의 노트북 (MNIST 채점 셀 결과 포함) · 워크시트 오답 정리 캡처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3 — 역전파</dc:title>
  <dc:subject>PptxGenJS Presentation</dc:subject>
  <dc:creator>김정인</dc:creator>
  <cp:lastModifiedBy>김정인</cp:lastModifiedBy>
  <cp:revision>1</cp:revision>
  <dcterms:created xsi:type="dcterms:W3CDTF">2026-10-21T07:23:19Z</dcterms:created>
  <dcterms:modified xsi:type="dcterms:W3CDTF">2026-10-21T07:23:19Z</dcterms:modified>
</cp:coreProperties>
</file>