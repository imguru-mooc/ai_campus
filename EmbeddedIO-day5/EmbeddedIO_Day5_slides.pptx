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f1cf7ca-c362-82d9-4df4-5a248fb289f2}">
          <p14:sldIdLst>
            <p14:sldId id="256"/>
            <p14:sldId id="257"/>
          </p14:sldIdLst>
        </p14:section>
        <p14:section name="1교시" id="{a9de0d47-f361-1412-7c39-82b03913daef}">
          <p14:sldIdLst>
            <p14:sldId id="258"/>
            <p14:sldId id="259"/>
          </p14:sldIdLst>
        </p14:section>
        <p14:section name="2교시" id="{81ae79b2-6add-8b3f-dfcf-34de7c2734be}">
          <p14:sldIdLst>
            <p14:sldId id="260"/>
            <p14:sldId id="261"/>
          </p14:sldIdLst>
        </p14:section>
        <p14:section name="3교시" id="{4d840d49-67f2-2d60-cc11-c061f2553d1d}">
          <p14:sldIdLst>
            <p14:sldId id="262"/>
            <p14:sldId id="263"/>
          </p14:sldIdLst>
        </p14:section>
        <p14:section name="4교시" id="{5ff522cc-580f-e68e-ce34-9a716c732be8}">
          <p14:sldIdLst>
            <p14:sldId id="264"/>
            <p14:sldId id="265"/>
          </p14:sldIdLst>
        </p14:section>
        <p14:section name="5교시" id="{b02ff73a-8ec1-a9f6-26bf-cb9734482ab9}">
          <p14:sldIdLst>
            <p14:sldId id="266"/>
          </p14:sldIdLst>
        </p14:section>
        <p14:section name="6교시" id="{748af56f-f36e-8c06-3e03-a5303497824b}">
          <p14:sldIdLst>
            <p14:sldId id="267"/>
          </p14:sldIdLst>
        </p14:section>
        <p14:section name="7교시" id="{124ee65f-5723-a08a-5178-a077df0e3865}">
          <p14:sldIdLst>
            <p14:sldId id="268"/>
            <p14:sldId id="269"/>
          </p14:sldIdLst>
        </p14:section>
        <p14:section name="8교시" id="{20ec7ea1-c3b6-170c-7924-17d3675e0ba1}">
          <p14:sldIdLst>
            <p14:sldId id="270"/>
            <p14:sldId id="271"/>
          </p14:sldIdLst>
        </p14:section>
        <p14:section name="정리" id="{061506b5-909a-b57e-5acb-08e5769442ca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09:00~09:15 Day 4 복습 퀴즈. 오늘은 재부팅이 세 번 있다(dht11 · eio 올리기 · 내리기). 4교시부터 2인 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끝나면 sudo systemctl disable --now envmon, sudo poweroff 후 전원 분리.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Embedded I/O 제어 · Day 5 · 커널 드라이버와 종합 프로젝트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CAMPUS/EmbeddedIO-day5/lecture.html" TargetMode="External"/><Relationship Id="rId2" Type="http://schemas.openxmlformats.org/officeDocument/2006/relationships/hyperlink" Target="https://imguru-mooc.github.io/AI_CAMPUS/EmbeddedIO-day5/animation.html" TargetMode="External"/><Relationship Id="rId3" Type="http://schemas.openxmlformats.org/officeDocument/2006/relationships/hyperlink" Target="https://imguru-mooc.github.io/AI_CAMPUS/EmbeddedIO-day5/worksheet.html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CAMPUS/EmbeddedIO-day5/animation.html#l1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CAMPUS/EmbeddedIO-day5/animation.html#l2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CAMPUS/EmbeddedIO-day5/animation.html#l3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CAMPUS/EmbeddedIO-day5/animation.html#l4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CAMPUS/EmbeddedIO-day5/animation.html#l5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CAMPUS/EmbeddedIO-day5/animation.html#l6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CAMPUS/EmbeddedIO-day5/animation.html#l7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CAMPUS/EmbeddedIO-day5/animation.html#l8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CAMPUS/EmbeddedIO-day5/worksheet.html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Day 5  커널 드라이버와 종합 프로젝트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Embedded I/O 제어 5/5 · 10/19(월) · Raspberry Pi 4 + IIO · Device Tree overlay · systemd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강의 자료</a:t>
            </a:r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    ·    </a:t>
            </a:r>
            <a:pPr indent="0" marL="0">
              <a:buNone/>
            </a:pPr>
            <a:r>
              <a:rPr lang="en-US" sz="1800" b="1" u="sng" dirty="0">
                <a:solidFill>
                  <a:schemeClr val="bg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애니메이션</a:t>
            </a:r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    ·    </a:t>
            </a:r>
            <a:pPr indent="0" marL="0">
              <a:buNone/>
            </a:pPr>
            <a:r>
              <a:rPr lang="en-US" sz="1800" b="1" u="sng" dirty="0">
                <a:solidFill>
                  <a:schemeClr val="bg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워크시트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HYUNDAI AI Insight Campus · 온디바이스 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오늘 — 누가 타이밍을 책임지나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58952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시간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무엇을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책임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1교시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DHT11: 사용자 공간 실패 → 커널 드라이버 (IIO)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커널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2교시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LED · 버튼을 overlay 로 커널 장치로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커널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3교시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LCD: 최소 시간만 → libgpiod 드라이버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나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4~6교시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envmon — 네 쓰레드 + 공유 상태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나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7교시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systemd 서비스 · 장애 대응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systemd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8교시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시연 · 리뷰 · 5일 정리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548640" y="4754880"/>
            <a:ext cx="11064240" cy="960120"/>
          </a:xfrm>
          <a:prstGeom prst="roundRect">
            <a:avLst>
              <a:gd name="adj" fmla="val 952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491947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종합 프로젝트 envmon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37667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DHT11 · PCF8591 조도 · HC-SR04 거리 → LCD 화면 · 릴레이(팬) · 부저 · LED · CSV — 부팅하면 자동 시작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DHT11 — 26 µs 와 70 µs 를 구분해야 한다</a:t>
            </a:r>
            <a:endParaRPr lang="en-US" sz="3000" dirty="0"/>
          </a:p>
        </p:txBody>
      </p:sp>
      <p:sp>
        <p:nvSpPr>
          <p:cNvPr id="3" name="period-pill"/>
          <p:cNvSpPr/>
          <p:nvPr/>
        </p:nvSpPr>
        <p:spPr>
          <a:xfrm>
            <a:off x="10561320" y="457200"/>
            <a:ext cx="105156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61320" y="4572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1교시</a:t>
            </a:r>
            <a:endParaRPr lang="en-US" sz="1400" dirty="0"/>
          </a:p>
        </p:txBody>
      </p:sp>
      <p:sp>
        <p:nvSpPr>
          <p:cNvPr id="5" name="anim-link"/>
          <p:cNvSpPr txBox="1"/>
          <p:nvPr/>
        </p:nvSpPr>
        <p:spPr>
          <a:xfrm>
            <a:off x="6583680" y="5989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chemeClr val="accent1"/>
                </a:solidFill>
                <a:hlinkClick r:id="rId1" invalidUrl="" action="" tgtFrame="" tooltip="animation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애니메이션 D5-1 · µs 를 다투는 비트  ▶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단계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길이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 시작 신호 Low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≥ 18 ms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DHT11 응답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80 µs · 80 µs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비트 × 40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Low 50 + High 27 (0) / 70 (1)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데이터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습도 · 소수 · 온도 · 소수 · 체크섬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code-bg"/>
          <p:cNvSpPr/>
          <p:nvPr/>
        </p:nvSpPr>
        <p:spPr>
          <a:xfrm>
            <a:off x="626364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446520" y="1481328"/>
            <a:ext cx="498348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./01_dht_poll -n 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성공 8 / 10      # 부하 없음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yes × 4 …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./01_dht_poll -n 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성공 1 / 10      # 부하 중 (예시)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548640" y="393192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BE3DF"/>
          </a:solidFill>
          <a:ln w="12700">
            <a:solidFill>
              <a:srgbClr val="FBE3D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사용자 공간은 왜 실패하나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553712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폴링 간격 · 스케줄링 지연 · 방향 전환 지연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4 ms 중 한 번만 늦어도 비트를 놓친다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172200" y="3931920"/>
            <a:ext cx="544068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0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MCU 는 왜 됐나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4553712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ESP32 라이브러리는 읽는 동안 인터럽트를 끈다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Linux 사용자 프로그램은 그럴 수 없다 → 커널에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커널 dht11 드라이버 + IIO</a:t>
            </a:r>
            <a:endParaRPr lang="en-US" sz="3000" dirty="0"/>
          </a:p>
        </p:txBody>
      </p:sp>
      <p:sp>
        <p:nvSpPr>
          <p:cNvPr id="3" name="period-pill"/>
          <p:cNvSpPr/>
          <p:nvPr/>
        </p:nvSpPr>
        <p:spPr>
          <a:xfrm>
            <a:off x="10561320" y="457200"/>
            <a:ext cx="105156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61320" y="4572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1교시</a:t>
            </a:r>
            <a:endParaRPr lang="en-US" sz="1400" dirty="0"/>
          </a:p>
        </p:txBody>
      </p:sp>
      <p:sp>
        <p:nvSpPr>
          <p:cNvPr id="5" name="code-bg"/>
          <p:cNvSpPr/>
          <p:nvPr/>
        </p:nvSpPr>
        <p:spPr>
          <a:xfrm>
            <a:off x="548640" y="1371600"/>
            <a:ext cx="6583680" cy="2743200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731520" y="1481328"/>
            <a:ext cx="621792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config.txt [all]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dtoverlay=dht11,gpiopin=4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dmesg | grep -i dht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/sys/bus/iio/devices/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…/iio:device0/in_temp_input              # 24000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…/iio:device0/in_humidityrelative_input  # 41000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7360920" y="1371600"/>
            <a:ext cx="4251960" cy="2743200"/>
          </a:xfrm>
          <a:prstGeom prst="roundRect">
            <a:avLst>
              <a:gd name="adj" fmla="val 333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0" y="153619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dht.h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993392"/>
            <a:ext cx="3794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dht_open(&amp;d) — 습도 파일이 있는 장치 찾기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dht_read(&amp;d, &amp;t, &amp;h) — 밀리 단위 ÷ 1000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실패(EIO · ETIMEDOUT) → 0.3초 뒤 재시도 × 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IIO = 센서 값을 /sys/bus/iio 파일로 내놓는 커널 공통 틀 — 센서가 바뀌어도 읽는 코드는 같다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Device Tree overlay — 핀을 커널 장치로</a:t>
            </a:r>
            <a:endParaRPr lang="en-US" sz="3000" dirty="0"/>
          </a:p>
        </p:txBody>
      </p:sp>
      <p:sp>
        <p:nvSpPr>
          <p:cNvPr id="3" name="period-pill"/>
          <p:cNvSpPr/>
          <p:nvPr/>
        </p:nvSpPr>
        <p:spPr>
          <a:xfrm>
            <a:off x="10561320" y="457200"/>
            <a:ext cx="105156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61320" y="4572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2교시</a:t>
            </a:r>
            <a:endParaRPr lang="en-US" sz="1400" dirty="0"/>
          </a:p>
        </p:txBody>
      </p:sp>
      <p:sp>
        <p:nvSpPr>
          <p:cNvPr id="5" name="anim-link"/>
          <p:cNvSpPr txBox="1"/>
          <p:nvPr/>
        </p:nvSpPr>
        <p:spPr>
          <a:xfrm>
            <a:off x="6583680" y="5989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chemeClr val="accent1"/>
                </a:solidFill>
                <a:hlinkClick r:id="rId1" invalidUrl="" action="" tgtFrame="" tooltip="animation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애니메이션 D5-2 · overlay → 커널 장치  ▶</a:t>
            </a:r>
            <a:endParaRPr lang="en-US" sz="1300" dirty="0"/>
          </a:p>
        </p:txBody>
      </p:sp>
      <p:sp>
        <p:nvSpPr>
          <p:cNvPr id="6" name="code-bg"/>
          <p:cNvSpPr/>
          <p:nvPr/>
        </p:nvSpPr>
        <p:spPr>
          <a:xfrm>
            <a:off x="548640" y="1371600"/>
            <a:ext cx="6035040" cy="4297680"/>
          </a:xfrm>
          <a:prstGeom prst="roundRect">
            <a:avLst>
              <a:gd name="adj" fmla="val 170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731520" y="1481328"/>
            <a:ext cx="5669280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fragment@1 { target-path = "/";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__overlay__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eio-leds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compatible = "gpio-leds";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led-green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 = "eio:green";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gpios = &lt;&amp;gpio 17 0&gt;;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linux,default-trigger = "heartbeat";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}; 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eio-keys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compatible = "gpio-keys";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button-a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gpios = &lt;&amp;gpio 5 1&gt;;      /* active-low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linux,code = &lt;28&gt;;        /* KEY_ENTER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debounce-interval = &lt;20&gt;;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}; }; }; };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371600"/>
          <a:ext cx="4800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611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순서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명령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컴파일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dtc -@ -I dts -O dtb -o eio.dtbo …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복사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sudo cp eio.dtbo /boot/firmware/overlays/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등록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config.txt: dtoverlay=eio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적용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sudo reboot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9" name="card"/>
          <p:cNvSpPr/>
          <p:nvPr/>
        </p:nvSpPr>
        <p:spPr>
          <a:xfrm>
            <a:off x="6812280" y="3840480"/>
            <a:ext cx="4800600" cy="182880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40880" y="400507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결과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040880" y="4462272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/sys/class/leds/eio:green — trigger · brightness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/dev/input/event0 — struct input_event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gpioinfo: 5 · 17 이 커널 소유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LED 클래스 · input 이벤트 — 그리고 내리기</a:t>
            </a:r>
            <a:endParaRPr lang="en-US" sz="3000" dirty="0"/>
          </a:p>
        </p:txBody>
      </p:sp>
      <p:sp>
        <p:nvSpPr>
          <p:cNvPr id="3" name="period-pill"/>
          <p:cNvSpPr/>
          <p:nvPr/>
        </p:nvSpPr>
        <p:spPr>
          <a:xfrm>
            <a:off x="10561320" y="457200"/>
            <a:ext cx="105156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61320" y="4572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2교시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766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Day 2 libgpiod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overlay + 커널 드라이버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소유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내 프로그램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커널 — 부팅부터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디바운스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내 코드 · 요청 설정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debounce-interval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깜빡임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내 루프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trigger 한 줄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읽는 쪽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요청한 프로그램만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/dev/input 을 여럿이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code-bg"/>
          <p:cNvSpPr/>
          <p:nvPr/>
        </p:nvSpPr>
        <p:spPr>
          <a:xfrm>
            <a:off x="7543800" y="1371600"/>
            <a:ext cx="4069080" cy="2377440"/>
          </a:xfrm>
          <a:prstGeom prst="roundRect">
            <a:avLst>
              <a:gd name="adj" fmla="val 307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7726680" y="1481328"/>
            <a:ext cx="370332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timer 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sudo tee …/eio:green/trigger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./03_led_key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28 value 1 (누름)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28 value 0 (뗌)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548640" y="411480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BE3DF"/>
          </a:solidFill>
          <a:ln w="12700">
            <a:solidFill>
              <a:srgbClr val="FBE3D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27939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⚠ 4교시 전에 내리기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73659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config.txt 의 dtoverlay=eio 를 # 로 주석 → 재부팅 → gpioinfo 에서 5 · 17 이 비었는지 확인.  dht11 은 그대로 둔다.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1602A LCD — 니블 두 번, E 가 내려갈 때</a:t>
            </a:r>
            <a:endParaRPr lang="en-US" sz="3000" dirty="0"/>
          </a:p>
        </p:txBody>
      </p:sp>
      <p:sp>
        <p:nvSpPr>
          <p:cNvPr id="3" name="period-pill"/>
          <p:cNvSpPr/>
          <p:nvPr/>
        </p:nvSpPr>
        <p:spPr>
          <a:xfrm>
            <a:off x="10561320" y="457200"/>
            <a:ext cx="105156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61320" y="4572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3교시</a:t>
            </a:r>
            <a:endParaRPr lang="en-US" sz="1400" dirty="0"/>
          </a:p>
        </p:txBody>
      </p:sp>
      <p:sp>
        <p:nvSpPr>
          <p:cNvPr id="5" name="anim-link"/>
          <p:cNvSpPr txBox="1"/>
          <p:nvPr/>
        </p:nvSpPr>
        <p:spPr>
          <a:xfrm>
            <a:off x="6583680" y="5989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chemeClr val="accent1"/>
                </a:solidFill>
                <a:hlinkClick r:id="rId1" invalidUrl="" action="" tgtFrame="" tooltip="animation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애니메이션 D5-3 · 니블 두 번과 E 펄스  ▶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4206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LCD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Pi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RS 4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GPIO12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 6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GPIO16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D4 ~ D7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 · 21 · 26 · 22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RW 5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GND 고정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VDD · A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5V · 220Ω → 5V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V0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가변저항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371600"/>
          <a:ext cx="3291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명령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뜻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0x01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지우기 (≥ 1.52 ms)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0x28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4비트 · 2줄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0x0C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화면 켬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0x06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오른쪽으로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0x80 | 주소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1행 0x00 · 2행 0x40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0x40 | n&lt;&lt;3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사용자 문자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code-bg"/>
          <p:cNvSpPr/>
          <p:nvPr/>
        </p:nvSpPr>
        <p:spPr>
          <a:xfrm>
            <a:off x="8503920" y="1371600"/>
            <a:ext cx="3108960" cy="2468880"/>
          </a:xfrm>
          <a:prstGeom prst="roundRect">
            <a:avLst>
              <a:gd name="adj" fmla="val 296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code"/>
          <p:cNvSpPr txBox="1"/>
          <p:nvPr/>
        </p:nvSpPr>
        <p:spPr>
          <a:xfrm>
            <a:off x="8686800" y="1481328"/>
            <a:ext cx="2743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 0x41, RS=1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D7..D4 = 0100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‾\_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D7..D4 = 0001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‾\_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µs 쉼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548640" y="4572000"/>
            <a:ext cx="11064240" cy="11430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473659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RW = GND 인 이유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51937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LCD 는 2.2 V 이상을 High 로 읽어 3.3 V 신호로 동작한다. RW 를 GND 에 두면 LCD 가 핀으로 5 V 를 내보내지 않는다.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왜 LCD 는 되고 DHT11 은 안 되나</a:t>
            </a:r>
            <a:endParaRPr lang="en-US" sz="3000" dirty="0"/>
          </a:p>
        </p:txBody>
      </p:sp>
      <p:sp>
        <p:nvSpPr>
          <p:cNvPr id="3" name="period-pill"/>
          <p:cNvSpPr/>
          <p:nvPr/>
        </p:nvSpPr>
        <p:spPr>
          <a:xfrm>
            <a:off x="10561320" y="457200"/>
            <a:ext cx="105156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61320" y="4572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3교시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84048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DHT11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HD44780 LCD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타이밍을 정하는 쪽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센서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Pi (E 를 내릴 때)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시간 조건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26 µs vs 70 µs 구분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모두 최소값 (≥ 450 ns · ≥ 37 µs)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늦어지면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비트를 놓침 → 실패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느려질 뿐 → 성공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그래서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커널 드라이버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libgpiod 드라이버 (lcd.c)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548640" y="4023360"/>
            <a:ext cx="54406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418795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lcd.h — 불투명 포인터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64515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typedef struct lcd lcd_t;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쓰는 쪽은 핀 번호를 모른다 → 모듈 교체가 쉽다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172200" y="4023360"/>
            <a:ext cx="54406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0" y="418795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(시연) hd44780-lcd overlay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464515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커널에 맡기면 printf '\fHello' &gt; /dev/lcd 한 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대신 화면 배치 · 사용자 문자는 덜 자유롭다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envmon — 네 쓰레드, 하나의 공유 상태</a:t>
            </a:r>
            <a:endParaRPr lang="en-US" sz="3000" dirty="0"/>
          </a:p>
        </p:txBody>
      </p:sp>
      <p:sp>
        <p:nvSpPr>
          <p:cNvPr id="3" name="period-pill"/>
          <p:cNvSpPr/>
          <p:nvPr/>
        </p:nvSpPr>
        <p:spPr>
          <a:xfrm>
            <a:off x="10561320" y="457200"/>
            <a:ext cx="105156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61320" y="4572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4교시</a:t>
            </a:r>
            <a:endParaRPr lang="en-US" sz="1400" dirty="0"/>
          </a:p>
        </p:txBody>
      </p:sp>
      <p:sp>
        <p:nvSpPr>
          <p:cNvPr id="5" name="anim-link"/>
          <p:cNvSpPr txBox="1"/>
          <p:nvPr/>
        </p:nvSpPr>
        <p:spPr>
          <a:xfrm>
            <a:off x="6583680" y="5989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chemeClr val="accent1"/>
                </a:solidFill>
                <a:hlinkClick r:id="rId1" invalidUrl="" action="" tgtFrame="" tooltip="animation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애니메이션 D5-4 · 쓰레드와 공유 상태  ▶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5836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566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쓰레드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하는 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주기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sensor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온습도(IIO) · 조도(PCF8591)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 초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proximity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거리 중앙값 3회 · 30 cm 접근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≈ 0.3 초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control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버튼 이벤트 · 판단 · 출력 4개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50 ms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display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LCD 화면 · 1분 CSV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0.5 초 / 신호 즉시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code-bg"/>
          <p:cNvSpPr/>
          <p:nvPr/>
        </p:nvSpPr>
        <p:spPr>
          <a:xfrm>
            <a:off x="7360920" y="1371600"/>
            <a:ext cx="4251960" cy="2468880"/>
          </a:xfrm>
          <a:prstGeom prst="roundRect">
            <a:avLst>
              <a:gd name="adj" fmla="val 296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7543800" y="1481328"/>
            <a:ext cx="3886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pthread_mutex_lock(&amp;S.mx);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env_t c = S.d;      /* 복사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pthread_mutex_unlock(&amp;S.mx);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 로 LCD 그리기 */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pthread_cond_signal(&amp;S.cv);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버튼 → 화면 즉시 */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규칙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이유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잠그고 복사 → 풀고 일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LCD · 센서 수십 ms 동안 남을 막지 않게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실패는 값으로 (-1 · --)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쓰레드가 죽지 않게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화면 전환은 조건 변수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0.5초를 기다리지 않게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규칙 · 모듈 · 핀</a:t>
            </a:r>
            <a:endParaRPr lang="en-US" sz="3000" dirty="0"/>
          </a:p>
        </p:txBody>
      </p:sp>
      <p:sp>
        <p:nvSpPr>
          <p:cNvPr id="3" name="period-pill"/>
          <p:cNvSpPr/>
          <p:nvPr/>
        </p:nvSpPr>
        <p:spPr>
          <a:xfrm>
            <a:off x="10561320" y="457200"/>
            <a:ext cx="105156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61320" y="4572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4교시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400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조건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동작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온도 ≥ 28 °C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릴레이(팬) ON · ≤ 27 °C 에서 OFF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거리 &lt; 30 cm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APPROACH 화면 · 경보 LED · 부저 삑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버튼 짧게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화면 전환 (온습도 · 조도 · 거리 · 상태)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버튼 길게 1초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부저 음소거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센서 오류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상태 LED 빠르게 · 화면 --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371600"/>
          <a:ext cx="4434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헤더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날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gpio_common.h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Day 2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sonar.h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Day 3 → 모듈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pcf8591.h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Day 4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dht.h · lcd.h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Day 5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code-bg"/>
          <p:cNvSpPr/>
          <p:nvPr/>
        </p:nvSpPr>
        <p:spPr>
          <a:xfrm>
            <a:off x="548640" y="4206240"/>
            <a:ext cx="11064240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731520" y="4315968"/>
            <a:ext cx="10698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핀  2·3 I2C | 4 DHT11(커널) | 5 버튼 | 12·16·20·21·26·22 LCD | 13 부저 | 17·27 LED | 23·24 HC-SR04 | 25 릴레이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^dtoverlay /boot/firmware/config.txt      # dht11 있음 · eio 없음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구현 (1) — 센서 하나씩, 그다음 통합</a:t>
            </a:r>
            <a:endParaRPr lang="en-US" sz="3000" dirty="0"/>
          </a:p>
        </p:txBody>
      </p:sp>
      <p:sp>
        <p:nvSpPr>
          <p:cNvPr id="3" name="period-pill"/>
          <p:cNvSpPr/>
          <p:nvPr/>
        </p:nvSpPr>
        <p:spPr>
          <a:xfrm>
            <a:off x="10561320" y="457200"/>
            <a:ext cx="105156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61320" y="4572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5교시</a:t>
            </a:r>
            <a:endParaRPr lang="en-US" sz="1400" dirty="0"/>
          </a:p>
        </p:txBody>
      </p:sp>
      <p:sp>
        <p:nvSpPr>
          <p:cNvPr id="5" name="anim-link"/>
          <p:cNvSpPr txBox="1"/>
          <p:nvPr/>
        </p:nvSpPr>
        <p:spPr>
          <a:xfrm>
            <a:off x="6583680" y="5989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chemeClr val="accent1"/>
                </a:solidFill>
                <a:hlinkClick r:id="rId1" invalidUrl="" action="" tgtFrame="" tooltip="animation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애니메이션 D5-5 · 센서가 빠지면  ▶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1206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순서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명령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./02_dht_iio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~/eio/day4/src/01_pcf_read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~/eio/day3/src/09_sonar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./04_lcd_demo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make envmon &amp;&amp; ./envmon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code-bg"/>
          <p:cNvSpPr/>
          <p:nvPr/>
        </p:nvSpPr>
        <p:spPr>
          <a:xfrm>
            <a:off x="5897880" y="1371600"/>
            <a:ext cx="5715000" cy="256032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080760" y="1481328"/>
            <a:ext cx="534924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envmon: envmon.o lcd.o dht.o sonar.o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$(CC) $(CFLAGS) -o $@ $^ $(LDLIBS)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%.o: %.c *.h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$(CC) $(CFLAGS) -c -o $@ $&lt;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5897880" y="4114800"/>
            <a:ext cx="5715000" cy="1600200"/>
          </a:xfrm>
          <a:prstGeom prst="roundRect">
            <a:avLst>
              <a:gd name="adj" fmla="val 571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26480" y="4279392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센서가 빠지면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4736592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DHT11 → T --.- · PCF → Light -- · HC-SR04 → Dist ---.-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로그는 상태가 바뀔 때만 한 줄 · 다시 꽂으면 "복구"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구현 (2) — 버튼 · 판단 · 화면 · CSV</a:t>
            </a:r>
            <a:endParaRPr lang="en-US" sz="3000" dirty="0"/>
          </a:p>
        </p:txBody>
      </p:sp>
      <p:sp>
        <p:nvSpPr>
          <p:cNvPr id="3" name="period-pill"/>
          <p:cNvSpPr/>
          <p:nvPr/>
        </p:nvSpPr>
        <p:spPr>
          <a:xfrm>
            <a:off x="10561320" y="457200"/>
            <a:ext cx="105156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61320" y="4572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6교시</a:t>
            </a:r>
            <a:endParaRPr lang="en-US" sz="1400" dirty="0"/>
          </a:p>
        </p:txBody>
      </p:sp>
      <p:sp>
        <p:nvSpPr>
          <p:cNvPr id="5" name="anim-link"/>
          <p:cNvSpPr txBox="1"/>
          <p:nvPr/>
        </p:nvSpPr>
        <p:spPr>
          <a:xfrm>
            <a:off x="6583680" y="5989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chemeClr val="accent1"/>
                </a:solidFill>
                <a:hlinkClick r:id="rId1" invalidUrl="" action="" tgtFrame="" tooltip="animation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애니메이션 D5-6 · 버튼 · 판단 · 화면  ▶</a:t>
            </a:r>
            <a:endParaRPr lang="en-US" sz="1300" dirty="0"/>
          </a:p>
        </p:txBody>
      </p:sp>
      <p:sp>
        <p:nvSpPr>
          <p:cNvPr id="6" name="code-bg"/>
          <p:cNvSpPr/>
          <p:nvPr/>
        </p:nvSpPr>
        <p:spPr>
          <a:xfrm>
            <a:off x="548640" y="1371600"/>
            <a:ext cx="5852160" cy="2377440"/>
          </a:xfrm>
          <a:prstGeom prst="roundRect">
            <a:avLst>
              <a:gd name="adj" fmla="val 307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731520" y="1481328"/>
            <a:ext cx="548640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(FALLING) down_at = ts;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ms = (ts - down_at) / 1000000;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(ms &gt;= 1000) mute = !mute;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screen = (screen + 1) % 4;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pthread_cond_signal(&amp;S.cv);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371600"/>
          <a:ext cx="4983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429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출력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식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릴레이 25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 ≥ 28 → 1 · t ≤ 27 → 0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경보 LED 27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near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부저 13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near &amp;&amp; !mute &amp;&amp; ms%500 &lt; 100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상태 LED 17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정상 1초 · 오류 빠르게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9" name="card"/>
          <p:cNvSpPr/>
          <p:nvPr/>
        </p:nvSpPr>
        <p:spPr>
          <a:xfrm>
            <a:off x="548640" y="4023360"/>
            <a:ext cx="54406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418795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LCD 화면 네 장 + 경고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64515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 24.0°C H 41% / Fan OFF Mute 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Light · Dist · up / 오류 수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접근 시 !! APPROACH !! 우선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172200" y="4023360"/>
            <a:ext cx="54406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0" y="418795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CSV — 1분마다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464515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시각, 온도, 습도, 조도, 거리, 팬, 접근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fopen("a") → 한 줄 → fclose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systemd 서비스 — 부팅하면 저절로</a:t>
            </a:r>
            <a:endParaRPr lang="en-US" sz="3000" dirty="0"/>
          </a:p>
        </p:txBody>
      </p:sp>
      <p:sp>
        <p:nvSpPr>
          <p:cNvPr id="3" name="period-pill"/>
          <p:cNvSpPr/>
          <p:nvPr/>
        </p:nvSpPr>
        <p:spPr>
          <a:xfrm>
            <a:off x="10561320" y="457200"/>
            <a:ext cx="105156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61320" y="4572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7교시</a:t>
            </a:r>
            <a:endParaRPr lang="en-US" sz="1400" dirty="0"/>
          </a:p>
        </p:txBody>
      </p:sp>
      <p:sp>
        <p:nvSpPr>
          <p:cNvPr id="5" name="anim-link"/>
          <p:cNvSpPr txBox="1"/>
          <p:nvPr/>
        </p:nvSpPr>
        <p:spPr>
          <a:xfrm>
            <a:off x="6583680" y="5989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chemeClr val="accent1"/>
                </a:solidFill>
                <a:hlinkClick r:id="rId1" invalidUrl="" action="" tgtFrame="" tooltip="animation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애니메이션 D5-7 · systemd 생명 주기  ▶</a:t>
            </a:r>
            <a:endParaRPr lang="en-US" sz="1300" dirty="0"/>
          </a:p>
        </p:txBody>
      </p:sp>
      <p:sp>
        <p:nvSpPr>
          <p:cNvPr id="6" name="code-bg"/>
          <p:cNvSpPr/>
          <p:nvPr/>
        </p:nvSpPr>
        <p:spPr>
          <a:xfrm>
            <a:off x="548640" y="1371600"/>
            <a:ext cx="5486400" cy="3291840"/>
          </a:xfrm>
          <a:prstGeom prst="roundRect">
            <a:avLst>
              <a:gd name="adj" fmla="val 222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731520" y="1481328"/>
            <a:ext cx="512064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[Service]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User=pi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WorkingDirectory=/home/pi/eio/day5/src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ExecStart=…/envmon -c …/envmon.csv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KillSignal=SIGTERM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Restart=on-failure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RestartSec=3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[Install]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WantedBy=multi-user.target</a:t>
            </a:r>
            <a:endParaRPr lang="en-US" sz="1200" dirty="0"/>
          </a:p>
        </p:txBody>
      </p:sp>
      <p:sp>
        <p:nvSpPr>
          <p:cNvPr id="8" name="code-bg"/>
          <p:cNvSpPr/>
          <p:nvPr/>
        </p:nvSpPr>
        <p:spPr>
          <a:xfrm>
            <a:off x="6263640" y="1371600"/>
            <a:ext cx="5349240" cy="219456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code"/>
          <p:cNvSpPr txBox="1"/>
          <p:nvPr/>
        </p:nvSpPr>
        <p:spPr>
          <a:xfrm>
            <a:off x="6446520" y="1481328"/>
            <a:ext cx="498348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cp envmon.service /etc/systemd/system/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daemon-reload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enable --now envmon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journalctl -u envmon -f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6263640" y="3749040"/>
            <a:ext cx="5349240" cy="1965960"/>
          </a:xfrm>
          <a:prstGeom prst="roundRect">
            <a:avLst>
              <a:gd name="adj" fmla="val 465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39136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정리는 SIGTERM 핸들러가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4370832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stop → SIGTERM → 출력 끄고 반납 → exit 0 (재시작 안 함)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kill -9 → 정리 없이 죽음 → 3초 뒤 재시작이 정리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stdout 은 setvbuf 로 줄 단위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장애 대응 시험</a:t>
            </a:r>
            <a:endParaRPr lang="en-US" sz="3000" dirty="0"/>
          </a:p>
        </p:txBody>
      </p:sp>
      <p:sp>
        <p:nvSpPr>
          <p:cNvPr id="3" name="period-pill"/>
          <p:cNvSpPr/>
          <p:nvPr/>
        </p:nvSpPr>
        <p:spPr>
          <a:xfrm>
            <a:off x="10561320" y="457200"/>
            <a:ext cx="105156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61320" y="4572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7교시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589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장애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기대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DHT11 선 뽑기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 --.- · 상태 LED 빠르게 · 로그 1줄 · 복구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PCF8591 Sda 뽑기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Light -- · 복구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HC-SR04 Echo 뽑기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Dist ---.- · 경고 없음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systemctl stop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릴레이 · 부저 꺼짐 · LCD "envmon stopped"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kill -9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3초 뒤 재시작 (restart counter)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04_lcd_demo 실행 중 시작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exit 1 → 재시작 반복 (journal 에 이유)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sudo reboot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로그인 전에 LCD 가 켜짐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코드를 고친 뒤: make envmon &amp;&amp; sudo systemctl restart envmon — 자동으로 다시 시작하지 않는다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시연 · 코드 리뷰</a:t>
            </a:r>
            <a:endParaRPr lang="en-US" sz="3000" dirty="0"/>
          </a:p>
        </p:txBody>
      </p:sp>
      <p:sp>
        <p:nvSpPr>
          <p:cNvPr id="3" name="period-pill"/>
          <p:cNvSpPr/>
          <p:nvPr/>
        </p:nvSpPr>
        <p:spPr>
          <a:xfrm>
            <a:off x="10561320" y="457200"/>
            <a:ext cx="105156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61320" y="4572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8교시</a:t>
            </a:r>
            <a:endParaRPr lang="en-US" sz="1400" dirty="0"/>
          </a:p>
        </p:txBody>
      </p:sp>
      <p:sp>
        <p:nvSpPr>
          <p:cNvPr id="5" name="anim-link"/>
          <p:cNvSpPr txBox="1"/>
          <p:nvPr/>
        </p:nvSpPr>
        <p:spPr>
          <a:xfrm>
            <a:off x="6583680" y="5989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chemeClr val="accent1"/>
                </a:solidFill>
                <a:hlinkClick r:id="rId1" invalidUrl="" action="" tgtFrame="" tooltip="animation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애니메이션 D5-8 · 5일 지도  ▶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3035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시연 (3분)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reboot → 아무것도 안 했는데 LCD 켜짐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화면 전환 · 음소거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접근 경고 · 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센서 하나 뽑기 → --, 복구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journalctl · tail envmon.csv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1371600"/>
          <a:ext cx="5532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069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리뷰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질문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쓰레드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공유 변수를 mutex 안에서? 잠근 채 느린 일?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오류 처리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모든 반환값 검사? 화면 · 로그로 보이나?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자원 해제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stop 뒤 출력이 꺼지나? gpioinfo 깨끗?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타이밍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µs 는 커널 · 하드웨어에 두었나?</a:t>
                      </a:r>
                      <a:endParaRPr lang="en-US" sz="12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5일 정리 — 같은 GPIO, 다른 길</a:t>
            </a:r>
            <a:endParaRPr lang="en-US" sz="3000" dirty="0"/>
          </a:p>
        </p:txBody>
      </p:sp>
      <p:sp>
        <p:nvSpPr>
          <p:cNvPr id="3" name="period-pill"/>
          <p:cNvSpPr/>
          <p:nvPr/>
        </p:nvSpPr>
        <p:spPr>
          <a:xfrm>
            <a:off x="10561320" y="457200"/>
            <a:ext cx="105156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61320" y="4572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8교시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02336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Day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경로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장치 파일 · 도구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명령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gpioset · config.txt · /dev · /sys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libgpiod (사용자 공간)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/dev/gpiochip0 · 엣지 이벤트 · epoll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사용자 타이밍 vs 하드웨어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SW PWM · SCHED_FIFO · /sys/class/pwm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버스 드라이버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/dev/i2c-1 · spidev0.0 · serial0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커널 드라이버 · DT · 서비스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IIO · leds · input · overlay · systemd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548640" y="4343400"/>
            <a:ext cx="11064240" cy="137160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450799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세 가지 질문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96519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누가 소유하나 (gpioinfo) · 누가 타이밍을 책임지나 (µs → 하드웨어 · 커널) · 죽으면 어떻게 되나 (반납 · 정리 · 재시작)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과정 마무리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µs 프로토콜은 커널 드라이버(IIO) · 핀을 커널 장치로 만드는 overlay · 최소 시간만 있는 장치는 사용자 공간 드라이버 · 쓰레드는 짧게 잠그고 복사 · 실패는 값으로 · systemd 로 자동 시작과 재시작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다음 과목  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Neural Network · Vision — 같은 Pi 4 에 카메라 모듈. envmon 구조에 "카메라 + 모델" 센서를 붙인다.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워크시트 풀기 ▶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IO Day5">
  <a:themeElements>
    <a:clrScheme name="EIO Day5">
      <a:dk1>
        <a:srgbClr val="1B2A41"/>
      </a:dk1>
      <a:lt1>
        <a:srgbClr val="FFFFFF"/>
      </a:lt1>
      <a:dk2>
        <a:srgbClr val="5B6B80"/>
      </a:dk2>
      <a:lt2>
        <a:srgbClr val="EEF1F5"/>
      </a:lt2>
      <a:accent1>
        <a:srgbClr val="2457C5"/>
      </a:accent1>
      <a:accent2>
        <a:srgbClr val="178A67"/>
      </a:accent2>
      <a:accent3>
        <a:srgbClr val="D6452E"/>
      </a:accent3>
      <a:accent4>
        <a:srgbClr val="C98A12"/>
      </a:accent4>
      <a:accent5>
        <a:srgbClr val="DCE6FA"/>
      </a:accent5>
      <a:accent6>
        <a:srgbClr val="DDF2EA"/>
      </a:accent6>
      <a:hlink>
        <a:srgbClr val="2457C5"/>
      </a:hlink>
      <a:folHlink>
        <a:srgbClr val="5B6B80"/>
      </a:folHlink>
    </a:clrScheme>
    <a:fontScheme name="EIO Day5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I/O 제어 Day 5 — 커널 드라이버와 종합 프로젝트</dc:title>
  <dc:subject>PptxGenJS Presentation</dc:subject>
  <dc:creator>아이구루</dc:creator>
  <cp:lastModifiedBy>아이구루</cp:lastModifiedBy>
  <cp:revision>1</cp:revision>
  <dcterms:created xsi:type="dcterms:W3CDTF">2026-10-11T14:22:58Z</dcterms:created>
  <dcterms:modified xsi:type="dcterms:W3CDTF">2026-10-11T14:22:58Z</dcterms:modified>
</cp:coreProperties>
</file>