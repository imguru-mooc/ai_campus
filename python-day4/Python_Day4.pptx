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6" d="100"/>
          <a:sy n="156" d="100"/>
        </p:scale>
        <p:origin x="44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4493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[도입 3분]
"마지막 날입니다. 오늘은 새 문법 반, 조립 반 — 오전에 NumPy·pandas 라는 큰 도구를 손에 쥐고, 오후에 3일간 만든 부품과 합쳐 팀 프로젝트를 완성하고 시연합니다."
하단 알약: "NumPy 부터 팀 시연까지 — 퇴근 전에 여러분 팀의 그래프가 화면에 올라갑니다."
동기 한 방: "금요일 stats_by_node 를 몇 줄로 짰죠? 오늘 오후엔 그게 한 줄이 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[3분]
여섯 카드 중 1번과 6번에 무게.
1번: "NumPy 의 핵심은 문법이 아니라 '반복문을 버리는 사고방식'입니다. 오늘 오전 내내 for 없이 배열을 다룹니다."
5번: "5교시는 하드웨어 대신 파이썬 문법 마무리 — 제너레이터가 프로젝트 수신부가 됩니다. pyserial 은 장비 주간 첫 시간에 실물과 함께."
6번: "프로젝트 필수 5항목 중 4개는 자동 채점 — 기준이 명확하니 정면 돌파하면 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[2분]
"오전 1~3교시 NumPy·그래프, 4교시 pandas, 5교시 제너레이터 — 여기까지가 부품. 6·7교시 팀 조립, 8교시 시연."
애니메이션 열: "오늘 신규는 2개뿐입니다. 재사용 5개 — 3일간 본 그림이 오늘 코드가 되는 걸 보여드리는 게 목표입니다."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[4분]
① 애니메이션: "D4-1 을 열면 스칼라 2 가 유령 칸으로 복제되어 퍼지는 걸 봅니다. 브로드캐스팅을 말로 설명 안 해도 됩니다."
② Colab 워크시트: "오늘 설정 셀은 특별합니다 — 스트림 300줄을 seed 고정으로 자동 생성합니다. 전원이 같은 데이터, 같은 정답. 6교시 필수 채점이 그 정답과 비교합니다."
③ 개념 워크시트: "7번 탭이 Day 1~4 총복습입니다 — 퀴즈 준비로도 좋습니다."
하단 흐름: "나흘째 같은 리듬 — 예측부터."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[3분]
D4-1·D4-2 만 한 문장씩: "D4-1 은 마스크가 원소를 골라내는 순간, D4-2 는 groupby 가 갈라졌다 합쳐지는 3단을 보여줍니다."
재사용 5개: "D3-5 는 오늘 '스트림은 본질적으로 제너레이터' 의 증거로 다시 틉니다. 01 비트마스크는 확장 E6 을 고르는 팀만."
"제목 클릭으로 열립니다."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[3분]
설정 셀 강조: "이름 입력 → 실행 하나로 data/ 폴더에 스트림 2개, parse_frame, 배열, 이미지까지 준비됩니다. 이거 안 돌리면 오늘 하루가 NameError 입니다."
제출 예시: "제출 요약이 out/ 4종을 하나씩 확인해 줍니다 — '없음 ❌' 가 하나라도 있으면 필수 미완입니다."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[2분]
"day3 이 day4 로 바뀐 것뿐. 지금 접속해서 D4-1 프리셋 ①을 눌러 보세요 — 리스트와 배열의 * 2 가 다르게 움직입니다." 1분 대기, 채팅 공유.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[강의 25분]
(6분) 속도 대결 라이브 — %timeit 두 줄. 배율을 학생이 소리내어 읽게. "이 차이의 비밀은 8교시에 다시 — C 입니다."
(5분) ndarray: shape/dtype/ndim. "배열을 받으면 첫 줄은 무조건 print(a.shape, a.dtype). 오늘 오류의 90%는 모양 문제입니다."
(7분) 🎬 D4-1 ① 리스트 vs 배열 — 같은 * 2 의 두 얼굴. ② 스칼라가 퍼지는 그림. 라이브로 volts 한 줄 변환 — "Day 2 컴프리헨션이 연산 하나로."
(7분) ③ (2,3)+(3,) 행마다 늘어남 → ④ (3,)+(4,) ValueError. 오류 메시지의 shapes (3,) (4,) 를 소리내어 읽기 — "메시지가 답을 말해줍니다." 비교 연산 temps &gt; 35 로 2교시 예고.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[실습 15분 + 정리 5분]
"TODO 4개 15분. 1-4 심화는 오류 메시지를 텍스트 셀에 옮겨 적는 것까지가 과제입니다."
순회: 리스트에 /1023 을 시도해 TypeError 만난 학생(np.array 로 감싸기), reshape(4,3) 으로 쓴 학생(행×열 순서), round 를 파이썬 내장으로 쓴 학생(np.round — 배열엔 배열 함수).
정리: 자기 점검(shapes ValueError) 확인. 쉬는 시간: worksheet.html 1교시 10문항.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[강의 25분]
(6분) ⚠ 뷰 함정 라이브 — b=a[2:5]; b[0]=999; print(a). "어디서 본 그림이죠?" — 02 참조 모델. "리스트 슬라이스는 복사, NumPy 슬라이스는 뷰. 독립 사본은 .copy()."
(8분) 🎬 D4-1 ⑤ 조건 → 마스크 → ⑥ 골라내기. BT[BN=="ESP32-02"].mean() 조합 라이브 — "노드별 통계가 for 없이 한 줄." "오후 pandas 의 df[조건] 이 정확히 같은 문법" 예고.
(6분) ⑦ 집계: sum=건수, argmax=시점. axis: M2.mean(axis=0/1) 을 그림 그려가며 — "axis 는 사라지는 방향."
(5분) 이미지=배열: IMG.shape → 반전·어둡게 3연속 imshow. "다음 주 카메라 프레임이 (H, W, 3) 이 배열입니다 — 오늘 조작이 그대로 적용됩니다."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[실습 15분]
"2-3 이미지 셀은 imshow 3개가 나란히 나오면 성공입니다."
순회: 마스크 없이 for+if 로 푼 학생(맞지만 한 줄로 다시 — 채점은 통과해도 습관 교정), avgs 를 float() 없이 np.float64 로 저장해 비교 실패한 학생(round(float(...), 2) 패턴), axis 의미를 거꾸로 쓴 학생(그림으로 재설명).
자기 점검(뷰) 확인 후: "뷰 함정, Day 2 의 b=a 와 같은 그림 — 4일이 한 줄로 이어집니다."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[강의 20분]
(5분) 4요소 그래프 라이브 — 제목에 건수 넣기: "그래프는 주장, 제목은 근거."
(6분) 센서 문법: axhline 임계선 + 마스크 scatter. "2교시 마스크가 그래프의 빨간 점이 되는 순간" — 학생들이 가장 좋아하는 연결.
(4분) 히스토그램: bins 를 3→12→50 으로 라이브 변경 — "칸이 너무 적으면 뭉개지고 많으면 갈라집니다."
(5분) 저장 순서 사고 재현: show 후 savefig 로 0바이트 png 를 일부러 만들어 보여주기 → 순서 교정. "오늘 오후 제일 흔한 사고를 미리 겪었습니다."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[실습 20분]
"png 4개가 out/ 에 쌓이면 성공. 채점은 존재·크기만 보고, 라벨은 제가 순회하며 봅니다 — 4요소 빠지면 다시."
순회: 0바이트 png(순서), plt.figure 없이 겹쳐 그린 학생(그림이 누적 — figure 또는 close), 막대 위 값 표시에서 좌표 헤매는 학생(plt.text(i, v, str(v))), 한글 라벨 깨짐(영문 권장, 폰트 참고 셀).
마무리 발문: "그래프만 보고 ESP32-02 에 무슨 일이 있었는지 말해 보세요."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[점심 후 환기 1분 + 강의 25분]
(6분) 🎬 D4-2 ① 레코드→표. "Day 2 의 list of dict — 그게 pandas 입력 형식 그 자체였습니다." 3종 세트 라이브: head/info/describe. info 에서 T 의 dtype 을 반드시 짚기 — "오늘 오후 사고 1위 예방주사입니다."
(7분) ② 열 선택 → ③ 불리언 필터(행이 걸러지는 애니메이션) → ④ alert 새 열. "df[df[\"T\"]&gt;35] — 오전 마스크와 완전히 같은 문법. 새 문법이 아니라 같은 문법의 표 버전입니다."
(8분) 🎬 ⑤ groupby 3단 — 갈라짐·집계·결합을 애니메이션으로 먼저, 그다음 코드 한 줄. "Day 2 for 문 → Day 3 메서드 → 오늘 한 줄. 3일의 진화 완성." 결과를 Day 3 stats_by_node 출력과 나란히 비교.
(4분) ⑥ CSV 왕복 — index=False 유령 열 경고 + NaN 은 isna/dropna 두 줄만.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[실습 20분]
"4-3 채점은 summary.equals(참조) 까지 봅니다 — round(2) 를 잊으면 미묘하게 다릅니다."
순회: loads/read_csv 혼동은 없지만 to_csv 에 index=False 빼먹은 학생(유령 열 직접 관찰시키기), groupby 결과 인덱스를 열로 착각한 학생(reset_index 는 심화로만 언급), NaN 채점에서 dropna 를 df2 에 재대입 안 한 학생.
빨리 끝낸 학생: summary 를 D3-4 JSON 왕복과 비교(어느 형식이 언제 맞는가).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[강의 25분]
(5분) enumerate/zip 라이브 — "range(len()) 인덱스 순회는 오늘로 졸업합니다." dict(zip(...)) 한 줄 변환.
(5분) 한 번 소모: map 을 두 번 list — 두 번째 []. "이 성질이 잠시 뒤 제너레이터의 성질입니다."
(10분) 제너레이터 라이브 코딩 — read_frames 를 처음부터. type() 확인("호출했는데 아직 안 돌았습니다") → next 한 건 → sum 으로 나머지 → 재소모 0. 🎬 D3-5 ⑤ 재생: "금요일의 이 그림 — readline 이 필요할 때 한 줄씩 내놓는 것, 그게 yield 였습니다. 스트림은 본질적으로 제너레이터입니다." 메모리 논점: "100만 줄도 리스트 없이."
(5분) 제너레이터 표현식(대괄호 없는 컴프리헨션) + f-string 정렬 — "report 표가 반듯해집니다. Day 1 의 :08b 와 같은 가족."
마무리 공지: "방금 만든 read_frames 가 그대로 6교시 프로젝트의 수신부입니다."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[실습 15분]
"5-2 채점은 함수가 진짜 제너레이터인지(isgeneratorfunction), 재소모가 0 인지까지 봅니다."
순회: yield 대신 return 을 쓴 학생(한 건만 나오고 끝 — 차이를 실험으로), 리스트를 만들어 반환한 학생(동작은 같지만 메모리 — 제너레이터로 다시), f-string 폭 숫자를 콜론 앞에 쓴 학생.
자기 점검(재소모) 확인. "이제 부품이 전부 준비됐습니다 — 팀을 정하고 6교시로."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[진행 안내 7분 + 팀 실습 43분]
다이어그램을 가리키며: "수신은 5교시 read_frames, 처리는 오전 NumPy·pandas, 그래프는 3교시 + clear_output. 새로 배울 것은 없습니다 — 조립입니다."
필수 5항목 훑기, 강조 두 가지: ① "채점 대상 스트림은 stream_day4.txt 300줄 — boot 로 먼저 단위 테스트하고 갈아끼우세요." ② "준실시간(필수 2)은 채점 셀이 없습니다 — 7교시 말 리허설과 8교시 시연에서 확인합니다."
"목표: 이 교시 안에 1·3·4 자동 채점 통과. 2·5 는 7교시 전반."
순회 원칙: 집계 불일치 → 빈 줄 skip 분기 위치·N 필드 파싱(D3-5 ③④) / groupby 이상 → df.info() 로 dtype / 준실시간 그림 누적 → clear_output 위치와 figure 재생성 / 진도 빠른 팀 → 확장 메뉴 미리 고르게.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[진행 안내 5분 + 팀 실습 45분]
"확장은 팀당 1개 이상 — E2·E3 는 자동 채점이 있으니 확실한 점수, E4~E6 은 시연에서 빛나는 선택입니다. E6 비트 플래그는 Day 1 을 좋아했던 팀에게."
시연 형식 공지: "3분 = 데모 1 + 해석 1 + 배운 것 1. 리허설 1회 필수 — 시연 중 첫 실행 금지. 발표 자료 만들지 마세요, 코드와 그래프가 발표 자료입니다."
마지막 15분: 발표 순서 추첨, 각 팀 리허설. 순회하며 "어느 노드가 언제 문제였나" 를 한 문장으로 말하게 연습.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[50분 배분]
(30분) 팀별 시연 — 타이머 3분 엄수. 각 팀 종료 직후 다른 팀 1곳을 지목해 "훔치고 싶은 한 줄" — 칠판에 팀명과 한 줄 요약을 쌓아간다(리뷰 참여 점수).
(7분) 강사 리뷰: 칠판에 쌓인 것 중 패턴 3개를 화면 공유로(예: 제너레이터 분리, groupby 체이닝, 마스크 재활용). 공통 함정 2개(dtype, clear_output 위치).
(9분) 다음 두 슬라이드로 총정리 + C/C++ 다리.
(4분) 제출 확인 — 팀 out/ 4종 + 개인 노트북 + 워크시트 캡처. 마감 시각 공지.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[4분]
여섯 줄을 함께 읽는다. 4·5번에서: "오늘 오후 여러분이 친 코드의 절반은 이 두 줄이 설명합니다."
6번에서: "제너레이터는 오늘 배웠지만 사실 3일 내내 쓰고 있었습니다 — for line in f 가 그것이었으니까."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[5분]
왼쪽 C/C++: "NumPy 가 빨랐던 이유 — 안쪽이 C 이기 때문. 다음 과목에서 그 안쪽으로 내려갑니다. 포인터는 02 참조 모델의, 구조체는 Day 3 클래스의 C 버전. 여러분은 이미 절반을 압니다."
오른쪽 장비 주간: 코드 카드의 두 줄을 가리키며 — "open 한 줄이 Serial 로 바뀌는 순간, 오늘 팀 프로젝트가 진짜 수신기가 됩니다. 첫 시간에 라이브로 바꿔 보입니다. pyserial·GPIO·OpenCV 카메라(오늘의 H×W×C 배열)가 그 주의 주인공입니다."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[3분]
4일 지도를 아래로 읽으며: "값 하나 → 담기 → 묶고 남기기 → 크게 다루고 보여주기. 나흘 만에 여기까지 왔습니다."
오른쪽 체크리스트 확인 — "제출 세 가지, 퇴근 전에."
마지막 멘트: "수고하셨습니다. 다음 주, 여러분의 코드가 진짜 센서를 만납니다." 남아서 개별 질문.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imguru-mooc.github.io/AI_CAMPUS/python-day4/anim/index.htm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imguru-mooc.github.io/AI_CAMPUS/python-day4/anim/worksheet.html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imguru-mooc.github.io/AI_CAMPUS/python-day1/anim/04_%EB%AC%B8%EC%9E%90%EC%97%B4_%ED%8C%8C%EC%8B%B1_%ED%8C%8C%EC%9D%B4%ED%94%84%EB%9D%BC%EC%9D%B8.html" TargetMode="External"/><Relationship Id="rId3" Type="http://schemas.openxmlformats.org/officeDocument/2006/relationships/hyperlink" Target="https://imguru-mooc.github.io/AI_CAMPUS/python-day4/anim/D4-1_NumPy_%EB%B8%8C%EB%A1%9C%EB%93%9C%EC%BA%90%EC%8A%A4%ED%8C%85_%EB%A7%88%EC%8A%A4%ED%81%AC.html" TargetMode="External"/><Relationship Id="rId7" Type="http://schemas.openxmlformats.org/officeDocument/2006/relationships/hyperlink" Target="https://imguru-mooc.github.io/AI_CAMPUS/python-day2/anim/D2-5_%EC%A4%91%EC%B2%A9%EC%9E%90%EB%A3%8C%EA%B5%AC%EC%A1%B0_%ED%8A%B8%EB%A6%AC%EB%B7%B0%EC%96%B4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imguru-mooc.github.io/AI_CAMPUS/python-day3/anim/D3-4_JSON_%EC%A7%81%EB%A0%AC%ED%99%94_%EC%99%95%EB%B3%B5.html" TargetMode="External"/><Relationship Id="rId5" Type="http://schemas.openxmlformats.org/officeDocument/2006/relationships/hyperlink" Target="https://imguru-mooc.github.io/AI_CAMPUS/python-day3/anim/D3-5_%EC%8B%9C%EB%A6%AC%EC%96%BC_%EC%8A%A4%ED%8A%B8%EB%A6%BC.html" TargetMode="External"/><Relationship Id="rId10" Type="http://schemas.openxmlformats.org/officeDocument/2006/relationships/hyperlink" Target="https://imguru-mooc.github.io/AI_CAMPUS/python-day4/anim/index.html" TargetMode="External"/><Relationship Id="rId4" Type="http://schemas.openxmlformats.org/officeDocument/2006/relationships/hyperlink" Target="https://imguru-mooc.github.io/AI_CAMPUS/python-day4/anim/D4-2_DataFrame_groupby_%ED%9D%90%EB%A6%84.html" TargetMode="External"/><Relationship Id="rId9" Type="http://schemas.openxmlformats.org/officeDocument/2006/relationships/hyperlink" Target="https://imguru-mooc.github.io/AI_CAMPUS/python-day1/anim/01_%EB%B9%84%ED%8A%B8%EB%A7%88%EC%8A%A4%ED%81%AC_%EC%8B%9C%EB%AE%AC%EB%A0%88%EC%9D%B4%ED%84%B0.html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imguru-mooc.github.io/AI_CAMPUS/python-day4/anim/worksheet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imguru-mooc.github.io/AI_CAMPUS/python-day3/anim/D3-4_JSON_%EC%A7%81%EB%A0%AC%ED%99%94_%EC%99%95%EB%B3%B5.html" TargetMode="External"/><Relationship Id="rId3" Type="http://schemas.openxmlformats.org/officeDocument/2006/relationships/hyperlink" Target="https://imguru-mooc.github.io/AI_CAMPUS/python-day4/anim/index.html" TargetMode="External"/><Relationship Id="rId7" Type="http://schemas.openxmlformats.org/officeDocument/2006/relationships/hyperlink" Target="https://imguru-mooc.github.io/AI_CAMPUS/python-day3/anim/D3-5_%EC%8B%9C%EB%A6%AC%EC%96%BC_%EC%8A%A4%ED%8A%B8%EB%A6%BC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imguru-mooc.github.io/AI_CAMPUS/python-day4/anim/D4-2_DataFrame_groupby_%ED%9D%90%EB%A6%84.html" TargetMode="External"/><Relationship Id="rId11" Type="http://schemas.openxmlformats.org/officeDocument/2006/relationships/hyperlink" Target="https://imguru-mooc.github.io/AI_CAMPUS/python-day1/anim/01_%EB%B9%84%ED%8A%B8%EB%A7%88%EC%8A%A4%ED%81%AC_%EC%8B%9C%EB%AE%AC%EB%A0%88%EC%9D%B4%ED%84%B0.html" TargetMode="External"/><Relationship Id="rId5" Type="http://schemas.openxmlformats.org/officeDocument/2006/relationships/hyperlink" Target="https://imguru-mooc.github.io/AI_CAMPUS/python-day4/anim/D4-1_NumPy_%EB%B8%8C%EB%A1%9C%EB%93%9C%EC%BA%90%EC%8A%A4%ED%8C%85_%EB%A7%88%EC%8A%A4%ED%81%AC.html" TargetMode="External"/><Relationship Id="rId10" Type="http://schemas.openxmlformats.org/officeDocument/2006/relationships/hyperlink" Target="https://imguru-mooc.github.io/AI_CAMPUS/python-day1/anim/04_%EB%AC%B8%EC%9E%90%EC%97%B4_%ED%8C%8C%EC%8B%B1_%ED%8C%8C%EC%9D%B4%ED%94%84%EB%9D%BC%EC%9D%B8.html" TargetMode="External"/><Relationship Id="rId4" Type="http://schemas.openxmlformats.org/officeDocument/2006/relationships/hyperlink" Target="https://imguru-mooc.github.io/AI_CAMPUS/python-day4/anim/worksheet.html" TargetMode="External"/><Relationship Id="rId9" Type="http://schemas.openxmlformats.org/officeDocument/2006/relationships/hyperlink" Target="https://imguru-mooc.github.io/AI_CAMPUS/python-day2/anim/D2-5_%EC%A4%91%EC%B2%A9%EC%9E%90%EB%A3%8C%EA%B5%AC%EC%A1%B0_%ED%8A%B8%EB%A6%AC%EB%B7%B0%EC%96%B4.html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imguru-mooc.github.io/AI_CAMPUS/python-day4/anim/D4-1_NumPy_%EB%B8%8C%EB%A1%9C%EB%93%9C%EC%BA%90%EC%8A%A4%ED%8C%85_%EB%A7%88%EC%8A%A4%ED%81%AC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imguru-mooc.github.io/AI_CAMPUS/python-day4/anim/D4-1_NumPy_%EB%B8%8C%EB%A1%9C%EB%93%9C%EC%BA%90%EC%8A%A4%ED%8C%85_%EB%A7%88%EC%8A%A4%ED%81%AC.html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imguru-mooc.github.io/AI_CAMPUS/python-day4/anim/index.htm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imguru-mooc.github.io/AI_CAMPUS/python-day4/anim/D4-2_DataFrame_groupby_%ED%9D%90%EB%A6%84.html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imguru-mooc.github.io/AI_CAMPUS/python-day4/anim/index.html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imguru-mooc.github.io/AI_CAMPUS/python-day4/anim/worksheet.html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22960" y="1280160"/>
            <a:ext cx="146304" cy="2926080"/>
          </a:xfrm>
          <a:prstGeom prst="roundRect">
            <a:avLst>
              <a:gd name="adj" fmla="val 50000"/>
            </a:avLst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1280160" y="12801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4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22402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NumPy · pandas 입문 및 미니 프로젝트</a:t>
            </a:r>
            <a:endParaRPr lang="en-US" sz="31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3108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HYUNDAI AI Insight Campus · 온디바이스 AI · 프로그래밍 언어(Python) 4/4 (마지막 날)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36118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2026. 9. 7 (월)  09:00–18:00  ·  8교시  ·  Google Colab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280160" y="475488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1280160" y="47548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NumPy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331720" y="475488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2331720" y="47548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Matplotlib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886200" y="4754880"/>
            <a:ext cx="1014984" cy="292608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3886200" y="4754880"/>
            <a:ext cx="1014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pandas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038344" y="475488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5038344" y="47548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제너레이터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089904" y="4754880"/>
            <a:ext cx="1115568" cy="292608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6089904" y="4754880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미니 프로젝트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342632" y="4754880"/>
            <a:ext cx="813816" cy="292608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7342632" y="4754880"/>
            <a:ext cx="813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팀 시연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강사: 박웅근 · 김정인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학습 목표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수업이 끝나면 여러분은 다음을 할 수 있습니다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5440680" cy="1325880"/>
          </a:xfrm>
          <a:prstGeom prst="roundRect">
            <a:avLst>
              <a:gd name="adj" fmla="val 827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777240" y="1965960"/>
            <a:ext cx="457200" cy="45720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7772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17373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NumPy 기초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21031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반복문 없는 벡터 연산·브로드캐스팅으로 센서 데이터를 변환한다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72200" y="1554480"/>
            <a:ext cx="5440680" cy="1325880"/>
          </a:xfrm>
          <a:prstGeom prst="roundRect">
            <a:avLst>
              <a:gd name="adj" fmla="val 827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400800" y="1965960"/>
            <a:ext cx="457200" cy="45720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6400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040880" y="17373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NumPy 활용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7040880" y="21031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불리언 마스크·axis 통계, 이미지=H×W×C 배열을 확인한다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3108960"/>
            <a:ext cx="5440680" cy="1325880"/>
          </a:xfrm>
          <a:prstGeom prst="roundRect">
            <a:avLst>
              <a:gd name="adj" fmla="val 827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777240" y="3520440"/>
            <a:ext cx="457200" cy="45720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77724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32918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Matplotlib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1417320" y="36576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시계열·히스토그램을 그리고 png 로 저장한다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172200" y="3108960"/>
            <a:ext cx="5440680" cy="1325880"/>
          </a:xfrm>
          <a:prstGeom prst="roundRect">
            <a:avLst>
              <a:gd name="adj" fmla="val 827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6400800" y="3520440"/>
            <a:ext cx="457200" cy="457200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 txBox="1"/>
          <p:nvPr/>
        </p:nvSpPr>
        <p:spPr>
          <a:xfrm>
            <a:off x="640080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7040880" y="32918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pandas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7040880" y="36576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DataFrame 필터·groupby 집계·CSV 왕복·결측 처리를 한다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48640" y="4663440"/>
            <a:ext cx="5440680" cy="1325880"/>
          </a:xfrm>
          <a:prstGeom prst="roundRect">
            <a:avLst>
              <a:gd name="adj" fmla="val 827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777240" y="5074920"/>
            <a:ext cx="457200" cy="45720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 txBox="1"/>
          <p:nvPr/>
        </p:nvSpPr>
        <p:spPr>
          <a:xfrm>
            <a:off x="77724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1417320" y="48463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문법 마무리</a:t>
            </a:r>
            <a:endParaRPr lang="en-US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1417320" y="52120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제너레이터(yield)로 수신부를 만들고 f-string 으로 표를 정렬한다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6172200" y="4663440"/>
            <a:ext cx="5440680" cy="1325880"/>
          </a:xfrm>
          <a:prstGeom prst="roundRect">
            <a:avLst>
              <a:gd name="adj" fmla="val 827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8"/>
          <p:cNvSpPr/>
          <p:nvPr/>
        </p:nvSpPr>
        <p:spPr>
          <a:xfrm>
            <a:off x="6400800" y="507492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 txBox="1"/>
          <p:nvPr/>
        </p:nvSpPr>
        <p:spPr>
          <a:xfrm>
            <a:off x="640080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7040880" y="48463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미니 프로젝트</a:t>
            </a:r>
            <a:endParaRPr lang="en-US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7040880" y="52120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수집→처리→준실시간 그래프→CSV 를 팀으로 완성·시연한다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4 · HYUNDAI AI Insight Campus 온디바이스 AI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시간표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8교시 × 50분 · 점심 12:00–13:00 · 오전 도구 3종, 오후 문법 마무리 + 팀 프로젝트</a:t>
            </a:r>
            <a:endParaRPr lang="en-US" sz="1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411480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8A9BB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8A9B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시간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8A9BB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8A9BB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8A9BB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애니메이션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5B9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09:00–09:50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NumPy 기초 — 벡터 연산·브로드캐스팅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강의 + 실습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D4-1 ①~④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5B9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10:00–10:50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NumPy 활용 — 마스크·통계·이미지=배열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강의 + 실습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D4-1 ⑤~⑦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5B9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11:00–11:50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Matplotlib — 시계열·히스토그램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강의 + 실습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(실습 중심)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5B9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13:00–13:50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pandas 맛보기 — DataFrame·groupby·CSV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강의 + 실습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D4-2 ①~⑥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5B9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14:00–14:50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파이썬 문법 마무리 — 제너레이터·이터레이터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강의 + 실습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D3-5 재사용 (스트림=제너레이터)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5B9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15:00–15:50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미니 프로젝트 ① — 필수 기능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팀 실습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5B9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16:00–16:50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미니 프로젝트 ② — 확장·시연 준비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팀 실습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5B9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17:00–17:50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팀별 시연·코드 리뷰·정리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4 · HYUNDAI AI Insight Campus 온디바이스 AI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사용하는 학습 도구 3종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→ 애니메이션에서 확인 → Colab에서 코드로 검증 → 자동 채점 — 나흘째 같은 리듬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822960" y="1737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애니메이션 7개</a:t>
            </a:r>
            <a:endParaRPr lang="en-US" sz="1900" dirty="0"/>
          </a:p>
        </p:txBody>
      </p:sp>
      <p:sp>
        <p:nvSpPr>
          <p:cNvPr id="7" name="Text 4">
            <a:hlinkClick r:id="rId3" tooltip="https://imguru-mooc.github.io/AI_CAMPUS/python-day4/anim/index.html"/>
          </p:cNvPr>
          <p:cNvSpPr txBox="1"/>
          <p:nvPr/>
        </p:nvSpPr>
        <p:spPr>
          <a:xfrm>
            <a:off x="822960" y="2148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 tooltip="https://imguru-mooc.github.io/AI_CAMPUS/python-day4/anim/index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…/anim/index.html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06040"/>
            <a:ext cx="3063240" cy="274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2개(D4-1·D4-2) + 재사용 5개(day1~3)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D4-1: 스칼라가 퍼지는 그림·마스크 골라내기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D4-2: groupby 가 갈라졌다 합쳐지는 3단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D3-5 재생 — "스트림은 본질적으로 제너레이터"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97680" y="155448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4572000" y="1737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워크시트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4572000" y="2148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Day4_worksheet.ipynb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572000" y="2606040"/>
            <a:ext cx="3063240" cy="274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셀이 스트림 300줄을 자동 생성 (seed 고정)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1~5교시 TODO 20개 + 프로젝트 필수 자동 채점 4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 E2·E3 도 자동 채점 — 나머지는 시연으로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요약이 out/ 산출물 4종을 확인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046720" y="155448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8321040" y="1737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워크시트</a:t>
            </a:r>
            <a:endParaRPr lang="en-US" sz="1900" dirty="0"/>
          </a:p>
        </p:txBody>
      </p:sp>
      <p:sp>
        <p:nvSpPr>
          <p:cNvPr id="15" name="Text 12">
            <a:hlinkClick r:id="rId4" tooltip="https://imguru-mooc.github.io/AI_CAMPUS/python-day4/anim/worksheet.html"/>
          </p:cNvPr>
          <p:cNvSpPr txBox="1"/>
          <p:nvPr/>
        </p:nvSpPr>
        <p:spPr>
          <a:xfrm>
            <a:off x="8321040" y="2148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 tooltip="https://imguru-mooc.github.io/AI_CAMPUS/python-day4/anim/worksheet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…/anim/worksheet.html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321040" y="2606040"/>
            <a:ext cx="3063240" cy="274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교시별 10문항 × 7 = 70문항 (Day 4 전용)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7번 탭은 Day 1~4 총복습 — 4일의 연결 확인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채점 → 오답 정리 → 캡처로 노션에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코드를 제출 요약 셀에 입력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5760720"/>
            <a:ext cx="2468880" cy="457200"/>
          </a:xfrm>
          <a:prstGeom prst="roundRect">
            <a:avLst>
              <a:gd name="adj" fmla="val 20000"/>
            </a:avLst>
          </a:prstGeom>
          <a:solidFill>
            <a:srgbClr val="0E1628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548640" y="5760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3035808" y="5760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9BB8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429000" y="5760720"/>
            <a:ext cx="2468880" cy="457200"/>
          </a:xfrm>
          <a:prstGeom prst="roundRect">
            <a:avLst>
              <a:gd name="adj" fmla="val 20000"/>
            </a:avLst>
          </a:prstGeom>
          <a:solidFill>
            <a:srgbClr val="0E1628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3429000" y="5760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애니메이션 확인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916168" y="5760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9BB8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309360" y="5760720"/>
            <a:ext cx="2468880" cy="457200"/>
          </a:xfrm>
          <a:prstGeom prst="roundRect">
            <a:avLst>
              <a:gd name="adj" fmla="val 20000"/>
            </a:avLst>
          </a:prstGeom>
          <a:solidFill>
            <a:srgbClr val="0E1628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 txBox="1"/>
          <p:nvPr/>
        </p:nvSpPr>
        <p:spPr>
          <a:xfrm>
            <a:off x="6309360" y="5760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코드로 검증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8796528" y="5760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9BB8"/>
                </a:solidFill>
              </a:rPr>
              <a:t>→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9189720" y="5760720"/>
            <a:ext cx="2468880" cy="457200"/>
          </a:xfrm>
          <a:prstGeom prst="roundRect">
            <a:avLst>
              <a:gd name="adj" fmla="val 20000"/>
            </a:avLst>
          </a:prstGeom>
          <a:solidFill>
            <a:srgbClr val="0E1628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 txBox="1"/>
          <p:nvPr/>
        </p:nvSpPr>
        <p:spPr>
          <a:xfrm>
            <a:off x="9189720" y="5760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채점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4 · HYUNDAI AI Insight Campus 온디바이스 AI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애니메이션 — 신규 2개 + 재사용 5개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4는 재사용의 날 — 3일간 본 그림이 오늘 실제 코드가 됩니다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440680" cy="960120"/>
          </a:xfrm>
          <a:prstGeom prst="roundRect">
            <a:avLst>
              <a:gd name="adj" fmla="val 11429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731520" y="1645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D4-1</a:t>
            </a:r>
            <a:endParaRPr lang="en-US" sz="1500" dirty="0"/>
          </a:p>
        </p:txBody>
      </p:sp>
      <p:sp>
        <p:nvSpPr>
          <p:cNvPr id="7" name="Text 4">
            <a:hlinkClick r:id="rId3" tooltip="https://imguru-mooc.github.io/AI_CAMPUS/python-day4/anim/D4-1_NumPy_%EB%B8%8C%EB%A1%9C%EB%93%9C%EC%BA%90%EC%8A%A4%ED%8C%85_%EB%A7%88%EC%8A%A4%ED%81%AC.html"/>
          </p:cNvPr>
          <p:cNvSpPr txBox="1"/>
          <p:nvPr/>
        </p:nvSpPr>
        <p:spPr>
          <a:xfrm>
            <a:off x="1691640" y="15727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u="sng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 tooltip="https://imguru-mooc.github.io/AI_CAMPUS/python-day4/anim/D4-1_NumPy_%EB%B8%8C%EB%A1%9C%EB%93%9C%EC%BA%90%EC%8A%A4%ED%8C%85_%EB%A7%88%EC%8A%A4%ED%81%AC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NumPy 브로드캐스팅·마스크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4846320" y="157276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1·2교시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691640" y="1938528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스칼라가 퍼지는 그림 · (2,3)+(3,) · ValueError · 마스크 골라내기·집계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172200" y="1463040"/>
            <a:ext cx="5440680" cy="960120"/>
          </a:xfrm>
          <a:prstGeom prst="roundRect">
            <a:avLst>
              <a:gd name="adj" fmla="val 11429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6355080" y="1645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D4-2</a:t>
            </a:r>
            <a:endParaRPr lang="en-US" sz="1500" dirty="0"/>
          </a:p>
        </p:txBody>
      </p:sp>
      <p:sp>
        <p:nvSpPr>
          <p:cNvPr id="12" name="Text 9">
            <a:hlinkClick r:id="rId4" tooltip="https://imguru-mooc.github.io/AI_CAMPUS/python-day4/anim/D4-2_DataFrame_groupby_%ED%9D%90%EB%A6%84.html"/>
          </p:cNvPr>
          <p:cNvSpPr txBox="1"/>
          <p:nvPr/>
        </p:nvSpPr>
        <p:spPr>
          <a:xfrm>
            <a:off x="7315200" y="15727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u="sng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 tooltip="https://imguru-mooc.github.io/AI_CAMPUS/python-day4/anim/D4-2_DataFrame_groupby_%ED%9D%90%EB%A6%84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DataFrame·groupby 흐름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10469880" y="157276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4교시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0" y="1938528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레코드→표 · 불리언 필터 · alert 열 · 분할→집계→결합 · CSV 왕복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8640" y="2542032"/>
            <a:ext cx="5440680" cy="960120"/>
          </a:xfrm>
          <a:prstGeom prst="roundRect">
            <a:avLst>
              <a:gd name="adj" fmla="val 11429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731520" y="272491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D3-5</a:t>
            </a:r>
            <a:endParaRPr lang="en-US" sz="1500" dirty="0"/>
          </a:p>
        </p:txBody>
      </p:sp>
      <p:sp>
        <p:nvSpPr>
          <p:cNvPr id="17" name="Text 14">
            <a:hlinkClick r:id="rId5" tooltip="https://imguru-mooc.github.io/AI_CAMPUS/python-day3/anim/D3-5_%EC%8B%9C%EB%A6%AC%EC%96%BC_%EC%8A%A4%ED%8A%B8%EB%A6%BC.html"/>
          </p:cNvPr>
          <p:cNvSpPr txBox="1"/>
          <p:nvPr/>
        </p:nvSpPr>
        <p:spPr>
          <a:xfrm>
            <a:off x="1691640" y="2651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u="sng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 tooltip="https://imguru-mooc.github.io/AI_CAMPUS/python-day3/anim/D3-5_%EC%8B%9C%EB%A6%AC%EC%96%BC_%EC%8A%A4%ED%8A%B8%EB%A6%BC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시리얼 스트림 (day3)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4846320" y="26517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5·6교시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691640" y="3017520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"스트림은 본질적으로 제너레이터" — read_frames 의 명세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172200" y="2542032"/>
            <a:ext cx="5440680" cy="960120"/>
          </a:xfrm>
          <a:prstGeom prst="roundRect">
            <a:avLst>
              <a:gd name="adj" fmla="val 11429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6355080" y="272491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D3-4</a:t>
            </a:r>
            <a:endParaRPr lang="en-US" sz="1500" dirty="0"/>
          </a:p>
        </p:txBody>
      </p:sp>
      <p:sp>
        <p:nvSpPr>
          <p:cNvPr id="22" name="Text 19">
            <a:hlinkClick r:id="rId6" tooltip="https://imguru-mooc.github.io/AI_CAMPUS/python-day3/anim/D3-4_JSON_%EC%A7%81%EB%A0%AC%ED%99%94_%EC%99%95%EB%B3%B5.html"/>
          </p:cNvPr>
          <p:cNvSpPr txBox="1"/>
          <p:nvPr/>
        </p:nvSpPr>
        <p:spPr>
          <a:xfrm>
            <a:off x="7315200" y="2651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u="sng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6" tooltip="https://imguru-mooc.github.io/AI_CAMPUS/python-day3/anim/D3-4_JSON_%EC%A7%81%EB%A0%AC%ED%99%94_%EC%99%95%EB%B3%B5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JSON 왕복 (day3)</a:t>
            </a:r>
            <a:endParaRPr 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10469880" y="26517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4교시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7315200" y="3017520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(선택) readings.json → DataFrame 다리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3621024"/>
            <a:ext cx="5440680" cy="960120"/>
          </a:xfrm>
          <a:prstGeom prst="roundRect">
            <a:avLst>
              <a:gd name="adj" fmla="val 11429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731520" y="380390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D2-5</a:t>
            </a:r>
            <a:endParaRPr lang="en-US" sz="1500" dirty="0"/>
          </a:p>
        </p:txBody>
      </p:sp>
      <p:sp>
        <p:nvSpPr>
          <p:cNvPr id="27" name="Text 24">
            <a:hlinkClick r:id="rId7" tooltip="https://imguru-mooc.github.io/AI_CAMPUS/python-day2/anim/D2-5_%EC%A4%91%EC%B2%A9%EC%9E%90%EB%A3%8C%EA%B5%AC%EC%A1%B0_%ED%8A%B8%EB%A6%AC%EB%B7%B0%EC%96%B4.html"/>
          </p:cNvPr>
          <p:cNvSpPr txBox="1"/>
          <p:nvPr/>
        </p:nvSpPr>
        <p:spPr>
          <a:xfrm>
            <a:off x="1691640" y="37307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u="sng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7" tooltip="https://imguru-mooc.github.io/AI_CAMPUS/python-day2/anim/D2-5_%EC%A4%91%EC%B2%A9%EC%9E%90%EB%A3%8C%EA%B5%AC%EC%A1%B0_%ED%8A%B8%EB%A6%AC%EB%B7%B0%EC%96%B4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트리 뷰어 (day2)</a:t>
            </a:r>
            <a:endParaRPr lang="en-US" sz="1350" dirty="0"/>
          </a:p>
        </p:txBody>
      </p:sp>
      <p:sp>
        <p:nvSpPr>
          <p:cNvPr id="28" name="Text 25"/>
          <p:cNvSpPr txBox="1"/>
          <p:nvPr/>
        </p:nvSpPr>
        <p:spPr>
          <a:xfrm>
            <a:off x="4846320" y="373075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6교시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691640" y="4096512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데이터 구조 확인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172200" y="3621024"/>
            <a:ext cx="5440680" cy="960120"/>
          </a:xfrm>
          <a:prstGeom prst="roundRect">
            <a:avLst>
              <a:gd name="adj" fmla="val 11429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 txBox="1"/>
          <p:nvPr/>
        </p:nvSpPr>
        <p:spPr>
          <a:xfrm>
            <a:off x="6355080" y="380390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500" dirty="0"/>
          </a:p>
        </p:txBody>
      </p:sp>
      <p:sp>
        <p:nvSpPr>
          <p:cNvPr id="32" name="Text 29">
            <a:hlinkClick r:id="rId8" tooltip="https://imguru-mooc.github.io/AI_CAMPUS/python-day1/anim/04_%EB%AC%B8%EC%9E%90%EC%97%B4_%ED%8C%8C%EC%8B%B1_%ED%8C%8C%EC%9D%B4%ED%94%84%EB%9D%BC%EC%9D%B8.html"/>
          </p:cNvPr>
          <p:cNvSpPr txBox="1"/>
          <p:nvPr/>
        </p:nvSpPr>
        <p:spPr>
          <a:xfrm>
            <a:off x="7315200" y="37307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u="sng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8" tooltip="https://imguru-mooc.github.io/AI_CAMPUS/python-day1/anim/04_%EB%AC%B8%EC%9E%90%EC%97%B4_%ED%8C%8C%EC%8B%B1_%ED%8C%8C%EC%9D%B4%ED%94%84%EB%9D%BC%EC%9D%B8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파싱 파이프라인 (day1)</a:t>
            </a:r>
            <a:endParaRPr lang="en-US" sz="1350" dirty="0"/>
          </a:p>
        </p:txBody>
      </p:sp>
      <p:sp>
        <p:nvSpPr>
          <p:cNvPr id="33" name="Text 30"/>
          <p:cNvSpPr txBox="1"/>
          <p:nvPr/>
        </p:nvSpPr>
        <p:spPr>
          <a:xfrm>
            <a:off x="10469880" y="373075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5교시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7315200" y="4096512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read_frames 가 내놓는 한 줄의 처리 경로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548640" y="4700016"/>
            <a:ext cx="5440680" cy="960120"/>
          </a:xfrm>
          <a:prstGeom prst="roundRect">
            <a:avLst>
              <a:gd name="adj" fmla="val 11429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 txBox="1"/>
          <p:nvPr/>
        </p:nvSpPr>
        <p:spPr>
          <a:xfrm>
            <a:off x="731520" y="488289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00" dirty="0"/>
          </a:p>
        </p:txBody>
      </p:sp>
      <p:sp>
        <p:nvSpPr>
          <p:cNvPr id="37" name="Text 34">
            <a:hlinkClick r:id="rId9" tooltip="https://imguru-mooc.github.io/AI_CAMPUS/python-day1/anim/01_%EB%B9%84%ED%8A%B8%EB%A7%88%EC%8A%A4%ED%81%AC_%EC%8B%9C%EB%AE%AC%EB%A0%88%EC%9D%B4%ED%84%B0.html"/>
          </p:cNvPr>
          <p:cNvSpPr txBox="1"/>
          <p:nvPr/>
        </p:nvSpPr>
        <p:spPr>
          <a:xfrm>
            <a:off x="1691640" y="48097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u="sng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9" tooltip="https://imguru-mooc.github.io/AI_CAMPUS/python-day1/anim/01_%EB%B9%84%ED%8A%B8%EB%A7%88%EC%8A%A4%ED%81%AC_%EC%8B%9C%EB%AE%AC%EB%A0%88%EC%9D%B4%ED%84%B0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비트마스크 (day1)</a:t>
            </a:r>
            <a:endParaRPr lang="en-US" sz="1350" dirty="0"/>
          </a:p>
        </p:txBody>
      </p:sp>
      <p:sp>
        <p:nvSpPr>
          <p:cNvPr id="38" name="Text 35"/>
          <p:cNvSpPr txBox="1"/>
          <p:nvPr/>
        </p:nvSpPr>
        <p:spPr>
          <a:xfrm>
            <a:off x="4846320" y="480974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7교시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1691640" y="5175504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 E6 — D 필드 플래그 해석</a:t>
            </a:r>
            <a:endParaRPr lang="en-US" sz="1050" dirty="0"/>
          </a:p>
        </p:txBody>
      </p:sp>
      <p:sp>
        <p:nvSpPr>
          <p:cNvPr id="40" name="Text 37"/>
          <p:cNvSpPr txBox="1"/>
          <p:nvPr/>
        </p:nvSpPr>
        <p:spPr>
          <a:xfrm>
            <a:off x="548640" y="5943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 클릭 시 열림 · Day 4 목차: </a:t>
            </a:r>
            <a:r>
              <a:rPr lang="en-US" sz="95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https://imguru-mooc.github.io/AI_CAMPUS/python-day4/anim/index.html</a:t>
            </a:r>
            <a:endParaRPr lang="en-US" sz="1050" dirty="0"/>
          </a:p>
        </p:txBody>
      </p:sp>
      <p:sp>
        <p:nvSpPr>
          <p:cNvPr id="41" name="Text 3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4 · HYUNDAI AI Insight Campus 온디바이스 AI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사용법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1~3과 동일 — 설정 셀이 데이터까지 만들어 줍니다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486400" cy="4754880"/>
          </a:xfrm>
          <a:prstGeom prst="roundRect">
            <a:avLst>
              <a:gd name="adj" fmla="val 2308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777240" y="1600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워크시트 — 교시당 한 섹션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2960" y="2103120"/>
            <a:ext cx="457200" cy="457200"/>
          </a:xfrm>
          <a:prstGeom prst="ellipse">
            <a:avLst/>
          </a:prstGeom>
          <a:solidFill>
            <a:srgbClr val="8A9BB8"/>
          </a:solidFill>
          <a:ln w="12700">
            <a:solidFill>
              <a:srgbClr val="8A9B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8229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208483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⚙️ 설정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2971800" y="20848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 입력 후 최우선 실행 — 스트림 300줄·parse_frame 생성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22960" y="2761488"/>
            <a:ext cx="457200" cy="45720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822960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417320" y="2743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따라하기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2971800" y="2743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실행만 하고 출력을 읽는다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22960" y="3419856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822960" y="3419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417320" y="34015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1~4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2971800" y="34015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raise NotImplementedError 를 지우고 작성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22960" y="4078224"/>
            <a:ext cx="457200" cy="45720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822960" y="4078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1417320" y="405993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자동 채점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2971800" y="405993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번이든 재실행 — PASS n/4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22960" y="4736592"/>
            <a:ext cx="457200" cy="45720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 txBox="1"/>
          <p:nvPr/>
        </p:nvSpPr>
        <p:spPr>
          <a:xfrm>
            <a:off x="822960" y="4736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1417320" y="471830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6교시 필수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2971800" y="471830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4항목 자동 채점 (집계·요약·CSV·png)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822960" y="5394960"/>
            <a:ext cx="457200" cy="457200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 txBox="1"/>
          <p:nvPr/>
        </p:nvSpPr>
        <p:spPr>
          <a:xfrm>
            <a:off x="822960" y="5394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1417320" y="537667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7교시 확장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2971800" y="53766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E2·E3 자동 채점 — 나머지는 시연으로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309360" y="1463040"/>
            <a:ext cx="5349240" cy="2240280"/>
          </a:xfrm>
          <a:prstGeom prst="roundRect">
            <a:avLst>
              <a:gd name="adj" fmla="val 4898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 txBox="1"/>
          <p:nvPr/>
        </p:nvSpPr>
        <p:spPr>
          <a:xfrm>
            <a:off x="653796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워크시트 (HTML · Day 4)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6537960" y="2011680"/>
            <a:ext cx="493776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교시별 10문항 · 7번 탭은 Day 1~4 총복습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채점 후 정오 + 해설 + 확인할 애니메이션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→ 오답 정리 → 캡처로 노션에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코드 7개를 제출 요약 셀에 입력</a:t>
            </a:r>
            <a:endParaRPr lang="en-US" sz="1200" dirty="0"/>
          </a:p>
        </p:txBody>
      </p:sp>
      <p:sp>
        <p:nvSpPr>
          <p:cNvPr id="34" name="Text 31">
            <a:hlinkClick r:id="rId3"/>
          </p:cNvPr>
          <p:cNvSpPr txBox="1"/>
          <p:nvPr/>
        </p:nvSpPr>
        <p:spPr>
          <a:xfrm>
            <a:off x="6537960" y="3383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https://imguru-mooc.github.io/AI_CAMPUS/python-day4/anim/worksheet.html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6309360" y="3886200"/>
            <a:ext cx="5349240" cy="2331720"/>
          </a:xfrm>
          <a:prstGeom prst="roundRect">
            <a:avLst>
              <a:gd name="adj" fmla="val 470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 txBox="1"/>
          <p:nvPr/>
        </p:nvSpPr>
        <p:spPr>
          <a:xfrm>
            <a:off x="6537960" y="4023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(개인 + 팀)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6537960" y="4434840"/>
            <a:ext cx="4937760" cy="1600200"/>
          </a:xfrm>
          <a:prstGeom prst="roundRect">
            <a:avLst>
              <a:gd name="adj" fmla="val 4571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 txBox="1"/>
          <p:nvPr/>
        </p:nvSpPr>
        <p:spPr>
          <a:xfrm>
            <a:off x="6647688" y="4507992"/>
            <a:ext cx="4718304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이름: 홍길동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6교시-필수 자동 채점 4/4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out/readings.csv: 있음 ✅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out/sensor_summary.csv: 있음 ✅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out/timeline.png: 있음 ✅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out/hist.png: 있음 ✅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4 · HYUNDAI AI Insight Campus 온디바이스 AI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온라인 자료 링크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브라우저에서 바로 열립니다 — 설치·다운로드 없음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91672" cy="1143000"/>
          </a:xfrm>
          <a:prstGeom prst="roundRect">
            <a:avLst>
              <a:gd name="adj" fmla="val 9600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77724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주소 (Day 4)</a:t>
            </a:r>
            <a:endParaRPr lang="en-US" sz="1300" dirty="0"/>
          </a:p>
        </p:txBody>
      </p:sp>
      <p:sp>
        <p:nvSpPr>
          <p:cNvPr id="7" name="Text 4">
            <a:hlinkClick r:id="rId3"/>
          </p:cNvPr>
          <p:cNvSpPr txBox="1"/>
          <p:nvPr/>
        </p:nvSpPr>
        <p:spPr>
          <a:xfrm>
            <a:off x="777240" y="182880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https://imguru-mooc.github.io/AI_CAMPUS/python-day4/anim/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11091672" cy="530352"/>
          </a:xfrm>
          <a:prstGeom prst="roundRect">
            <a:avLst>
              <a:gd name="adj" fmla="val 20690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>
            <a:hlinkClick r:id="rId3"/>
          </p:cNvPr>
          <p:cNvSpPr txBox="1"/>
          <p:nvPr/>
        </p:nvSpPr>
        <p:spPr>
          <a:xfrm>
            <a:off x="777240" y="27706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u="sng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index.html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3931920" y="277063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4 애니메이션 목차 (신규 2 + 재사용 5 링크)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3337560"/>
            <a:ext cx="11091672" cy="530352"/>
          </a:xfrm>
          <a:prstGeom prst="roundRect">
            <a:avLst>
              <a:gd name="adj" fmla="val 20690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>
            <a:hlinkClick r:id="rId4"/>
          </p:cNvPr>
          <p:cNvSpPr txBox="1"/>
          <p:nvPr/>
        </p:nvSpPr>
        <p:spPr>
          <a:xfrm>
            <a:off x="777240" y="341071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u="sng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worksheet.html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3931920" y="341071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4 개념 워크시트 (70문항 · 총복습 탭 포함)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4069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애니메이션 (day4 폴더)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4434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1·2교시  </a:t>
            </a:r>
            <a:r>
              <a:rPr lang="en-US" sz="11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D4-1_NumPy_브로드캐스팅_마스크.html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8188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4교시  </a:t>
            </a:r>
            <a:r>
              <a:rPr lang="en-US" sz="11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D4-2_DataFrame_groupby_흐름.html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53035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재사용: </a:t>
            </a:r>
            <a:r>
              <a:rPr lang="en-US" sz="11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D3-5 스트림</a:t>
            </a:r>
            <a:r>
              <a:rPr lang="en-US" sz="1100" dirty="0">
                <a:solidFill>
                  <a:srgbClr val="8A9BB8"/>
                </a:solidFill>
              </a:rPr>
              <a:t> · </a:t>
            </a:r>
            <a:r>
              <a:rPr lang="en-US" sz="11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D3-4 JSON</a:t>
            </a:r>
            <a:r>
              <a:rPr lang="en-US" sz="1100" dirty="0">
                <a:solidFill>
                  <a:srgbClr val="8A9BB8"/>
                </a:solidFill>
              </a:rPr>
              <a:t> (day3) · </a:t>
            </a:r>
            <a:r>
              <a:rPr lang="en-US" sz="11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D2-5 트리</a:t>
            </a:r>
            <a:r>
              <a:rPr lang="en-US" sz="1100" dirty="0">
                <a:solidFill>
                  <a:srgbClr val="8A9BB8"/>
                </a:solidFill>
              </a:rPr>
              <a:t> (day2) · </a:t>
            </a:r>
            <a:r>
              <a:rPr lang="en-US" sz="11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04 파이프라인</a:t>
            </a:r>
            <a:r>
              <a:rPr lang="en-US" sz="1100" dirty="0">
                <a:solidFill>
                  <a:srgbClr val="8A9BB8"/>
                </a:solidFill>
              </a:rPr>
              <a:t> · </a:t>
            </a:r>
            <a:r>
              <a:rPr lang="en-US" sz="11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01 비트마스크</a:t>
            </a:r>
            <a:r>
              <a:rPr lang="en-US" sz="1100" dirty="0">
                <a:solidFill>
                  <a:srgbClr val="8A9BB8"/>
                </a:solidFill>
              </a:rPr>
              <a:t> (day1)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4 · HYUNDAI AI Insight Campus 온디바이스 AI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NumPy 기초 — 벡터 연산·브로드캐스팅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686800" y="3840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09:00–09:50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234440"/>
            <a:ext cx="3931920" cy="4983480"/>
          </a:xfrm>
          <a:prstGeom prst="roundRect">
            <a:avLst>
              <a:gd name="adj" fmla="val 2791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7724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목표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691640"/>
            <a:ext cx="3566160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리스트와 ndarray 의 차이를 설명한다 (동일 dtype·벡터 연산)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shape / dtype 을 먼저 읽는 습관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반복문 없이 배열 전체를 변환한다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브로드캐스팅 규칙과 ValueError 메시지 읽기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4023360"/>
            <a:ext cx="3474720" cy="347472"/>
          </a:xfrm>
          <a:prstGeom prst="roundRect">
            <a:avLst>
              <a:gd name="adj" fmla="val 21053"/>
            </a:avLst>
          </a:prstGeom>
          <a:solidFill>
            <a:srgbClr val="0F2A27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868680" y="40233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🎬 </a:t>
            </a:r>
            <a:r>
              <a:rPr lang="en-US" sz="1100" b="1" u="sng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 tooltip="https://imguru-mooc.github.io/AI_CAMPUS/python-day4/anim/D4-1_NumPy_%EB%B8%8C%EB%A1%9C%EB%93%9C%EC%BA%90%EC%8A%A4%ED%8C%85_%EB%A7%88%EC%8A%A4%ED%81%AC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D4-1 브로드캐스팅·마스크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480560"/>
            <a:ext cx="3566160" cy="1645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리스트 vs 배열 — * 2 의 두 얼굴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스칼라 2 가 유령 칸으로 복제되어 퍼지는 그림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(2,3)+(3,) 행 방향 확장 → ④ 모양 불일치 ValueError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연산(temps &gt; 35)도 배열로 — 2교시 예고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09160" y="1234440"/>
            <a:ext cx="694944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4937760" y="1371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개념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937760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속도 대결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812280" y="1719072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6922008" y="1792224"/>
            <a:ext cx="44439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%timeit [r/1023*3.3 for r in raws]   # Day 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%timeit big / 1023 * 3.3            # NumPy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반복문이 C 내부로 — 수십 배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937760" y="282321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얼굴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812280" y="2804922"/>
            <a:ext cx="4663440" cy="502920"/>
          </a:xfrm>
          <a:prstGeom prst="roundRect">
            <a:avLst>
              <a:gd name="adj" fmla="val 14545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6922008" y="2878074"/>
            <a:ext cx="44439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 2] * 2          # [1,2,1,2] 이어 붙이기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np.array([1,2]) * 2 # [2,4]     원소별 곱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937760" y="39090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브로드캐스팅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812280" y="3890772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6922008" y="3963924"/>
            <a:ext cx="44439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* 2               # 스칼라가 퍼진다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(2,3) + (3,)        # 행마다 늘어난다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(3,) + (4,)         # ValueError: shapes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4937760" y="499491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습관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812280" y="4976622"/>
            <a:ext cx="4663440" cy="457200"/>
          </a:xfrm>
          <a:prstGeom prst="roundRect">
            <a:avLst>
              <a:gd name="adj" fmla="val 16000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6922008" y="5049774"/>
            <a:ext cx="4443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배열을 받으면 print(a.shape, a.dtype) 부터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4 · HYUNDAI AI Insight Campus 온디바이스 AI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NumPy 기초 — 실습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603504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7772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워크시트 TODO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22960" y="178308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8229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1737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1-1 volts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20574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RAWS / 1023 * 3.3 — 반복문 금지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2960" y="283464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82296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417320" y="2788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1-2 alert_count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417320" y="31089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(TEMPS24 &gt; 35).sum()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22960" y="388620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82296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3840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1-3 fahr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417320" y="41605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섭씨 → 화씨 한 줄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22960" y="493776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82296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417320" y="4892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1-4 브로드캐스팅 (심화)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417320" y="5212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(3,4) + (4,) 합계 · (3,) 오류 메시지 옮겨 적기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57607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자동 채점  </a:t>
            </a: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volts 해시 · 건수 · 화씨 · bsum (4항목)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812280" y="123444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7040880" y="1371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자기 점검 (예측 → 애니메이션 → 코드)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040880" y="1691640"/>
            <a:ext cx="448056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(3,)+(4,) → ValueError (shapes)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812280" y="384048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7040880" y="39776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· 강사 확인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7040880" y="4297680"/>
            <a:ext cx="448056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"벡터 연산 = 반복문이 C 로" 를 자기 말로 하는가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리스트에 * 2 를 해서 [1,2,1,2] 를 만난 학생 — 자료형 확인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%timeit 결과의 배율을 채팅에 공유하게 (동기 강화)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4 · HYUNDAI AI Insight Campus 온디바이스 AI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NumPy 활용 — 마스크·통계·이미지=배열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686800" y="3840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10:00–10:50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234440"/>
            <a:ext cx="3931920" cy="4983480"/>
          </a:xfrm>
          <a:prstGeom prst="roundRect">
            <a:avLst>
              <a:gd name="adj" fmla="val 2791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7724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목표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691640"/>
            <a:ext cx="3566160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슬라이스는 뷰 — 참조 모델의 재림, .copy() 방어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불리언 마스크로 고르고(⑥) 세고(⑦) 찾는다(argmax)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2차원 axis 통계 — "axis 는 사라지는 방향"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= H×W(×C) 숫자 배열임을 조작으로 확인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4023360"/>
            <a:ext cx="3474720" cy="347472"/>
          </a:xfrm>
          <a:prstGeom prst="roundRect">
            <a:avLst>
              <a:gd name="adj" fmla="val 21053"/>
            </a:avLst>
          </a:prstGeom>
          <a:solidFill>
            <a:srgbClr val="0F2A27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868680" y="40233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🎬 </a:t>
            </a:r>
            <a:r>
              <a:rPr lang="en-US" sz="1100" b="1" u="sng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 tooltip="https://imguru-mooc.github.io/AI_CAMPUS/python-day4/anim/D4-1_NumPy_%EB%B8%8C%EB%A1%9C%EB%93%9C%EC%BA%90%EC%8A%A4%ED%8C%85_%EB%A7%88%EC%8A%A4%ED%81%AC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D4-1 ⑤⑥⑦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480560"/>
            <a:ext cx="3566160" cy="1645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조건 → True/False 배열이 되는 순간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True 자리만 통과해 새 배열로 — ALERT 필터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 mask.sum() = 건수 · argmax = 시점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"pandas 의 df[조건] 도 같은 문법" 예고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09160" y="1234440"/>
            <a:ext cx="694944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4937760" y="1371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개념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937760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뷰 함정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812280" y="1719072"/>
            <a:ext cx="4663440" cy="502920"/>
          </a:xfrm>
          <a:prstGeom prst="roundRect">
            <a:avLst>
              <a:gd name="adj" fmla="val 14545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6922008" y="1792224"/>
            <a:ext cx="44439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a[2:5]; b[0] = 999   # a 도 바뀐다!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a[2:5].copy()        # 독립 사본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937760" y="282321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마스크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812280" y="2804922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6922008" y="2878074"/>
            <a:ext cx="44439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mask = BT &gt; 35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BT[mask]                  # 골라내기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BT[BN == "ESP32-02"].mean()  # 노드 마스크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937760" y="39090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812280" y="3890772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6922008" y="3963924"/>
            <a:ext cx="44439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(BT &gt; 35).sum()   # 몇 건이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BT.argmax()       # 언제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M2.mean(axis=0)   # 행이 사라짐 → 회차별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4937760" y="499491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812280" y="4976622"/>
            <a:ext cx="4663440" cy="457200"/>
          </a:xfrm>
          <a:prstGeom prst="roundRect">
            <a:avLst>
              <a:gd name="adj" fmla="val 16000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6922008" y="5049774"/>
            <a:ext cx="4443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IMG.shape  # (60, 80) — 그냥 배열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IMG[::-1] 상하 반전 · IMG * 0.5 어둡게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4 · HYUNDAI AI Insight Campus 온디바이스 AI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NumPy 활용 — 실습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603504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7772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워크시트 TODO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22960" y="178308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8229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1737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2-1 avgs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20574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 마스크로 노드별 평균 dict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2960" y="283464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82296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417320" y="2788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2-2 n_alert·idx_max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417320" y="31089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마스크 합 · argmax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22960" y="388620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82296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3840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2-3 이미지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417320" y="41605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IMG[::-1] · IMG*0.5 → imshow 3연속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22960" y="493776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82296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417320" y="4892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2-4 axis (심화)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417320" y="5212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(4,6) 에서 axis=1/0 평균 + 의미 한 줄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57607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자동 채점  </a:t>
            </a: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avgs 참조 비교 · 건수/시점 · 반전/밝기 검사 · shape (4항목)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812280" y="123444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7040880" y="1371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자기 점검 (예측 → 애니메이션 → 코드)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040880" y="1691640"/>
            <a:ext cx="448056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슬라이스 수정 → a 도 바뀐다 (뷰)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812280" y="384048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7040880" y="39776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· 강사 확인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7040880" y="4297680"/>
            <a:ext cx="448056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뷰 함정을 Day 2 참조 공유와 연결해 말하는가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마스크 없이 for 문으로 푼 학생 — 한 줄로 다시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shape 을 보고 흑백/컬러를 구분하는가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4 · HYUNDAI AI Insight Campus 온디바이스 AI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Matplotlib — 시계열·히스토그램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686800" y="3840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11:00–11:50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234440"/>
            <a:ext cx="3931920" cy="4983480"/>
          </a:xfrm>
          <a:prstGeom prst="roundRect">
            <a:avLst>
              <a:gd name="adj" fmla="val 2791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7724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목표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691640"/>
            <a:ext cx="3566160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읽히는 그래프 4요소: title/xlabel/ylabel/grid (+범례)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임계선(axhline)·마스크 scatter 로 ALERT 표시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히스토그램으로 분포 읽기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savefig 를 show 앞에 — 0바이트 사고 예방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4023360"/>
            <a:ext cx="3474720" cy="347472"/>
          </a:xfrm>
          <a:prstGeom prst="roundRect">
            <a:avLst>
              <a:gd name="adj" fmla="val 21053"/>
            </a:avLst>
          </a:prstGeom>
          <a:solidFill>
            <a:srgbClr val="0F2A27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868680" y="40233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🎬 </a:t>
            </a:r>
            <a:r>
              <a:rPr lang="en-US" sz="1100" b="1" u="sng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 tooltip="https://imguru-mooc.github.io/AI_CAMPUS/python-day4/anim/index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(실습 중심 — 애니메이션 없음)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480560"/>
            <a:ext cx="3566160" cy="1645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 마스크가 그래프의 빨간 점이 되는 순간을 라이브로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제목에 근거(노드 수·건수) 넣는 습관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순서를 일부러 바꿔 0바이트를 만들어 보이기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히스토그램 bins 를 3→12→50 으로 바꿔 감각 잡기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09160" y="1234440"/>
            <a:ext cx="694944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4937760" y="1371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개념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937760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4요소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812280" y="1719072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6922008" y="1792224"/>
            <a:ext cx="44439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plt.plot(BT, marker="o", label="T")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plt.title(f"... ({len(BT)} readings)")  # 근거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plt.xlabel · ylabel · grid · legend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937760" y="282321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 문법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812280" y="2804922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6922008" y="2878074"/>
            <a:ext cx="44439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plt.axhline(35, color="red", ls="--")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plt.scatter(np.where(mask)[0], BT[mask],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color="red")   # 마스크 재활용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937760" y="39090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분포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812280" y="3890772"/>
            <a:ext cx="4663440" cy="502920"/>
          </a:xfrm>
          <a:prstGeom prst="roundRect">
            <a:avLst>
              <a:gd name="adj" fmla="val 14545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6922008" y="3963924"/>
            <a:ext cx="44439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plt.hist(BT, bins=12)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분포를 보면 이상이 보인다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4937760" y="499491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812280" y="4976622"/>
            <a:ext cx="4663440" cy="457200"/>
          </a:xfrm>
          <a:prstGeom prst="roundRect">
            <a:avLst>
              <a:gd name="adj" fmla="val 16000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6922008" y="5049774"/>
            <a:ext cx="4443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plt.savefig("out/x.png", dpi=150)  # ← 먼저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                          # ← 나중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4 · HYUNDAI AI Insight Campus 온디바이스 AI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Matplotlib — 실습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603504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7772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워크시트 TODO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22960" y="178308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8229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1737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3-1 timeline_boot.png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20574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시계열 + 임계선 + ALERT scatter 저장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2960" y="283464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82296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417320" y="2788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3-2 hist_boot.png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417320" y="31089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bins=12 + 정상 범위 코멘트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22960" y="388620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82296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3840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3-3 avg_by_node.png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417320" y="41605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막대 + plt.text 값 표시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22960" y="493776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82296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417320" y="4892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3-4 combo.png (심화)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417320" y="5212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subplots(1,2) 나란히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57607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자동 채점  </a:t>
            </a: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png 4종 존재·크기 (라벨은 순회 확인)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812280" y="123444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7040880" y="1371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자기 점검 (예측 → 애니메이션 → 코드)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040880" y="1691640"/>
            <a:ext cx="448056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0바이트 원인 → show 후 savefig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812280" y="384048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7040880" y="39776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· 강사 확인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7040880" y="4297680"/>
            <a:ext cx="448056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4요소가 반사적으로 들어가는가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0바이트 png 학생 — 순서 교정 후 재저장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그래프만 보고 ESP32-02 이상 구간을 지목하는가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4 · HYUNDAI AI Insight Campus 온디바이스 AI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pandas 맛보기 — DataFrame·groupby·CSV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686800" y="3840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13:00–13:50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234440"/>
            <a:ext cx="3931920" cy="4983480"/>
          </a:xfrm>
          <a:prstGeom prst="roundRect">
            <a:avLst>
              <a:gd name="adj" fmla="val 2791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7724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목표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691640"/>
            <a:ext cx="3566160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DataFrame = dict 레코드 목록의 완성형 (행=레코드)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head/info/describe 3종 세트 습관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불리언 필터 = NumPy 마스크와 같은 문법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groupby 분할→집계→결합 · CSV 왕복 · 결측 처리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4023360"/>
            <a:ext cx="3474720" cy="347472"/>
          </a:xfrm>
          <a:prstGeom prst="roundRect">
            <a:avLst>
              <a:gd name="adj" fmla="val 21053"/>
            </a:avLst>
          </a:prstGeom>
          <a:solidFill>
            <a:srgbClr val="0F2A27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868680" y="40233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🎬 </a:t>
            </a:r>
            <a:r>
              <a:rPr lang="en-US" sz="1100" b="1" u="sng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 tooltip="https://imguru-mooc.github.io/AI_CAMPUS/python-day4/anim/D4-2_DataFrame_groupby_%ED%9D%90%EB%A6%84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D4-2 DataFrame·groupby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480560"/>
            <a:ext cx="3566160" cy="1645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레코드 목록 → 표 → ② 열 선택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불리언 필터 — 행이 걸러지는 장면 → ④ alert 열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분할→집계→결합 3단 애니메이션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CSV 왕복 — index=False 유령 열 경고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09160" y="1234440"/>
            <a:ext cx="694944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4937760" y="1371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개념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937760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3종 세트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812280" y="1719072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6922008" y="1792224"/>
            <a:ext cx="44439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pd.DataFrame(RECORDS_BOOT)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df.head() · df.info() · df.describe()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info 로 T 의 dtype 부터 확인!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937760" y="282321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고르기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812280" y="2804922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6922008" y="2878074"/>
            <a:ext cx="44439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df["alert"] = df["T"] &gt; 35   # 새 열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df[df["alert"]]               # 행 필터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df.sort_values("T", ascending=False)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937760" y="39090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groupby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812280" y="3890772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6922008" y="3963924"/>
            <a:ext cx="44439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df.groupby("node")["T"]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.agg(["mean", "max", "count"])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stats_by_node 3일의 진화 — 한 줄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4937760" y="499491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왕복·결측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812280" y="4976622"/>
            <a:ext cx="4663440" cy="457200"/>
          </a:xfrm>
          <a:prstGeom prst="roundRect">
            <a:avLst>
              <a:gd name="adj" fmla="val 16000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6922008" y="5049774"/>
            <a:ext cx="4443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to_csv(index=False) ↔ read_csv · isna().sum() → dropna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4 · HYUNDAI AI Insight Campus 온디바이스 AI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pandas — 실습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603504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7772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워크시트 TODO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22960" y="178308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8229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1737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4-1 df 3종 세트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20574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26행 4열 + n_rows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2960" y="283464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82296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417320" y="2788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4-2 alert·hot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417320" y="31089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불리언 열 + 필터 + 내림차순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22960" y="388620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82296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3840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4-3 groupby 왕복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417320" y="41605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 → to_csv → read_csv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22960" y="493776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82296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417320" y="4892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4-4 결측 (심화)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417320" y="5212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isna().sum()==2 · dropna 후 3행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57607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자동 채점  </a:t>
            </a: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shape · 필터 정합 · 요약 equals + 왕복 · 결측 (4항목)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812280" y="123444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7040880" y="1371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자기 점검 (예측 → 애니메이션 → 코드)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040880" y="1691640"/>
            <a:ext cx="448056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False → T 가 문자열(object)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812280" y="384048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7040880" y="39776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· 강사 확인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7040880" y="4297680"/>
            <a:ext cx="448056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df[조건] 을 NumPy 마스크와 연결해 말하는가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groupby 결과와 Day 3 stats_by_node 출력 비교시키기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to_csv 에 index=False 를 빼먹은 학생 — 유령 열 관찰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4 · HYUNDAI AI Insight Campus 온디바이스 AI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파이썬 문법 마무리 — 제너레이터·이터레이터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686800" y="3840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14:00–14:50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234440"/>
            <a:ext cx="3931920" cy="4983480"/>
          </a:xfrm>
          <a:prstGeom prst="roundRect">
            <a:avLst>
              <a:gd name="adj" fmla="val 2791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7724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목표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691640"/>
            <a:ext cx="3566160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enumerate/zip — range(len()) 순회 졸업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이터레이터는 한 번 소모 (map 회수)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제너레이터(yield)로 read_frames 수신부 완성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제너레이터 표현식 · f-string 정렬 (:10s :8.2f)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4023360"/>
            <a:ext cx="3474720" cy="347472"/>
          </a:xfrm>
          <a:prstGeom prst="roundRect">
            <a:avLst>
              <a:gd name="adj" fmla="val 21053"/>
            </a:avLst>
          </a:prstGeom>
          <a:solidFill>
            <a:srgbClr val="0F2A27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868680" y="40233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🎬 </a:t>
            </a:r>
            <a:r>
              <a:rPr lang="en-US" sz="1100" b="1" u="sng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 tooltip="https://imguru-mooc.github.io/AI_CAMPUS/python-day4/anim/index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D3-5 재사용 · 04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480560"/>
            <a:ext cx="3566160" cy="1645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D3-5 ⑤ 재생 — "readline 이 yield 였던 것"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호출해도 안 돌고, for 가 꺼낼 때 도는 것 확인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재소모 sum → 0 실험 — 소모 성질 각인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04: read_frames 가 내놓는 한 줄의 처리 경로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09160" y="1234440"/>
            <a:ext cx="694944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4937760" y="1371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개념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937760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enumerate·zip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812280" y="1719072"/>
            <a:ext cx="4663440" cy="502920"/>
          </a:xfrm>
          <a:prstGeom prst="roundRect">
            <a:avLst>
              <a:gd name="adj" fmla="val 14545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6922008" y="1792224"/>
            <a:ext cx="44439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i, line in enumerate(f, 1): ...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dict(zip(nodes, avgs))   # 쌍 → dict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937760" y="282321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소모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812280" y="2804922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6922008" y="2878074"/>
            <a:ext cx="44439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map(str, [1,2])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list(m)  # ['1','2']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list(m)  # [] — 스트림과 같은 성질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937760" y="39090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제너레이터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812280" y="3890772"/>
            <a:ext cx="4663440" cy="1051560"/>
          </a:xfrm>
          <a:prstGeom prst="roundRect">
            <a:avLst>
              <a:gd name="adj" fmla="val 6957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6922008" y="3963924"/>
            <a:ext cx="444398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read_frames(path):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line in f: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yield parse_frame(line)  # 멈췄다 이어서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100만 줄도 리스트 없이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4937760" y="499491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정렬 표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812280" y="4976622"/>
            <a:ext cx="4663440" cy="457200"/>
          </a:xfrm>
          <a:prstGeom prst="roundRect">
            <a:avLst>
              <a:gd name="adj" fmla="val 16000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6922008" y="5049774"/>
            <a:ext cx="4443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f"{name:10s}{avg:8.2f}{cnt:7d}"  # report 가 반듯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4 · HYUNDAI AI Insight Campus 온디바이스 AI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제너레이터·문법 — 실습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603504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7772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워크시트 TODO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22960" y="178308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8229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1737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5-1 bad_lines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20574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enumerate 로 손상 줄 번호 3개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2960" y="283464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82296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417320" y="2788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5-2 read_frames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417320" y="31089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yield · first/rest 25/재소모 0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22960" y="388620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82296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3840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5-3 f-string 표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417320" y="41605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10s / 8.2f / 7d 정렬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22960" y="493776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82296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417320" y="4892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5-4 avg_gen (심화)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417320" y="5212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제너레이터 표현식 — 리스트 없는 평균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57607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자동 채점  </a:t>
            </a: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 번호 · isgeneratorfunction+소모 검사 · 문자열 일치 · 평균 (4항목)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812280" y="123444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7040880" y="1371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자기 점검 (예측 → 애니메이션 → 코드)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040880" y="1691640"/>
            <a:ext cx="448056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재소모 → 아무것도 나오지 않는다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812280" y="384048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7040880" y="39776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· 강사 확인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7040880" y="4297680"/>
            <a:ext cx="448056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"스트림=제너레이터" 연결을 자기 말로 하는가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read_frames 안에서 return 을 쓴 학생 — yield 와 대조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함수가 6교시 수신부로 그대로 승격됨을 공지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4 · HYUNDAI AI Insight Campus 온디바이스 AI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미니 프로젝트 ① — 필수 기능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8503920" y="3840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15:00–15:50 · 2인 1팀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188720"/>
            <a:ext cx="6035040" cy="1828800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77240" y="129844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"센서 데이터 수집·시각화 도구"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77240" y="1691640"/>
            <a:ext cx="5577840" cy="1188720"/>
          </a:xfrm>
          <a:prstGeom prst="roundRect">
            <a:avLst>
              <a:gd name="adj" fmla="val 6154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886968" y="1764792"/>
            <a:ext cx="535838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stream_day4.txt ─▶ read_frames() ─▶ 레코드 축적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sensor_summary.csv ◀─ groupby ◀─ DataFrame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timeline.png ◀─ matplotlib(임계선·범례)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(준실시간) 50건마다 clear_output 갱신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812280" y="1188720"/>
            <a:ext cx="4846320" cy="1828800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040880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오전의 부품이 전부 조립됩니다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040880" y="1600200"/>
            <a:ext cx="448056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수신 = 5교시 read_frames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= 1·2교시 NumPy + 4교시 pandas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그래프 = 3교시 + clear_output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5항목 (워크시트 6교시 — 자동 채점 4)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3611880"/>
            <a:ext cx="11091672" cy="457200"/>
          </a:xfrm>
          <a:prstGeom prst="roundRect">
            <a:avLst>
              <a:gd name="adj" fmla="val 24000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777240" y="366674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280160" y="366674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수신·집계 collect() — good/bad/skip 정답 일치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9235440" y="366674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자동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" y="4142232"/>
            <a:ext cx="11091672" cy="457200"/>
          </a:xfrm>
          <a:prstGeom prst="roundRect">
            <a:avLst>
              <a:gd name="adj" fmla="val 24000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777240" y="41970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419709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준실시간 — 50건마다 clear_output + 최신 200건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9235440" y="419709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시연 확인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4672584"/>
            <a:ext cx="11091672" cy="457200"/>
          </a:xfrm>
          <a:prstGeom prst="roundRect">
            <a:avLst>
              <a:gd name="adj" fmla="val 24000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 txBox="1"/>
          <p:nvPr/>
        </p:nvSpPr>
        <p:spPr>
          <a:xfrm>
            <a:off x="777240" y="47274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1280160" y="472744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DataFrame·groupby 요약 (mean/max/count) 정합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9235440" y="47274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자동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48640" y="5202936"/>
            <a:ext cx="11091672" cy="457200"/>
          </a:xfrm>
          <a:prstGeom prst="roundRect">
            <a:avLst>
              <a:gd name="adj" fmla="val 24000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 txBox="1"/>
          <p:nvPr/>
        </p:nvSpPr>
        <p:spPr>
          <a:xfrm>
            <a:off x="777240" y="5257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1280160" y="5257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readings.csv + sensor_summary.csv 왕복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9235440" y="5257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자동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48640" y="5733288"/>
            <a:ext cx="11091672" cy="457200"/>
          </a:xfrm>
          <a:prstGeom prst="roundRect">
            <a:avLst>
              <a:gd name="adj" fmla="val 24000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 txBox="1"/>
          <p:nvPr/>
        </p:nvSpPr>
        <p:spPr>
          <a:xfrm>
            <a:off x="777240" y="57881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1280160" y="578815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timeline.png(3노드 범례+임계선) · hist.png</a:t>
            </a:r>
            <a:endParaRPr lang="en-US" sz="1250" dirty="0"/>
          </a:p>
        </p:txBody>
      </p:sp>
      <p:sp>
        <p:nvSpPr>
          <p:cNvPr id="34" name="Text 31"/>
          <p:cNvSpPr txBox="1"/>
          <p:nvPr/>
        </p:nvSpPr>
        <p:spPr>
          <a:xfrm>
            <a:off x="9235440" y="57881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존재 + 라벨 순회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전원 목표: 이 교시 안에 필수 1·3·4 완주 — 2·5 는 7교시 전반</a:t>
            </a:r>
            <a:endParaRPr lang="en-US" sz="1150" dirty="0"/>
          </a:p>
        </p:txBody>
      </p:sp>
      <p:sp>
        <p:nvSpPr>
          <p:cNvPr id="36" name="Text 3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4 · HYUNDAI AI Insight Campus 온디바이스 AI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미니 프로젝트 ② — 확장·시연 준비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9052560" y="3840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16:00–16:50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 메뉴 — 팀당 1개 이상 (E2·E3 는 자동 채점 제공)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1600200"/>
            <a:ext cx="5440680" cy="603504"/>
          </a:xfrm>
          <a:prstGeom prst="roundRect">
            <a:avLst>
              <a:gd name="adj" fmla="val 1818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731520" y="16916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16916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히스토그램 노드별 겹치기(alpha) + 코멘트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5257800" y="16916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★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72200" y="1600200"/>
            <a:ext cx="5440680" cy="603504"/>
          </a:xfrm>
          <a:prstGeom prst="roundRect">
            <a:avLst>
              <a:gd name="adj" fmla="val 1818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6355080" y="16916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040880" y="16916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손상 유형 — Counter 로 FrameError/ValueError 분리 ✅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10881360" y="16916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★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2313432"/>
            <a:ext cx="5440680" cy="603504"/>
          </a:xfrm>
          <a:prstGeom prst="roundRect">
            <a:avLst>
              <a:gd name="adj" fmla="val 1818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731520" y="240487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E3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24048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평균 rolling(5).mean() 겹치기 ✅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5257800" y="240487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★★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172200" y="2313432"/>
            <a:ext cx="5440680" cy="603504"/>
          </a:xfrm>
          <a:prstGeom prst="roundRect">
            <a:avLst>
              <a:gd name="adj" fmla="val 1818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6355080" y="240487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E4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7040880" y="24048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 이벤트 탐지 — ESP32-02 마스크로 시작·끝 인덱스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10881360" y="240487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★★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48640" y="3026664"/>
            <a:ext cx="5440680" cy="603504"/>
          </a:xfrm>
          <a:prstGeom prst="roundRect">
            <a:avLst>
              <a:gd name="adj" fmla="val 1818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 txBox="1"/>
          <p:nvPr/>
        </p:nvSpPr>
        <p:spPr>
          <a:xfrm>
            <a:off x="731520" y="3118104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E5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1417320" y="311810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 파라미터화 — 33/35 비교 표</a:t>
            </a:r>
            <a:endParaRPr lang="en-US" sz="1150" dirty="0"/>
          </a:p>
        </p:txBody>
      </p:sp>
      <p:sp>
        <p:nvSpPr>
          <p:cNvPr id="27" name="Text 24"/>
          <p:cNvSpPr txBox="1"/>
          <p:nvPr/>
        </p:nvSpPr>
        <p:spPr>
          <a:xfrm>
            <a:off x="5257800" y="3118104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★★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172200" y="3026664"/>
            <a:ext cx="5440680" cy="603504"/>
          </a:xfrm>
          <a:prstGeom prst="roundRect">
            <a:avLst>
              <a:gd name="adj" fmla="val 1818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6355080" y="3118104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E6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7040880" y="311810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 필드 비트 플래그(문/창/모션) — Day 1 회수</a:t>
            </a:r>
            <a:endParaRPr lang="en-US" sz="1150" dirty="0"/>
          </a:p>
        </p:txBody>
      </p:sp>
      <p:sp>
        <p:nvSpPr>
          <p:cNvPr id="31" name="Text 28"/>
          <p:cNvSpPr txBox="1"/>
          <p:nvPr/>
        </p:nvSpPr>
        <p:spPr>
          <a:xfrm>
            <a:off x="10881360" y="3118104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★★★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48640" y="3886200"/>
            <a:ext cx="6035040" cy="2286000"/>
          </a:xfrm>
          <a:prstGeom prst="roundRect">
            <a:avLst>
              <a:gd name="adj" fmla="val 4800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 txBox="1"/>
          <p:nvPr/>
        </p:nvSpPr>
        <p:spPr>
          <a:xfrm>
            <a:off x="77724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형식 (팀당 3분)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43891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1분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1691640" y="4389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준실시간 수집 데모 — 리허설 1회 필수, 시연 중 첫 실행 금지</a:t>
            </a:r>
            <a:endParaRPr lang="en-US" sz="1150" dirty="0"/>
          </a:p>
        </p:txBody>
      </p:sp>
      <p:sp>
        <p:nvSpPr>
          <p:cNvPr id="36" name="Text 33"/>
          <p:cNvSpPr txBox="1"/>
          <p:nvPr/>
        </p:nvSpPr>
        <p:spPr>
          <a:xfrm>
            <a:off x="822960" y="49377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1분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1691640" y="49377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요약표·그래프 — "어느 노드가 언제 문제였나"</a:t>
            </a:r>
            <a:endParaRPr lang="en-US" sz="1150" dirty="0"/>
          </a:p>
        </p:txBody>
      </p:sp>
      <p:sp>
        <p:nvSpPr>
          <p:cNvPr id="38" name="Text 35"/>
          <p:cNvSpPr txBox="1"/>
          <p:nvPr/>
        </p:nvSpPr>
        <p:spPr>
          <a:xfrm>
            <a:off x="822960" y="54864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1분</a:t>
            </a:r>
            <a:endParaRPr lang="en-US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1691640" y="5486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하이라이트 1곳 + 배운 것/막힌 것 1개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6812280" y="3886200"/>
            <a:ext cx="4846320" cy="2286000"/>
          </a:xfrm>
          <a:prstGeom prst="roundRect">
            <a:avLst>
              <a:gd name="adj" fmla="val 4800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8"/>
          <p:cNvSpPr txBox="1"/>
          <p:nvPr/>
        </p:nvSpPr>
        <p:spPr>
          <a:xfrm>
            <a:off x="7040880" y="4023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막히면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7040880" y="4343400"/>
            <a:ext cx="4480560" cy="1645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마스크·집계 → D4-1 ⑤~⑦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groupby → D4-2 ⑤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수신 집계 불일치 → D3-5 ③④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E6 비트 → 01 비트마스크</a:t>
            </a:r>
            <a:endParaRPr lang="en-US" sz="1150" dirty="0"/>
          </a:p>
        </p:txBody>
      </p:sp>
      <p:sp>
        <p:nvSpPr>
          <p:cNvPr id="43" name="Text 40"/>
          <p:cNvSpPr txBox="1"/>
          <p:nvPr/>
        </p:nvSpPr>
        <p:spPr>
          <a:xfrm>
            <a:off x="548640" y="6263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871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자료 별도 제작 금지 — 코드와 산출물이 곧 발표 자료입니다</a:t>
            </a:r>
            <a:endParaRPr lang="en-US" sz="1150" dirty="0"/>
          </a:p>
        </p:txBody>
      </p:sp>
      <p:sp>
        <p:nvSpPr>
          <p:cNvPr id="44" name="Text 4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4 · HYUNDAI AI Insight Campus 온디바이스 AI</a:t>
            </a:r>
            <a:endParaRPr lang="en-US" sz="1000" dirty="0"/>
          </a:p>
        </p:txBody>
      </p:sp>
      <p:sp>
        <p:nvSpPr>
          <p:cNvPr id="45" name="Text 42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팀별 시연 · 코드 리뷰 · 정리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686800" y="3840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17:00–17:50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325880"/>
            <a:ext cx="6766560" cy="822960"/>
          </a:xfrm>
          <a:prstGeom prst="roundRect">
            <a:avLst>
              <a:gd name="adj" fmla="val 13333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77240" y="1417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30분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737360" y="139903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팀별 시연 3분 × 최대 8팀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737360" y="1719072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후 다른 팀이 "훔치고 싶은 한 줄" 지목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258568"/>
            <a:ext cx="6766560" cy="822960"/>
          </a:xfrm>
          <a:prstGeom prst="roundRect">
            <a:avLst>
              <a:gd name="adj" fmla="val 13333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77240" y="235000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7분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737360" y="23317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 코드 리뷰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737360" y="265176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잘한 패턴 3개(화면 공유) + 공통 함정 2개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8640" y="3191256"/>
            <a:ext cx="6766560" cy="822960"/>
          </a:xfrm>
          <a:prstGeom prst="roundRect">
            <a:avLst>
              <a:gd name="adj" fmla="val 13333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777240" y="3282696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9분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737360" y="326440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4일 총정리 + C/C++ 연결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737360" y="3584448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슬라이드 2장으로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48640" y="4123944"/>
            <a:ext cx="6766560" cy="822960"/>
          </a:xfrm>
          <a:prstGeom prst="roundRect">
            <a:avLst>
              <a:gd name="adj" fmla="val 13333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777240" y="4215384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4분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737360" y="4197096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마감 확인·수료 인사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1737360" y="4517136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out/ 4종 + 개인 노트북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7543800" y="1325880"/>
            <a:ext cx="4114800" cy="3703320"/>
          </a:xfrm>
          <a:prstGeom prst="roundRect">
            <a:avLst>
              <a:gd name="adj" fmla="val 2963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 txBox="1"/>
          <p:nvPr/>
        </p:nvSpPr>
        <p:spPr>
          <a:xfrm>
            <a:off x="777240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루브릭 (Day 4 몫)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7772400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5항목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0058400" y="1828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7772400" y="21305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3×12 + 준실시간 8 + 그래프 6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7772400" y="2606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 1개 이상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10058400" y="2606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7772400" y="29077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 15 + 결과물 반영 5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7772400" y="3383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품질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10058400" y="3383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7772400" y="36850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 분리·이름·중복 제거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7772400" y="4160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시연·리뷰 참여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10058400" y="4160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7772400" y="446227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 성공 10 + "한 줄" 기여 5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7543800" y="5212080"/>
            <a:ext cx="4114800" cy="1005840"/>
          </a:xfrm>
          <a:prstGeom prst="roundRect">
            <a:avLst>
              <a:gd name="adj" fmla="val 10909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 txBox="1"/>
          <p:nvPr/>
        </p:nvSpPr>
        <p:spPr>
          <a:xfrm>
            <a:off x="7772400" y="53035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제출: Drive › Day4 › 제출 › 팀이름/ (out 4종+코드+README)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개인: Day4_이름.ipynb (제출 요약 실행)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워크시트: </a:t>
            </a:r>
            <a:endParaRPr lang="en-US" sz="1000" dirty="0"/>
          </a:p>
          <a:p>
            <a:pPr marL="0" indent="0">
              <a:buNone/>
            </a:pPr>
            <a:r>
              <a:rPr lang="en-US" sz="10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…/anim/worksheet.html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4 · HYUNDAI AI Insight Campus 온디바이스 AI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핵심 정리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항목 옆 번호는 다시 볼 애니메이션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11091672" cy="658368"/>
          </a:xfrm>
          <a:prstGeom prst="roundRect">
            <a:avLst>
              <a:gd name="adj" fmla="val 16667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777240" y="1600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 연산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2560320" y="16002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반복문이 C 내부로 — 그래서 빠르다 (%timeit 이 증인)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241280" y="16002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D4-1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286000"/>
            <a:ext cx="11091672" cy="658368"/>
          </a:xfrm>
          <a:prstGeom prst="roundRect">
            <a:avLst>
              <a:gd name="adj" fmla="val 16667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777240" y="2377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마스크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2560320" y="23774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조건이 데이터가 된다 — 고르고(⑥) 세고(⑦) 찾는다(argmax)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0241280" y="2377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D4-1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3063240"/>
            <a:ext cx="11091672" cy="658368"/>
          </a:xfrm>
          <a:prstGeom prst="roundRect">
            <a:avLst>
              <a:gd name="adj" fmla="val 16667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777240" y="3154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그래프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2560320" y="31546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그래프는 주장, 제목은 근거 — savefig 는 show 앞에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0241280" y="31546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3840480"/>
            <a:ext cx="11091672" cy="658368"/>
          </a:xfrm>
          <a:prstGeom prst="roundRect">
            <a:avLst>
              <a:gd name="adj" fmla="val 16667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777240" y="3931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DataFrame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2560320" y="39319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list of dict 의 완성형 — df[조건] 은 마스크와 같은 문법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0241280" y="39319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D4-2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4617720"/>
            <a:ext cx="11091672" cy="658368"/>
          </a:xfrm>
          <a:prstGeom prst="roundRect">
            <a:avLst>
              <a:gd name="adj" fmla="val 16667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 txBox="1"/>
          <p:nvPr/>
        </p:nvSpPr>
        <p:spPr>
          <a:xfrm>
            <a:off x="777240" y="47091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groupby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2560320" y="47091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분할→집계→결합 — stats_by_node 3일의 진화가 한 줄로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0241280" y="47091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D4-2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48640" y="5394960"/>
            <a:ext cx="11091672" cy="658368"/>
          </a:xfrm>
          <a:prstGeom prst="roundRect">
            <a:avLst>
              <a:gd name="adj" fmla="val 16667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777240" y="5486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제너레이터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2560320" y="54864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yield 로 멈췄다 이어서 — 스트림은 본질적으로 제너레이터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10241280" y="5486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D3-5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4 · HYUNDAI AI Insight Campus 온디바이스 AI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과목·장비 주간으로 가는 다리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여러분은 이미 절반을 알고 있습니다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486400" cy="4480560"/>
          </a:xfrm>
          <a:prstGeom prst="roundRect">
            <a:avLst>
              <a:gd name="adj" fmla="val 2449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777240" y="16002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/ C++ 과목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0574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NumPy 가 빨랐던 이유 = 안쪽이 C. 이제 그 안쪽으로 내려갑니다.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77240" y="2697480"/>
            <a:ext cx="5029200" cy="640080"/>
          </a:xfrm>
          <a:prstGeom prst="roundRect">
            <a:avLst>
              <a:gd name="adj" fmla="val 17143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1005840" y="2788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포인터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2880360" y="2788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Day 2 참조 모델 (02) 의 C 버전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77240" y="3447288"/>
            <a:ext cx="5029200" cy="640080"/>
          </a:xfrm>
          <a:prstGeom prst="roundRect">
            <a:avLst>
              <a:gd name="adj" fmla="val 17143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1005840" y="35387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구조체 struct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2880360" y="35387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Day 3 클래스의 C 버전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77240" y="4197096"/>
            <a:ext cx="5029200" cy="640080"/>
          </a:xfrm>
          <a:prstGeom prst="roundRect">
            <a:avLst>
              <a:gd name="adj" fmla="val 17143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1005840" y="428853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 포맷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2880360" y="428853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오늘 f-string 정렬의 조상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77240" y="4946904"/>
            <a:ext cx="5029200" cy="640080"/>
          </a:xfrm>
          <a:prstGeom prst="roundRect">
            <a:avLst>
              <a:gd name="adj" fmla="val 17143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1005840" y="503834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배열과 메모리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2880360" y="503834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오늘 ndarray 가 실제로 놓이는 곳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309360" y="146304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6537960" y="16002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장비 실습 주간 (Jetson·RPi)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6537960" y="2103120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6647688" y="2176272"/>
            <a:ext cx="471830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오늘의 코드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open("data/stream.txt") as f: ...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장비 주간 — 한 줄 치환 (라이브 시연)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 = serial.Serial("/dev/ttyUSB0", 9600)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6537960" y="3520440"/>
            <a:ext cx="4937760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read_frames 의 open 한 줄이 Serial 로 — 나머지는 그대로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pyserial·GPIO 는 장비 주간 첫 시간에 실행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OpenCV 카메라 프레임 = 오늘의 H×W×C 배열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팀 프로젝트 코드가 장비 실습의 출발 코드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4 · HYUNDAI AI Insight Campus 온디바이스 AI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22960" y="1188720"/>
            <a:ext cx="146304" cy="3108960"/>
          </a:xfrm>
          <a:prstGeom prst="roundRect">
            <a:avLst>
              <a:gd name="adj" fmla="val 50000"/>
            </a:avLst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128016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4일 완주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18745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 하나에서 — 저장되고, 집계되고, 그려지는 시스템까지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1280160" y="2606040"/>
            <a:ext cx="6949440" cy="566928"/>
          </a:xfrm>
          <a:prstGeom prst="roundRect">
            <a:avLst>
              <a:gd name="adj" fmla="val 1935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1508760" y="267919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2651760" y="267919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변수·비트·제어 — 값 하나를 다루는 법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1280160" y="3291840"/>
            <a:ext cx="6949440" cy="566928"/>
          </a:xfrm>
          <a:prstGeom prst="roundRect">
            <a:avLst>
              <a:gd name="adj" fmla="val 1935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1508760" y="336499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2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2651760" y="336499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자료구조·함수 — 담고, 다듬는 법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280160" y="3977640"/>
            <a:ext cx="6949440" cy="566928"/>
          </a:xfrm>
          <a:prstGeom prst="roundRect">
            <a:avLst>
              <a:gd name="adj" fmla="val 1935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1508760" y="405079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3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2651760" y="405079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클래스·파일 — 묶고, 남기는 법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1280160" y="4663440"/>
            <a:ext cx="6949440" cy="566928"/>
          </a:xfrm>
          <a:prstGeom prst="roundRect">
            <a:avLst>
              <a:gd name="adj" fmla="val 1935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1508760" y="473659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4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2651760" y="473659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NumPy·pandas·프로젝트 — 크게 다루고, 보여주는 법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549640" y="2606040"/>
            <a:ext cx="3108960" cy="2651760"/>
          </a:xfrm>
          <a:prstGeom prst="roundRect">
            <a:avLst>
              <a:gd name="adj" fmla="val 4138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8778240" y="2743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71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잊지 말 것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8778240" y="3063240"/>
            <a:ext cx="2697480" cy="2011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out/ 4종 제출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노트북 제출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워크시트 캡처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55778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수고하셨습니다. 다음 주, 여러분의 코드가 진짜 센서를 만납니다.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6217</Words>
  <Application>Microsoft Office PowerPoint</Application>
  <PresentationFormat>와이드스크린</PresentationFormat>
  <Paragraphs>672</Paragraphs>
  <Slides>23</Slides>
  <Notes>23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7" baseType="lpstr">
      <vt:lpstr>Malgun Gothic</vt:lpstr>
      <vt:lpstr>Arial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Day 4 — NumPy·pandas 입문 및 미니 프로젝트</dc:title>
  <dc:subject>PptxGenJS Presentation</dc:subject>
  <dc:creator>PptxGenJS</dc:creator>
  <cp:lastModifiedBy>jungin kim</cp:lastModifiedBy>
  <cp:revision>1</cp:revision>
  <dcterms:created xsi:type="dcterms:W3CDTF">2026-09-06T14:07:37Z</dcterms:created>
  <dcterms:modified xsi:type="dcterms:W3CDTF">2026-09-07T13:41:12Z</dcterms:modified>
</cp:coreProperties>
</file>