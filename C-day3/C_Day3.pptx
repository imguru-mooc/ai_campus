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280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BB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프로그래밍 언어 (C)  ·  3 / 4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구조체 · 비트 연산 · 함수 포인터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834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1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주 ESP32 레지스터를 만지는 문법이 오늘 4·5교시. 오늘 함정은 죽지 않고 조용히 틀린다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4206240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2A3C58"/>
          </a:solidFill>
          <a:ln w="15875">
            <a:solidFill>
              <a:srgbClr val="3E517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206240"/>
            <a:ext cx="23774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Reading 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108960" y="4480560"/>
            <a:ext cx="365760" cy="0"/>
          </a:xfrm>
          <a:prstGeom prst="line">
            <a:avLst/>
          </a:prstGeom>
          <a:noFill/>
          <a:ln w="19050">
            <a:solidFill>
              <a:srgbClr val="AEBBD1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474720" y="4206240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2A3C58"/>
          </a:solidFill>
          <a:ln w="15875">
            <a:solidFill>
              <a:srgbClr val="3E517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4206240"/>
            <a:ext cx="23774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 |= (1u&lt;&lt;3)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852160" y="4480560"/>
            <a:ext cx="365760" cy="0"/>
          </a:xfrm>
          <a:prstGeom prst="line">
            <a:avLst/>
          </a:prstGeom>
          <a:noFill/>
          <a:ln w="19050">
            <a:solidFill>
              <a:srgbClr val="AEBBD1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217920" y="4206240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2A3C58"/>
          </a:solidFill>
          <a:ln w="15875">
            <a:solidFill>
              <a:srgbClr val="3E517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4206240"/>
            <a:ext cx="23774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TABLE[st](t)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595360" y="4480560"/>
            <a:ext cx="365760" cy="0"/>
          </a:xfrm>
          <a:prstGeom prst="line">
            <a:avLst/>
          </a:prstGeom>
          <a:noFill/>
          <a:ln w="19050">
            <a:solidFill>
              <a:srgbClr val="AEBBD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961120" y="4206240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178A67"/>
          </a:solidFill>
          <a:ln w="15875">
            <a:solidFill>
              <a:srgbClr val="178A6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961120" y="4206240"/>
            <a:ext cx="23774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GPIO=0x6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B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HYUNDAI AI Insight Campus 온디바이스 AI  ·  2026. 9. 9 (수)  ·  8시간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3  ·  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8교시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오전은 데이터 모양(구조체·비트), 오후는 코드 모양(매크로·함수 포인터·상태 머신)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057400"/>
            <a:ext cx="548640" cy="548640"/>
          </a:xfrm>
          <a:prstGeom prst="ellipse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구조체 기초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-&gt; 통째 복사, const T *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83280" y="18288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11880" y="2057400"/>
            <a:ext cx="548640" cy="548640"/>
          </a:xfrm>
          <a:prstGeom prst="ellipse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1188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패딩·union·enum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611880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정렬 규칙, pack, ST_COUNT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18288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46520" y="2057400"/>
            <a:ext cx="548640" cy="548640"/>
          </a:xfrm>
          <a:prstGeom prst="ellipse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4652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비트 연산 기초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&amp; | ^ ~ &lt;&lt; &gt;&gt;, 4 관용구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052560" y="18288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81160" y="2057400"/>
            <a:ext cx="548640" cy="548640"/>
          </a:xfrm>
          <a:prstGeom prst="ellipse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28116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28116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비트 연산 실전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281160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GPIO 매크로, 플래그, XOR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02336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" y="4251960"/>
            <a:ext cx="548640" cy="548640"/>
          </a:xfrm>
          <a:prstGeom prst="ellipse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777240" y="4937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매크로·volatile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77240" y="5303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괄호 셋, -DDEBUG, 메모리 맵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383280" y="402336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11880" y="4251960"/>
            <a:ext cx="548640" cy="548640"/>
          </a:xfrm>
          <a:prstGeom prst="ellipse">
            <a:avLst/>
          </a:prstGeom>
          <a:solidFill>
            <a:srgbClr val="178A67"/>
          </a:solidFill>
          <a:ln w="12700">
            <a:solidFill>
              <a:srgbClr val="178A6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61188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3611880" y="4937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 포인터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3611880" y="5303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선언 읽기, 테이블, qsort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217920" y="402336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46520" y="4251960"/>
            <a:ext cx="548640" cy="548640"/>
          </a:xfrm>
          <a:prstGeom prst="ellipse">
            <a:avLst/>
          </a:prstGeom>
          <a:solidFill>
            <a:srgbClr val="178A67"/>
          </a:solidFill>
          <a:ln w="12700">
            <a:solidFill>
              <a:srgbClr val="178A67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4652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6446520" y="4937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콜백·상태 머신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6446520" y="5303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 패턴, TABLE[st](t)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9052560" y="402336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281160" y="4251960"/>
            <a:ext cx="548640" cy="548640"/>
          </a:xfrm>
          <a:prstGeom prst="ellipse">
            <a:avLst/>
          </a:prstGeom>
          <a:solidFill>
            <a:srgbClr val="D6452E"/>
          </a:solidFill>
          <a:ln w="12700">
            <a:solidFill>
              <a:srgbClr val="D6452E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28116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800" dirty="0"/>
          </a:p>
        </p:txBody>
      </p:sp>
      <p:sp>
        <p:nvSpPr>
          <p:cNvPr id="43" name="Text 41"/>
          <p:cNvSpPr txBox="1"/>
          <p:nvPr/>
        </p:nvSpPr>
        <p:spPr>
          <a:xfrm>
            <a:off x="9281160" y="4937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실습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9281160" y="5303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온도 조절기 컨트롤러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3  ·  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 · 09:00–09:50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구조체 — 묶고, 복사하고, 가리키기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852160" cy="4023360"/>
          </a:xfrm>
          <a:prstGeom prst="roundRect">
            <a:avLst>
              <a:gd name="adj" fmla="val 1364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63040"/>
            <a:ext cx="55778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 struct { double t; int h; int d; } Reading;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Reading r = {25.3, 60, 120};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Reading s = {.d = 150, .t = 36.9};   // 빠진 h 는 0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Reading c = r;         // 16바이트 통째 복사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c.t = 99.0;            // r.t 는 25.3 그대로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Reading *p = &amp;r;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p-&gt;h  ==  (*p).h       // 60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bump(Reading r)  { r.t += 1; }   // 사본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bump(Reading *r) { r-&gt;t += 1; }  // 원본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76656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@0x..40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766560" y="155448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DCE6FA"/>
          </a:solidFill>
          <a:ln w="15875">
            <a:solidFill>
              <a:srgbClr val="2457C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66560" y="1554480"/>
            <a:ext cx="18288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25.3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22128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8B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595360" y="1554480"/>
            <a:ext cx="914400" cy="640080"/>
          </a:xfrm>
          <a:prstGeom prst="roundRect">
            <a:avLst>
              <a:gd name="adj" fmla="val 11429"/>
            </a:avLst>
          </a:prstGeom>
          <a:solidFill>
            <a:srgbClr val="DDF2EA"/>
          </a:solidFill>
          <a:ln w="15875">
            <a:solidFill>
              <a:srgbClr val="178A6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95360" y="1554480"/>
            <a:ext cx="9144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595360" y="22128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4B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509760" y="1554480"/>
            <a:ext cx="914400" cy="640080"/>
          </a:xfrm>
          <a:prstGeom prst="roundRect">
            <a:avLst>
              <a:gd name="adj" fmla="val 11429"/>
            </a:avLst>
          </a:prstGeom>
          <a:solidFill>
            <a:srgbClr val="FBF0D3"/>
          </a:solidFill>
          <a:ln w="15875">
            <a:solidFill>
              <a:srgbClr val="C98A1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509760" y="1554480"/>
            <a:ext cx="9144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509760" y="22128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4B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1417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8595360" y="1417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+8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9509760" y="1417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+12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0789920" y="1554480"/>
            <a:ext cx="9144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875">
            <a:solidFill>
              <a:srgbClr val="1B2A4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789920" y="1554480"/>
            <a:ext cx="9144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0x..40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0789920" y="22128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8B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0789920" y="1874520"/>
            <a:ext cx="-365760" cy="0"/>
          </a:xfrm>
          <a:prstGeom prst="line">
            <a:avLst/>
          </a:prstGeom>
          <a:noFill/>
          <a:ln w="19050">
            <a:solidFill>
              <a:srgbClr val="2457C5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6766560" y="2743200"/>
            <a:ext cx="4937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필드 이름은 사라지고 오프셋만 남는다. p-&gt;h 는 "p 주소 +8 을 int 로 읽어라"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구조체 대입 = memcpy. 배열은 = 로 복사 안 되지만 구조체에 싸면 된다 (안의 배열까지)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== 비교는 없다. 필드별 비교 함수. memcmp 는 패딩 때문에 못 믿는다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 인자는 const T * 가 기본 — 어제의 "원본을 바꾸려면 주소"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126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D3-1 구조체 메모리 뷰어 — c = r, p-&gt;h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3  ·  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2교시 · 10:00–10:50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가 아니라 16 — 정렬과 패딩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2교시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188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{ char id; int v; char f; }  →  sizeof 12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420624" cy="457200"/>
          </a:xfrm>
          <a:prstGeom prst="roundRect">
            <a:avLst>
              <a:gd name="adj" fmla="val 17391"/>
            </a:avLst>
          </a:prstGeom>
          <a:solidFill>
            <a:srgbClr val="DCE6FA"/>
          </a:solidFill>
          <a:ln w="15875">
            <a:solidFill>
              <a:srgbClr val="2457C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554480"/>
            <a:ext cx="42062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005840" y="1554480"/>
            <a:ext cx="420624" cy="457200"/>
          </a:xfrm>
          <a:prstGeom prst="roundRect">
            <a:avLst>
              <a:gd name="adj" fmla="val 17391"/>
            </a:avLst>
          </a:prstGeom>
          <a:solidFill>
            <a:srgbClr val="FBE3DF"/>
          </a:solidFill>
          <a:ln w="15875">
            <a:solidFill>
              <a:srgbClr val="D645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05840" y="1554480"/>
            <a:ext cx="42062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463040" y="1554480"/>
            <a:ext cx="420624" cy="457200"/>
          </a:xfrm>
          <a:prstGeom prst="roundRect">
            <a:avLst>
              <a:gd name="adj" fmla="val 17391"/>
            </a:avLst>
          </a:prstGeom>
          <a:solidFill>
            <a:srgbClr val="FBE3DF"/>
          </a:solidFill>
          <a:ln w="15875">
            <a:solidFill>
              <a:srgbClr val="D645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463040" y="1554480"/>
            <a:ext cx="42062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920240" y="1554480"/>
            <a:ext cx="420624" cy="457200"/>
          </a:xfrm>
          <a:prstGeom prst="roundRect">
            <a:avLst>
              <a:gd name="adj" fmla="val 17391"/>
            </a:avLst>
          </a:prstGeom>
          <a:solidFill>
            <a:srgbClr val="FBE3DF"/>
          </a:solidFill>
          <a:ln w="15875">
            <a:solidFill>
              <a:srgbClr val="D645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920240" y="1554480"/>
            <a:ext cx="42062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377440" y="1554480"/>
            <a:ext cx="420624" cy="457200"/>
          </a:xfrm>
          <a:prstGeom prst="roundRect">
            <a:avLst>
              <a:gd name="adj" fmla="val 17391"/>
            </a:avLst>
          </a:prstGeom>
          <a:solidFill>
            <a:srgbClr val="DDF2EA"/>
          </a:solidFill>
          <a:ln w="15875">
            <a:solidFill>
              <a:srgbClr val="178A6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377440" y="1554480"/>
            <a:ext cx="42062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834640" y="1554480"/>
            <a:ext cx="420624" cy="457200"/>
          </a:xfrm>
          <a:prstGeom prst="roundRect">
            <a:avLst>
              <a:gd name="adj" fmla="val 17391"/>
            </a:avLst>
          </a:prstGeom>
          <a:solidFill>
            <a:srgbClr val="DDF2EA"/>
          </a:solidFill>
          <a:ln w="15875">
            <a:solidFill>
              <a:srgbClr val="178A6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834640" y="1554480"/>
            <a:ext cx="42062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91840" y="1554480"/>
            <a:ext cx="420624" cy="457200"/>
          </a:xfrm>
          <a:prstGeom prst="roundRect">
            <a:avLst>
              <a:gd name="adj" fmla="val 17391"/>
            </a:avLst>
          </a:prstGeom>
          <a:solidFill>
            <a:srgbClr val="DDF2EA"/>
          </a:solidFill>
          <a:ln w="15875">
            <a:solidFill>
              <a:srgbClr val="178A6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291840" y="1554480"/>
            <a:ext cx="42062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749040" y="1554480"/>
            <a:ext cx="420624" cy="457200"/>
          </a:xfrm>
          <a:prstGeom prst="roundRect">
            <a:avLst>
              <a:gd name="adj" fmla="val 17391"/>
            </a:avLst>
          </a:prstGeom>
          <a:solidFill>
            <a:srgbClr val="DDF2EA"/>
          </a:solidFill>
          <a:ln w="15875">
            <a:solidFill>
              <a:srgbClr val="178A6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749040" y="1554480"/>
            <a:ext cx="42062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206240" y="1554480"/>
            <a:ext cx="420624" cy="457200"/>
          </a:xfrm>
          <a:prstGeom prst="roundRect">
            <a:avLst>
              <a:gd name="adj" fmla="val 17391"/>
            </a:avLst>
          </a:prstGeom>
          <a:solidFill>
            <a:srgbClr val="DCE6FA"/>
          </a:solidFill>
          <a:ln w="15875">
            <a:solidFill>
              <a:srgbClr val="2457C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206240" y="1554480"/>
            <a:ext cx="42062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663440" y="1554480"/>
            <a:ext cx="420624" cy="457200"/>
          </a:xfrm>
          <a:prstGeom prst="roundRect">
            <a:avLst>
              <a:gd name="adj" fmla="val 17391"/>
            </a:avLst>
          </a:prstGeom>
          <a:solidFill>
            <a:srgbClr val="FBE3DF"/>
          </a:solidFill>
          <a:ln w="15875">
            <a:solidFill>
              <a:srgbClr val="D6452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663440" y="1554480"/>
            <a:ext cx="42062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120640" y="1554480"/>
            <a:ext cx="420624" cy="457200"/>
          </a:xfrm>
          <a:prstGeom prst="roundRect">
            <a:avLst>
              <a:gd name="adj" fmla="val 17391"/>
            </a:avLst>
          </a:prstGeom>
          <a:solidFill>
            <a:srgbClr val="FBE3DF"/>
          </a:solidFill>
          <a:ln w="15875">
            <a:solidFill>
              <a:srgbClr val="D6452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120640" y="1554480"/>
            <a:ext cx="42062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577840" y="1554480"/>
            <a:ext cx="420624" cy="457200"/>
          </a:xfrm>
          <a:prstGeom prst="roundRect">
            <a:avLst>
              <a:gd name="adj" fmla="val 17391"/>
            </a:avLst>
          </a:prstGeom>
          <a:solidFill>
            <a:srgbClr val="FBE3DF"/>
          </a:solidFill>
          <a:ln w="15875">
            <a:solidFill>
              <a:srgbClr val="D6452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577840" y="1554480"/>
            <a:ext cx="42062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2194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{ int v; char id; char f; }  →  sizeof 8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2560320"/>
            <a:ext cx="420624" cy="457200"/>
          </a:xfrm>
          <a:prstGeom prst="roundRect">
            <a:avLst>
              <a:gd name="adj" fmla="val 17391"/>
            </a:avLst>
          </a:prstGeom>
          <a:solidFill>
            <a:srgbClr val="DDF2EA"/>
          </a:solidFill>
          <a:ln w="15875">
            <a:solidFill>
              <a:srgbClr val="178A6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48640" y="2560320"/>
            <a:ext cx="42062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005840" y="2560320"/>
            <a:ext cx="420624" cy="457200"/>
          </a:xfrm>
          <a:prstGeom prst="roundRect">
            <a:avLst>
              <a:gd name="adj" fmla="val 17391"/>
            </a:avLst>
          </a:prstGeom>
          <a:solidFill>
            <a:srgbClr val="DDF2EA"/>
          </a:solidFill>
          <a:ln w="15875">
            <a:solidFill>
              <a:srgbClr val="178A67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05840" y="2560320"/>
            <a:ext cx="42062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463040" y="2560320"/>
            <a:ext cx="420624" cy="457200"/>
          </a:xfrm>
          <a:prstGeom prst="roundRect">
            <a:avLst>
              <a:gd name="adj" fmla="val 17391"/>
            </a:avLst>
          </a:prstGeom>
          <a:solidFill>
            <a:srgbClr val="DDF2EA"/>
          </a:solidFill>
          <a:ln w="15875">
            <a:solidFill>
              <a:srgbClr val="178A67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463040" y="2560320"/>
            <a:ext cx="42062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920240" y="2560320"/>
            <a:ext cx="420624" cy="457200"/>
          </a:xfrm>
          <a:prstGeom prst="roundRect">
            <a:avLst>
              <a:gd name="adj" fmla="val 17391"/>
            </a:avLst>
          </a:prstGeom>
          <a:solidFill>
            <a:srgbClr val="DDF2EA"/>
          </a:solidFill>
          <a:ln w="15875">
            <a:solidFill>
              <a:srgbClr val="178A67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920240" y="2560320"/>
            <a:ext cx="42062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377440" y="2560320"/>
            <a:ext cx="420624" cy="457200"/>
          </a:xfrm>
          <a:prstGeom prst="roundRect">
            <a:avLst>
              <a:gd name="adj" fmla="val 17391"/>
            </a:avLst>
          </a:prstGeom>
          <a:solidFill>
            <a:srgbClr val="DCE6FA"/>
          </a:solidFill>
          <a:ln w="15875">
            <a:solidFill>
              <a:srgbClr val="2457C5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2377440" y="2560320"/>
            <a:ext cx="42062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834640" y="2560320"/>
            <a:ext cx="420624" cy="457200"/>
          </a:xfrm>
          <a:prstGeom prst="roundRect">
            <a:avLst>
              <a:gd name="adj" fmla="val 17391"/>
            </a:avLst>
          </a:prstGeom>
          <a:solidFill>
            <a:srgbClr val="DCE6FA"/>
          </a:solidFill>
          <a:ln w="15875">
            <a:solidFill>
              <a:srgbClr val="2457C5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2834640" y="2560320"/>
            <a:ext cx="42062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291840" y="2560320"/>
            <a:ext cx="420624" cy="457200"/>
          </a:xfrm>
          <a:prstGeom prst="roundRect">
            <a:avLst>
              <a:gd name="adj" fmla="val 17391"/>
            </a:avLst>
          </a:prstGeom>
          <a:solidFill>
            <a:srgbClr val="FBE3DF"/>
          </a:solidFill>
          <a:ln w="15875">
            <a:solidFill>
              <a:srgbClr val="D6452E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291840" y="2560320"/>
            <a:ext cx="42062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749040" y="2560320"/>
            <a:ext cx="420624" cy="457200"/>
          </a:xfrm>
          <a:prstGeom prst="roundRect">
            <a:avLst>
              <a:gd name="adj" fmla="val 17391"/>
            </a:avLst>
          </a:prstGeom>
          <a:solidFill>
            <a:srgbClr val="FBE3DF"/>
          </a:solidFill>
          <a:ln w="15875">
            <a:solidFill>
              <a:srgbClr val="D6452E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3749040" y="2560320"/>
            <a:ext cx="42062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48640" y="3200400"/>
            <a:ext cx="5852160" cy="1188720"/>
          </a:xfrm>
          <a:prstGeom prst="rect">
            <a:avLst/>
          </a:prstGeom>
          <a:solidFill>
            <a:srgbClr val="DCE6FA"/>
          </a:solidFill>
          <a:ln w="12700">
            <a:solidFill>
              <a:srgbClr val="DCE6F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48640" y="3200400"/>
            <a:ext cx="54864" cy="1188720"/>
          </a:xfrm>
          <a:prstGeom prst="rect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49808" y="3246120"/>
            <a:ext cx="5532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① 각 필드는 자기 크기의 배수 주소에서 시작 (int 는 4, double 은 8)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② 전체 크기는 가장 큰 필드의 배수 (배열로 늘어놔도 ①이 유지되게)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큰 것부터 놓으면 패딩이 사라진다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548640" y="4526280"/>
            <a:ext cx="5852160" cy="1005840"/>
          </a:xfrm>
          <a:prstGeom prst="rect">
            <a:avLst/>
          </a:prstGeom>
          <a:solidFill>
            <a:srgbClr val="FBF0D3"/>
          </a:solidFill>
          <a:ln w="12700">
            <a:solidFill>
              <a:srgbClr val="FBF0D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48640" y="4526280"/>
            <a:ext cx="54864" cy="1005840"/>
          </a:xfrm>
          <a:prstGeom prst="rect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49808" y="4572000"/>
            <a:ext cx="5532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#pragma pack(1): 패딩 0 이지만 정렬 안 된 접근 → x86 느려짐, 일부 MCU 죽음. 프레임 캐스팅 (Frame *)buf 의 유혹 — 안전한 답은 바이트 조립(4교시)</a:t>
            </a:r>
            <a:endParaRPr lang="en-US" sz="1250" dirty="0"/>
          </a:p>
        </p:txBody>
      </p:sp>
      <p:sp>
        <p:nvSpPr>
          <p:cNvPr id="55" name="Text 53"/>
          <p:cNvSpPr txBox="1"/>
          <p:nvPr/>
        </p:nvSpPr>
        <p:spPr>
          <a:xfrm>
            <a:off x="6766560" y="1325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union — 같은 자리를 세 이름으로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6766560" y="1737360"/>
            <a:ext cx="4846320" cy="1737360"/>
          </a:xfrm>
          <a:prstGeom prst="roundRect">
            <a:avLst>
              <a:gd name="adj" fmla="val 3158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6903720" y="182880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 union { uint32_t w; uint8_t b[4]; float f; } Word;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 x;  x.w = 0x11223344;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x.b[0..3]   // 44 33 22 11  (LE)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x.f = 1.0f; x.w   // 0x3F800000 (IEEE 754)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sizeof(Word)      // 4  (가장 큰 멤버)</a:t>
            </a:r>
            <a:endParaRPr lang="en-US" sz="1100" dirty="0"/>
          </a:p>
        </p:txBody>
      </p:sp>
      <p:sp>
        <p:nvSpPr>
          <p:cNvPr id="58" name="Text 56"/>
          <p:cNvSpPr txBox="1"/>
          <p:nvPr/>
        </p:nvSpPr>
        <p:spPr>
          <a:xfrm>
            <a:off x="6766560" y="3611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enum — 상태에 이름을, 그리고 개수를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6766560" y="4023360"/>
            <a:ext cx="4846320" cy="1737360"/>
          </a:xfrm>
          <a:prstGeom prst="roundRect">
            <a:avLst>
              <a:gd name="adj" fmla="val 3158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6903720" y="411480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 enum { ST_IDLE, ST_HEAT, ST_COOL,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ST_ALERT, ST_COUNT } State;   // 0..3, 4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char *NAME[ST_COUNT] = {"IDLE",...};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 = 0; i &lt; ST_COUNT; i++) ...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 st = 99;   // 컴파일됨! enum 은 int — default 로 방어</a:t>
            </a:r>
            <a:endParaRPr lang="en-US" sz="1100" dirty="0"/>
          </a:p>
        </p:txBody>
      </p:sp>
      <p:sp>
        <p:nvSpPr>
          <p:cNvPr id="61" name="Text 59"/>
          <p:cNvSpPr txBox="1"/>
          <p:nvPr/>
        </p:nvSpPr>
        <p:spPr>
          <a:xfrm>
            <a:off x="548640" y="6126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D3-2 패딩 실험실 — 필드 순서 바꾸기, pack 토글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3  ·  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3교시 · 11:00–11:50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비트 연산 — 여섯 연산자, 네 관용구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3교시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17320"/>
            <a:ext cx="10972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연산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1417320"/>
            <a:ext cx="11887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834640" y="1417320"/>
            <a:ext cx="17373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1783080"/>
            <a:ext cx="5852160" cy="438912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1783080"/>
            <a:ext cx="109728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&amp; m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645920" y="1783080"/>
            <a:ext cx="11887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 다 1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834640" y="1783080"/>
            <a:ext cx="173736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마스크로 남기기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1783080"/>
            <a:ext cx="18288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&amp; 0x0F → 하위 4비트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240280"/>
            <a:ext cx="58521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2240280"/>
            <a:ext cx="109728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| m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645920" y="2240280"/>
            <a:ext cx="11887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하나라도 1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834640" y="2240280"/>
            <a:ext cx="173736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켜기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0" y="2240280"/>
            <a:ext cx="18288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| (1u&lt;&lt;3)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2697480"/>
            <a:ext cx="5852160" cy="438912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2697480"/>
            <a:ext cx="109728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^ m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645920" y="2697480"/>
            <a:ext cx="11887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다르면 1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2834640" y="2697480"/>
            <a:ext cx="173736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토글·체크섬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0" y="2697480"/>
            <a:ext cx="18288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^ 0xFF → 반전, a^b^b == 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3154680"/>
            <a:ext cx="58521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" y="3154680"/>
            <a:ext cx="109728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~a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645920" y="3154680"/>
            <a:ext cx="11887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반전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2834640" y="3154680"/>
            <a:ext cx="173736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 NOT 마스크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0" y="3154680"/>
            <a:ext cx="18288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~(1u&lt;&lt;3)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3611880"/>
            <a:ext cx="5852160" cy="438912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8640" y="3611880"/>
            <a:ext cx="109728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&lt;&lt; n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1645920" y="3611880"/>
            <a:ext cx="11887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n칸 왼쪽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2834640" y="3611880"/>
            <a:ext cx="173736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×2ⁿ, 자리 올리기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0" y="3611880"/>
            <a:ext cx="18288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buf[1] &lt;&lt; 8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4069080"/>
            <a:ext cx="58521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48640" y="4069080"/>
            <a:ext cx="109728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&gt;&gt; n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1645920" y="4069080"/>
            <a:ext cx="11887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n칸 오른쪽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2834640" y="4069080"/>
            <a:ext cx="173736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÷2ⁿ, 자리 내리기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0" y="4069080"/>
            <a:ext cx="18288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(reg &gt;&gt; 5) &amp; 1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766560" y="1371600"/>
            <a:ext cx="4846320" cy="2743200"/>
          </a:xfrm>
          <a:prstGeom prst="roundRect">
            <a:avLst>
              <a:gd name="adj" fmla="val 2000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903720" y="146304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 |=  (1u &lt;&lt; n);   // 켜기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 &amp;= ~(1u &lt;&lt; n);   // 끄기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8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 ^=  (1u &lt;&lt; n);   // 토글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(reg &gt;&gt; n) &amp; 1       // 검사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필드 쓰기: 지우고 넣는다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 = (reg &amp; ~(0xFFu &lt;&lt; 8)) | (0xABu &lt;&lt; 8);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0x12345678 → 0x1234AB78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766560" y="4251960"/>
            <a:ext cx="4846320" cy="1371600"/>
          </a:xfrm>
          <a:prstGeom prst="rect">
            <a:avLst/>
          </a:prstGeom>
          <a:solidFill>
            <a:srgbClr val="FBF0D3"/>
          </a:solidFill>
          <a:ln w="12700">
            <a:solidFill>
              <a:srgbClr val="FBF0D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0" y="4251960"/>
            <a:ext cx="54864" cy="1371600"/>
          </a:xfrm>
          <a:prstGeom prst="rect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967728" y="4297680"/>
            <a:ext cx="4526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uint8_t a; a &lt;&lt; 1 은 356 — int 로 정수 승격(Day 1). 8비트로 자르려면 (uint8_t)(a &lt;&lt; 1). ~a 도 마찬가지.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1 &lt;&lt; 31 은 signed 오버플로. 레지스터는 항상 1u. 음수 &gt;&gt; 는 구현 정의 — 비트 연산은 unsigned 로만.</a:t>
            </a:r>
            <a:endParaRPr lang="en-US" sz="125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6126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D3-3 비트 연산기 — 비트 클릭, 프리셋 4개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3  ·  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 · 13:00–13:50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 GPIO — 비트가 핀이다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주엔 GPIO_OUT 한 줄만 진짜 주소로 바뀐다. 매크로는 그대로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6035040" cy="3383280"/>
          </a:xfrm>
          <a:prstGeom prst="roundRect">
            <a:avLst>
              <a:gd name="adj" fmla="val 1622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828800"/>
            <a:ext cx="5760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extern uint32_t GPIO_OUT;   // MCU: (*(volatile uint32_t *)0x3FF44004)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PIN_LED_R 2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PIN_LED_G 4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GPIO_SET(pin)    (GPIO_OUT |=  (1u &lt;&lt; (pin)))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GPIO_CLR(pin)    (GPIO_OUT &amp;= ~(1u &lt;&lt; (pin)))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8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GPIO_TOGGLE(pin) (GPIO_OUT ^=  (1u &lt;&lt; (pin)))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GPIO_READ(pin)   ((GPIO_IN &gt;&gt; (pin)) &amp; 1u)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GPIO_SET(PIN_LED_R);   // 0x00000004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GPIO_SET(PIN_LED_G);   // 0x00000014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GPIO_CLR(PIN_LED_R);   // 0x00000010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858000" y="18288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C9D1D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0" y="23591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406640" y="18288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C9D1D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066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406640" y="23591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955280" y="18288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C9D1D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5528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0" y="23591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8503920" y="18288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457C5"/>
          </a:solidFill>
          <a:ln w="15875">
            <a:solidFill>
              <a:srgbClr val="2457C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50392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503920" y="23591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9052560" y="18288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C9D1D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05256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052560" y="23591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9601200" y="18288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C9D1D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60120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601200" y="23591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0149840" y="18288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C9D1D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1498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0149840" y="23591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0698480" y="18288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C9D1D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69848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0698480" y="23591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6858000" y="1508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GPIO_OUT 하위 8비트 = 0x10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549640" y="2697480"/>
            <a:ext cx="411480" cy="411480"/>
          </a:xfrm>
          <a:prstGeom prst="ellipse">
            <a:avLst/>
          </a:prstGeom>
          <a:solidFill>
            <a:srgbClr val="3BE07F"/>
          </a:solidFill>
          <a:ln w="12700">
            <a:solidFill>
              <a:srgbClr val="178A67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229600" y="31272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LED_G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9646920" y="2697480"/>
            <a:ext cx="411480" cy="411480"/>
          </a:xfrm>
          <a:prstGeom prst="ellipse">
            <a:avLst/>
          </a:prstGeom>
          <a:solidFill>
            <a:srgbClr val="EEEEEE"/>
          </a:solidFill>
          <a:ln w="12700">
            <a:solidFill>
              <a:srgbClr val="C9D1D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326880" y="31272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LED_R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858000" y="3520440"/>
            <a:ext cx="4754880" cy="2103120"/>
          </a:xfrm>
          <a:prstGeom prst="roundRect">
            <a:avLst>
              <a:gd name="adj" fmla="val 2609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995160" y="361188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D=120 = 0b0111_1000 를 플래그로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FLAG_ALARM  (1u &lt;&lt; 5)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LEVEL_MASK  0x0Fu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!!(d &amp; FLAG_ALARM)   // 1  (32 가 아니라)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&amp; LEVEL_MASK       // 8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XOR 체크섬 $...*hh  (NMEA 방식)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(; *s &amp;&amp; *s != '*'; s++) cs ^= *s;   // 2C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6126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D3-4 가상 GPIO 레지스터 — SET/CLR/TOGGLE/READ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3  ·  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5교시 · 14:00–14:50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매크로는 함수가 아니라 텍스트 치환이다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5교시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852160" cy="3108960"/>
          </a:xfrm>
          <a:prstGeom prst="roundRect">
            <a:avLst>
              <a:gd name="adj" fmla="val 1765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63040"/>
            <a:ext cx="5577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SQ_BAD(x)  x * x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SQ(x)      ((x) * (x))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MAX(a, b)  ((a) &gt; (b) ? (a) : (b))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SQ_BAD(1 + 2)   // 1 + 2 * 1 + 2 = 5   (9 아님)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SQ(1 + 2)       // ((1+2) * (1+2)) = 9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 / SQ(5)     // 전체 괄호 없으면 100/5*5 = 100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 = 3;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MAX(i++, 2)     // → 4, i = 5 !!  두 번 평가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4617720"/>
            <a:ext cx="5852160" cy="1005840"/>
          </a:xfrm>
          <a:prstGeom prst="rect">
            <a:avLst/>
          </a:prstGeom>
          <a:solidFill>
            <a:srgbClr val="FBF0D3"/>
          </a:solidFill>
          <a:ln w="12700">
            <a:solidFill>
              <a:srgbClr val="FBF0D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4617720"/>
            <a:ext cx="54864" cy="1005840"/>
          </a:xfrm>
          <a:prstGeom prst="rect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4663440"/>
            <a:ext cx="5532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셋: 인자마다 괄호 · 전체에 괄호 · 부수효과 있는 인자 금지.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타입 검사도 없다 → 요즘은 static inline 함수 (bits.h 의 print_bin8).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766560" y="1371600"/>
            <a:ext cx="4846320" cy="2743200"/>
          </a:xfrm>
          <a:prstGeom prst="roundRect">
            <a:avLst>
              <a:gd name="adj" fmla="val 2000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03720" y="146304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#ifdef DEBUG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define LOG(fmt, ...) \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fprintf(stderr, "[%s:%d] " fmt "\n", \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__FILE__, __LINE__, ##__VA_ARGS__)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#else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define LOG(fmt, ...) ((void)0)   // 코드가 사라진다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#endif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gcc dbg.c            # done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gcc -DDEBUG dbg.c    # [dbg.c:11] temp=37 ...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766560" y="4251960"/>
            <a:ext cx="4846320" cy="914400"/>
          </a:xfrm>
          <a:prstGeom prst="rect">
            <a:avLst/>
          </a:prstGeom>
          <a:solidFill>
            <a:srgbClr val="DCE6FA"/>
          </a:solidFill>
          <a:ln w="12700">
            <a:solidFill>
              <a:srgbClr val="DCE6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0" y="4251960"/>
            <a:ext cx="54864" cy="914400"/>
          </a:xfrm>
          <a:prstGeom prst="rect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67728" y="429768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-DDEBUG = 소스 첫 줄 #define DEBUG. 릴리스에서 LOG 는 플래시·속도 비용 0. #if defined(ESP32) 플랫폼 분기도 같은 문법.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126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D3-5 매크로 전개기 — 치환 → 우선순위 → 계산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3  ·  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5교시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volatile — "매번 진짜로 읽어라"  ·  메모리 맵 I/O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5교시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852160" cy="2651760"/>
          </a:xfrm>
          <a:prstGeom prst="roundRect">
            <a:avLst>
              <a:gd name="adj" fmla="val 2069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63040"/>
            <a:ext cx="5577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uint32_t          plain_flag = 0;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volatile uint32_t hw_flag    = 0;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(plain_flag == 0) {}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-O2: "아무도 안 바꾸니 영원히 참" → 무한 루프로 최적화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(hw_flag == 0) {}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volatile: 매번 메모리에서 다시 읽음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160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volatile 이 필요한 곳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599432"/>
            <a:ext cx="219456" cy="219456"/>
          </a:xfrm>
          <a:prstGeom prst="ellipse">
            <a:avLst/>
          </a:prstGeom>
          <a:solidFill>
            <a:srgbClr val="178A67"/>
          </a:solidFill>
          <a:ln w="12700">
            <a:solidFill>
              <a:srgbClr val="178A6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4526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하드웨어 레지스터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965192"/>
            <a:ext cx="219456" cy="219456"/>
          </a:xfrm>
          <a:prstGeom prst="ellipse">
            <a:avLst/>
          </a:prstGeom>
          <a:solidFill>
            <a:srgbClr val="178A67"/>
          </a:solidFill>
          <a:ln w="12700">
            <a:solidFill>
              <a:srgbClr val="178A6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4892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인터럽트 핸들러가 바꾸는 변수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5330952"/>
            <a:ext cx="219456" cy="219456"/>
          </a:xfrm>
          <a:prstGeom prst="ellipse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5257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스레드의 플래그 (동기화는 별도)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696712"/>
            <a:ext cx="219456" cy="219456"/>
          </a:xfrm>
          <a:prstGeom prst="ellipse">
            <a:avLst/>
          </a:prstGeom>
          <a:solidFill>
            <a:srgbClr val="D6452E"/>
          </a:solidFill>
          <a:ln w="12700">
            <a:solidFill>
              <a:srgbClr val="D6452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5623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루프 카운터 — 최적화만 막힘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1325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주소를 레지스터로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766560" y="1737360"/>
            <a:ext cx="4846320" cy="2286000"/>
          </a:xfrm>
          <a:prstGeom prst="roundRect">
            <a:avLst>
              <a:gd name="adj" fmla="val 2400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03720" y="1828800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실제 ESP32 (다음 주)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GPIO_OUT_REG (*(volatile uint32_t *)0x3FF44004)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GPIO_OUT_REG |= (1u &lt;&lt; 2);   // 그 주소에 쓰기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읽는 법: 주소 → volatile uint32_t 포인터로 캐스팅 → 역참조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그러면 변수처럼 |= &amp;= 를 쓸 수 있다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66560" y="4160520"/>
            <a:ext cx="4846320" cy="1005840"/>
          </a:xfrm>
          <a:prstGeom prst="rect">
            <a:avLst/>
          </a:prstGeom>
          <a:solidFill>
            <a:srgbClr val="DDF2EA"/>
          </a:solidFill>
          <a:ln w="12700">
            <a:solidFill>
              <a:srgbClr val="DDF2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66560" y="4160520"/>
            <a:ext cx="54864" cy="1005840"/>
          </a:xfrm>
          <a:prstGeom prst="rect">
            <a:avLst/>
          </a:prstGeom>
          <a:solidFill>
            <a:srgbClr val="178A67"/>
          </a:solidFill>
          <a:ln w="12700">
            <a:solidFill>
              <a:srgbClr val="178A6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967728" y="420624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 gpio.h 의 extern uint32_t GPIO_OUT 한 줄만 이걸로 바꾸면 실제 하드웨어 코드. 하드웨어 의존을 한 파일 한 줄에 가두는 것이 이식성의 구조.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3  ·  9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6교시 · 15:00–15:50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함수도 주소가 있다 — 함수 포인터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6교시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852160" cy="3291840"/>
          </a:xfrm>
          <a:prstGeom prst="roundRect">
            <a:avLst>
              <a:gd name="adj" fmla="val 1667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63040"/>
            <a:ext cx="5577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add(int a, int b) { return a + b; }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mul(int a, int b) { return a * b; }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(*op)(int, int);   // "op 는 (int,int)→int 함수의 포인터"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 = add;              // 함수 이름 = 주소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op(2, 3);              // 5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 int (*BinOp)(int, int);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const BinOp OPS[] = { add, sub, mul };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OPS[2](7, 3);          // 21  ← switch 없는 분기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4800600"/>
            <a:ext cx="5852160" cy="822960"/>
          </a:xfrm>
          <a:prstGeom prst="rect">
            <a:avLst/>
          </a:prstGeom>
          <a:solidFill>
            <a:srgbClr val="FBF0D3"/>
          </a:solidFill>
          <a:ln w="12700">
            <a:solidFill>
              <a:srgbClr val="FBF0D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4800600"/>
            <a:ext cx="54864" cy="822960"/>
          </a:xfrm>
          <a:prstGeom prst="rect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4846320"/>
            <a:ext cx="5532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괄호를 빼면 int *op(int, int) — "int 포인터를 돌려주는 함수" 선언. 전혀 다른 뜻. 복잡하면 typedef.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766560" y="146304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C9D1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66560" y="1463040"/>
            <a:ext cx="20116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OPS[0] → add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66560" y="201168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C9D1D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66560" y="2011680"/>
            <a:ext cx="20116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OPS[1] → sub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256032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DCE6FA"/>
          </a:solidFill>
          <a:ln w="15875">
            <a:solidFill>
              <a:srgbClr val="2457C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66560" y="2560320"/>
            <a:ext cx="20116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OPS[2] → mul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692640" y="1463040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C9D1D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692640" y="1463040"/>
            <a:ext cx="1920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add(){ a+b }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692640" y="2011680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C9D1D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92640" y="2011680"/>
            <a:ext cx="1920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sub(){ a-b }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692640" y="2560320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DDF2EA"/>
          </a:solidFill>
          <a:ln w="15875">
            <a:solidFill>
              <a:srgbClr val="178A6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692640" y="2560320"/>
            <a:ext cx="1920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mul(){ a*b }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778240" y="2788920"/>
            <a:ext cx="914400" cy="0"/>
          </a:xfrm>
          <a:prstGeom prst="line">
            <a:avLst/>
          </a:prstGeom>
          <a:noFill/>
          <a:ln w="19050">
            <a:solidFill>
              <a:srgbClr val="2457C5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6766560" y="32004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인덱스가 함수를 고른다. 연산 추가 = 배열 한 항목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766560" y="3657600"/>
            <a:ext cx="4846320" cy="640080"/>
          </a:xfrm>
          <a:prstGeom prst="rect">
            <a:avLst/>
          </a:prstGeom>
          <a:solidFill>
            <a:srgbClr val="DCE6FA"/>
          </a:solidFill>
          <a:ln w="12700">
            <a:solidFill>
              <a:srgbClr val="DCE6F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66560" y="3657600"/>
            <a:ext cx="54864" cy="640080"/>
          </a:xfrm>
          <a:prstGeom prst="rect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967728" y="370332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1 6교시 switch 계산기 → 표 한 줄. 이것이 7교시 상태 머신 테이블의 원리.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126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D3-6 함수 포인터 테이블 — 행 클릭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3  ·  10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6교시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qsort — 어제의 버블 정렬을 라이브러리로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6교시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6583680" cy="3566160"/>
          </a:xfrm>
          <a:prstGeom prst="roundRect">
            <a:avLst>
              <a:gd name="adj" fmla="val 1538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63040"/>
            <a:ext cx="6309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cmp_temp(const void *a, const void *b)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Reading *x = a, *y = b;        // void* → 원래 타입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(x-&gt;t &gt; y-&gt;t) - (x-&gt;t &lt; y-&gt;t); // -1 / 0 / 1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cmp_hum_desc(const void *a, const void *b)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((const Reading *)b)-&gt;h - ((const Reading *)a)-&gt;h;  // b-a: 내림차순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qsort(log, n, sizeof log[0], cmp_temp);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배열  개수  요소 크기    비교 함수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24.8 26.0 37.2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498080" y="137160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35240" y="1417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배열, 개수, 요소 크기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635240" y="17373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2 "길이를 같이 넘겨라"의 완성형 (감쇠)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98080" y="237744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35240" y="2423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void *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635240" y="27432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qsort 는 타입을 모른다. 비교 함수가 안다 — C 의 다형성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498080" y="338328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635240" y="3429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 &gt; y) - (x &lt; y)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7635240" y="37490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double 뺄셈은 int 로 잘리고, int 뺄셈은 오버플로. 이 형태가 모든 타입에 안전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498080" y="438912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635240" y="4434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- a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635240" y="47548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인자 순서를 바꾸면 내림차순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5074920"/>
            <a:ext cx="6583680" cy="640080"/>
          </a:xfrm>
          <a:prstGeom prst="rect">
            <a:avLst/>
          </a:prstGeom>
          <a:solidFill>
            <a:srgbClr val="FBE3DF"/>
          </a:solidFill>
          <a:ln w="12700">
            <a:solidFill>
              <a:srgbClr val="FBE3D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5074920"/>
            <a:ext cx="54864" cy="640080"/>
          </a:xfrm>
          <a:prstGeom prst="rect">
            <a:avLst/>
          </a:prstGeom>
          <a:solidFill>
            <a:srgbClr val="D6452E"/>
          </a:solidFill>
          <a:ln w="12700">
            <a:solidFill>
              <a:srgbClr val="D6452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9808" y="5120640"/>
            <a:ext cx="6263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return *(int*)a - *(int*)b; 는 INT_MAX - (-1) 에서 오버플로 → 잘못된 순서. 값이 작을 때만 우연히 맞는다.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3  ·  11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7교시 · 16:00–16:50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콜백 — "이 일이 생기면 이 함수를 불러라"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7교시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852160" cy="4114800"/>
          </a:xfrm>
          <a:prstGeom prst="roundRect">
            <a:avLst>
              <a:gd name="adj" fmla="val 1333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63040"/>
            <a:ext cx="55778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 void (*Callback)(double);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Callback on_alert = NULL;              // 등록 슬롯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register_alert(Callback cb) { on_alert = cb; }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feed(double t) {                          // 라이브러리 쪽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(t &gt; 35.0 &amp;&amp; on_alert) on_alert(t);   // NULL 검사 후 호출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beep(double t) { printf("BEEP! %.1f\n", t); }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feed(36.0);              // 아무 일 없음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register_alert(beep);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feed(36.0);              // BEEP! 36.0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0" y="164592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EEF1F5"/>
          </a:solidFill>
          <a:ln w="15875">
            <a:solidFill>
              <a:srgbClr val="C9D1D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0" y="1645920"/>
            <a:ext cx="20116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코드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register_alert(beep)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692640" y="164592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DCE6FA"/>
          </a:solidFill>
          <a:ln w="15875">
            <a:solidFill>
              <a:srgbClr val="2457C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92640" y="1645920"/>
            <a:ext cx="20116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라이브러리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on_alert = cb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869680" y="2011680"/>
            <a:ext cx="822960" cy="0"/>
          </a:xfrm>
          <a:prstGeom prst="line">
            <a:avLst/>
          </a:prstGeom>
          <a:noFill/>
          <a:ln w="19050">
            <a:solidFill>
              <a:srgbClr val="2457C5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886968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등록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692640" y="301752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FBF0D3"/>
          </a:solidFill>
          <a:ln w="15875">
            <a:solidFill>
              <a:srgbClr val="C98A1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92640" y="3017520"/>
            <a:ext cx="20116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 &gt; 35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0" y="301752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DDF2EA"/>
          </a:solidFill>
          <a:ln w="15875">
            <a:solidFill>
              <a:srgbClr val="178A6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0" y="3017520"/>
            <a:ext cx="20116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beep(36.0)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호출됨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692640" y="3383280"/>
            <a:ext cx="-822960" cy="0"/>
          </a:xfrm>
          <a:prstGeom prst="line">
            <a:avLst/>
          </a:prstGeom>
          <a:noFill/>
          <a:ln w="19050">
            <a:solidFill>
              <a:srgbClr val="178A67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8869680" y="2971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8A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콜백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58000" y="3840480"/>
            <a:ext cx="4846320" cy="1005840"/>
          </a:xfrm>
          <a:prstGeom prst="rect">
            <a:avLst/>
          </a:prstGeom>
          <a:solidFill>
            <a:srgbClr val="DCE6FA"/>
          </a:solidFill>
          <a:ln w="12700">
            <a:solidFill>
              <a:srgbClr val="DCE6F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0" y="3840480"/>
            <a:ext cx="54864" cy="1005840"/>
          </a:xfrm>
          <a:prstGeom prst="rect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059168" y="388620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feed 를 짠 사람은 beep 이 존재하는지 모른다. 다음 주 attachInterrupt(pin, handler), 타이머, 버튼 — ESP32 코드의 절반이 콜백 등록.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858000" y="4983480"/>
            <a:ext cx="4846320" cy="594360"/>
          </a:xfrm>
          <a:prstGeom prst="rect">
            <a:avLst/>
          </a:prstGeom>
          <a:solidFill>
            <a:srgbClr val="FBF0D3"/>
          </a:solidFill>
          <a:ln w="12700">
            <a:solidFill>
              <a:srgbClr val="FBF0D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0" y="4983480"/>
            <a:ext cx="54864" cy="594360"/>
          </a:xfrm>
          <a:prstGeom prst="rect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059168" y="502920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 포인터도 포인터 — NULL 검사 없이 부르면 세그폴트 (Day 2 1교시).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3  ·  12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7교시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머신 — enum 인덱스 = 핸들러 테이블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TABLE[st](t): switch 없이 상태가 곧 인덱스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7교시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7315200" cy="3566160"/>
          </a:xfrm>
          <a:prstGeom prst="roundRect">
            <a:avLst>
              <a:gd name="adj" fmla="val 1538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828800"/>
            <a:ext cx="7040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 enum { ST_IDLE, ST_HEAT, ST_COOL, ST_ALERT, ST_COUNT } State;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State on_idle(double t)  { GPIO &amp;= ~ALL;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(t &lt; 18) return ST_HEAT; if (t &gt; 28) return ST_COOL; return ST_IDLE; }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State on_heat(double t)  { GPIO |= HEATER;    if (t &gt;= 20) return ST_IDLE;  return ST_HEAT; }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State on_cool(double t)  { GPIO |= FAN;       if (t &gt; 35)  return ST_ALERT; if (t &lt;= 26) return ST_IDLE; return ST_COOL; }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State on_alert(double t) { GPIO |= ALARM|FAN; if (t &lt;= 30) return ST_COOL;  return ST_ALERT; }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 State (*Handler)(double);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const Handler TABLE[ST_COUNT] = { [ST_IDLE]=on_idle, [ST_HEAT]=on_heat,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[ST_COOL]=on_cool, [ST_ALERT]=on_alert };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 next = TABLE[st](temps[i]);   // 핵심 한 줄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503920" y="3383280"/>
            <a:ext cx="1005840" cy="640080"/>
          </a:xfrm>
          <a:prstGeom prst="ellipse">
            <a:avLst/>
          </a:prstGeom>
          <a:solidFill>
            <a:srgbClr val="DCE6FA"/>
          </a:solidFill>
          <a:ln w="19050">
            <a:solidFill>
              <a:srgbClr val="2457C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03920" y="33832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503920" y="2103120"/>
            <a:ext cx="100584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9D1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03920" y="210312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424160" y="3383280"/>
            <a:ext cx="100584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9D1D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424160" y="33832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424160" y="2103120"/>
            <a:ext cx="100584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9D1D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424160" y="210312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006840" y="3383280"/>
            <a:ext cx="0" cy="-640080"/>
          </a:xfrm>
          <a:prstGeom prst="line">
            <a:avLst/>
          </a:prstGeom>
          <a:noFill/>
          <a:ln w="1905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8229600" y="29260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t&lt;18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9509760" y="3703320"/>
            <a:ext cx="914400" cy="0"/>
          </a:xfrm>
          <a:prstGeom prst="line">
            <a:avLst/>
          </a:prstGeom>
          <a:noFill/>
          <a:ln w="1905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9601200" y="39776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t&gt;28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0927080" y="3383280"/>
            <a:ext cx="0" cy="-640080"/>
          </a:xfrm>
          <a:prstGeom prst="line">
            <a:avLst/>
          </a:prstGeom>
          <a:noFill/>
          <a:ln w="19050">
            <a:solidFill>
              <a:srgbClr val="D6452E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11018520" y="29260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t&gt;35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8138160" y="4389120"/>
            <a:ext cx="3566160" cy="1188720"/>
          </a:xfrm>
          <a:prstGeom prst="roundRect">
            <a:avLst>
              <a:gd name="adj" fmla="val 4615"/>
            </a:avLst>
          </a:prstGeom>
          <a:solidFill>
            <a:srgbClr val="1B2A41"/>
          </a:solidFill>
          <a:ln w="9525">
            <a:solidFill>
              <a:srgbClr val="1B2A4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75320" y="448056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T=17.0 IDLE  -&gt; HEAT  GPIO=0x0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T=19.0 HEAT  -&gt; HEAT  GPIO=0x1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T=36.0 COOL  -&gt; ALERT GPIO=0x2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T=31.0 ALERT -&gt; ALERT GPIO=0x6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" y="5440680"/>
            <a:ext cx="11064240" cy="640080"/>
          </a:xfrm>
          <a:prstGeom prst="rect">
            <a:avLst/>
          </a:prstGeom>
          <a:solidFill>
            <a:srgbClr val="FBE3DF"/>
          </a:solidFill>
          <a:ln w="12700">
            <a:solidFill>
              <a:srgbClr val="FBE3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5440680"/>
            <a:ext cx="54864" cy="640080"/>
          </a:xfrm>
          <a:prstGeom prst="rect">
            <a:avLst/>
          </a:prstGeom>
          <a:solidFill>
            <a:srgbClr val="D6452E"/>
          </a:solidFill>
          <a:ln w="12700">
            <a:solidFill>
              <a:srgbClr val="D6452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49808" y="5486400"/>
            <a:ext cx="1074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TABLE = { on_idle, on_cool, on_heat, on_alert } — 컴파일·실행 모두 되고, HEAT 에서 팬이 돈다. 지정 초기화로 enum 과 묶어라. 오늘 함정은 조용히 틀린다.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126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D3-7 상태 머신 시뮬레이터 — 시나리오 재생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3  ·  13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8교시 · 17:00–17:50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실습 — 온도 조절기 컨트롤러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5개 (main.c · frame.c/h · fsm.c/h · gpio.h · Makefile) · 경고 0 · -DDEBUG 로 전이 로그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8교시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1691640" cy="1005840"/>
          </a:xfrm>
          <a:prstGeom prst="roundRect">
            <a:avLst>
              <a:gd name="adj" fmla="val 9091"/>
            </a:avLst>
          </a:prstGeom>
          <a:solidFill>
            <a:srgbClr val="DCE6FA"/>
          </a:solidFill>
          <a:ln w="19050">
            <a:solidFill>
              <a:srgbClr val="2457C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9659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 파싱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377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40280" y="2331720"/>
            <a:ext cx="182880" cy="0"/>
          </a:xfrm>
          <a:prstGeom prst="line">
            <a:avLst/>
          </a:prstGeom>
          <a:noFill/>
          <a:ln w="1905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423160" y="1828800"/>
            <a:ext cx="1691640" cy="1005840"/>
          </a:xfrm>
          <a:prstGeom prst="roundRect">
            <a:avLst>
              <a:gd name="adj" fmla="val 9091"/>
            </a:avLst>
          </a:prstGeom>
          <a:solidFill>
            <a:srgbClr val="DCE6FA"/>
          </a:solidFill>
          <a:ln w="19050">
            <a:solidFill>
              <a:srgbClr val="2457C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423160" y="19659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플래그·체크섬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423160" y="2377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0" y="2331720"/>
            <a:ext cx="182880" cy="0"/>
          </a:xfrm>
          <a:prstGeom prst="line">
            <a:avLst/>
          </a:prstGeom>
          <a:noFill/>
          <a:ln w="1905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297680" y="1828800"/>
            <a:ext cx="1691640" cy="1005840"/>
          </a:xfrm>
          <a:prstGeom prst="roundRect">
            <a:avLst>
              <a:gd name="adj" fmla="val 9091"/>
            </a:avLst>
          </a:prstGeom>
          <a:solidFill>
            <a:srgbClr val="DCE6FA"/>
          </a:solidFill>
          <a:ln w="19050">
            <a:solidFill>
              <a:srgbClr val="2457C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97680" y="19659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머신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297680" y="2377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7교시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89320" y="2331720"/>
            <a:ext cx="182880" cy="0"/>
          </a:xfrm>
          <a:prstGeom prst="line">
            <a:avLst/>
          </a:prstGeom>
          <a:noFill/>
          <a:ln w="1905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172200" y="1828800"/>
            <a:ext cx="1691640" cy="1005840"/>
          </a:xfrm>
          <a:prstGeom prst="roundRect">
            <a:avLst>
              <a:gd name="adj" fmla="val 9091"/>
            </a:avLst>
          </a:prstGeom>
          <a:solidFill>
            <a:srgbClr val="DCE6FA"/>
          </a:solidFill>
          <a:ln w="19050">
            <a:solidFill>
              <a:srgbClr val="2457C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72200" y="19659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레지스터 제어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172200" y="2377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4·5교시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863840" y="2331720"/>
            <a:ext cx="182880" cy="0"/>
          </a:xfrm>
          <a:prstGeom prst="line">
            <a:avLst/>
          </a:prstGeom>
          <a:noFill/>
          <a:ln w="1905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046720" y="1828800"/>
            <a:ext cx="1691640" cy="1005840"/>
          </a:xfrm>
          <a:prstGeom prst="roundRect">
            <a:avLst>
              <a:gd name="adj" fmla="val 9091"/>
            </a:avLst>
          </a:prstGeom>
          <a:solidFill>
            <a:srgbClr val="DDF2EA"/>
          </a:solidFill>
          <a:ln w="19050">
            <a:solidFill>
              <a:srgbClr val="178A6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046720" y="19659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046720" y="2377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2·6교시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738360" y="2331720"/>
            <a:ext cx="182880" cy="0"/>
          </a:xfrm>
          <a:prstGeom prst="line">
            <a:avLst/>
          </a:prstGeom>
          <a:noFill/>
          <a:ln w="1905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921240" y="1828800"/>
            <a:ext cx="1691640" cy="1005840"/>
          </a:xfrm>
          <a:prstGeom prst="roundRect">
            <a:avLst>
              <a:gd name="adj" fmla="val 9091"/>
            </a:avLst>
          </a:prstGeom>
          <a:solidFill>
            <a:srgbClr val="DDF2EA"/>
          </a:solidFill>
          <a:ln w="19050">
            <a:solidFill>
              <a:srgbClr val="178A6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921240" y="19659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디버그 로그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921240" y="2377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5교시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3108960"/>
            <a:ext cx="6035040" cy="2651760"/>
          </a:xfrm>
          <a:prstGeom prst="roundRect">
            <a:avLst>
              <a:gd name="adj" fmla="val 2069"/>
            </a:avLst>
          </a:prstGeom>
          <a:solidFill>
            <a:srgbClr val="1B2A41"/>
          </a:solidFill>
          <a:ln w="9525">
            <a:solidFill>
              <a:srgbClr val="1B2A4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5800" y="3200400"/>
            <a:ext cx="5760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make &amp;&amp; ./controller &lt; temps.txt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IDLE  3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HEAT  2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COOL  3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 2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E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top3: 36.0 33.0 31.0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E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bad=0 final GPIO=0x6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make CFLAGS="-Wall -Wextra -g -DDEBUG" &amp;&amp; ./controller &lt; temps.txt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D2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T=25.0 IDLE -&gt; IDLE GPIO=0x0 ...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858000" y="3108960"/>
            <a:ext cx="4754880" cy="2651760"/>
          </a:xfrm>
          <a:prstGeom prst="rect">
            <a:avLst/>
          </a:prstGeom>
          <a:solidFill>
            <a:srgbClr val="DDF2EA"/>
          </a:solidFill>
          <a:ln w="12700">
            <a:solidFill>
              <a:srgbClr val="DDF2E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58000" y="3108960"/>
            <a:ext cx="54864" cy="2651760"/>
          </a:xfrm>
          <a:prstGeom prst="rect">
            <a:avLst/>
          </a:prstGeom>
          <a:solidFill>
            <a:srgbClr val="178A67"/>
          </a:solidFill>
          <a:ln w="12700">
            <a:solidFill>
              <a:srgbClr val="178A67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059168" y="3154680"/>
            <a:ext cx="4434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채울 곳 셋: cmp_temp_desc (6교시), realloc 블록 (Day 2), qsort + top3 출력.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조건: TABLE 은 지정 초기화 · 핀 제어는 GPIO_SET/CLR 매크로로만 · visits[ST_COUNT] 로 상태별 횟수.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미완성이어도 fsm_step + 테이블 + visits 가 있으면 통과.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6126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D3-8 컨트롤러 흐름 — 재생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3  ·  14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8교시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체크리스트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8교시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6766560" cy="731520"/>
          </a:xfrm>
          <a:prstGeom prst="roundRect">
            <a:avLst>
              <a:gd name="adj" fmla="val 1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664208"/>
            <a:ext cx="329184" cy="329184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34440" y="15087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clean &amp;&amp; make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184708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경고 0개 · CFLAGS 로 -DDEBUG 빌드도 성공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331720"/>
            <a:ext cx="6766560" cy="731520"/>
          </a:xfrm>
          <a:prstGeom prst="roundRect">
            <a:avLst>
              <a:gd name="adj" fmla="val 1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2532888"/>
            <a:ext cx="329184" cy="329184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34440" y="23774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[ST_HEAT] = on_heat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271576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TABLE 이 지정 초기화로 되어 있음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200400"/>
            <a:ext cx="6766560" cy="731520"/>
          </a:xfrm>
          <a:prstGeom prst="roundRect">
            <a:avLst>
              <a:gd name="adj" fmla="val 1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401568"/>
            <a:ext cx="329184" cy="329184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234440" y="32461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GPIO_SET / GPIO_CLR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58444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핀 제어가 매크로로만 (직접 |= 금지)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069080"/>
            <a:ext cx="6766560" cy="731520"/>
          </a:xfrm>
          <a:prstGeom prst="roundRect">
            <a:avLst>
              <a:gd name="adj" fmla="val 1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270248"/>
            <a:ext cx="329184" cy="329184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234440" y="41148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visits[ST_COUNT]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445312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상태별 체류 횟수를 enum 인덱스로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937760"/>
            <a:ext cx="6766560" cy="731520"/>
          </a:xfrm>
          <a:prstGeom prst="roundRect">
            <a:avLst>
              <a:gd name="adj" fmla="val 1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5138928"/>
            <a:ext cx="329184" cy="329184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234440" y="49834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worksheet_day3.html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234440" y="532180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8교시까지 채점 → 결과 코드 · 오답 정리 캡처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680960" y="1463040"/>
            <a:ext cx="3931920" cy="2743200"/>
          </a:xfrm>
          <a:prstGeom prst="roundRect">
            <a:avLst>
              <a:gd name="adj" fmla="val 2000"/>
            </a:avLst>
          </a:prstGeom>
          <a:solidFill>
            <a:srgbClr val="1B2A41"/>
          </a:solidFill>
          <a:ln w="9525">
            <a:solidFill>
              <a:srgbClr val="1B2A4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818120" y="155448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Makefile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CFLAGS = -Wall -Wextra -g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controller: main.o frame.o fsm.o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	$(CC) $(CFLAGS) -o $@ $^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main.o: main.c frame.h fsm.h gpio.h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fsm.o:  fsm.c fsm.h gpio.h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제출 폴더: c_day3/controller/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3  ·  15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여섯 문장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554480"/>
            <a:ext cx="457200" cy="45720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50876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구조체 대입은 통째 복사.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 인자는 const T * 가 기본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4231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D3-1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37160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1554480"/>
            <a:ext cx="457200" cy="45720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040880" y="150876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필드는 자기 크기의 배수 주소에. 큰 것부터 놓으면 패딩이 사라진다.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union 은 같은 자리를 나눠 쓴다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040880" y="24231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D3-2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97180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154680"/>
            <a:ext cx="457200" cy="45720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10896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켜기 |=, 끄기 &amp;= ~, 토글 ^=, 검사 &gt;&gt; n &amp; 1.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필드 쓰기는 지우고 넣는다. 비트 연산은 unsigned 로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40233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D3-3 · D3-4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297180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3154680"/>
            <a:ext cx="457200" cy="45720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040880" y="310896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매크로는 텍스트 치환 — 괄호 셋, 부수효과 금지.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volatile 은 "매번 진짜로 읽어라"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40233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D3-5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57200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4754880"/>
            <a:ext cx="457200" cy="45720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152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371600" y="470916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 이름은 주소.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qsort 는 비교 함수가 타입을 안다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371600" y="56235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D3-6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457200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0" y="4754880"/>
            <a:ext cx="457200" cy="45720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0080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7040880" y="470916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콜백은 미리 등록,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머신은 enum 인덱스 = 핸들러 테이블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7040880" y="56235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D3-7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BB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4 예고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544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I/O · 디버깅 · 종합 프로젝트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560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1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만든 것들이 내일 이렇게 이어집니다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383280"/>
            <a:ext cx="10698480" cy="640080"/>
          </a:xfrm>
          <a:prstGeom prst="roundRect">
            <a:avLst>
              <a:gd name="adj" fmla="val 11429"/>
            </a:avLst>
          </a:prstGeom>
          <a:solidFill>
            <a:srgbClr val="2A3C58"/>
          </a:solidFill>
          <a:ln w="12700">
            <a:solidFill>
              <a:srgbClr val="3E517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338328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FE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fopen("temps.txt", "r") · fgets · fwrite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33832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E1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I/O — 표준 입력 대신 프로그램이 직접 파일을 연다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4160520"/>
            <a:ext cx="10698480" cy="640080"/>
          </a:xfrm>
          <a:prstGeom prst="roundRect">
            <a:avLst>
              <a:gd name="adj" fmla="val 11429"/>
            </a:avLst>
          </a:prstGeom>
          <a:solidFill>
            <a:srgbClr val="2A3C58"/>
          </a:solidFill>
          <a:ln w="12700">
            <a:solidFill>
              <a:srgbClr val="3E517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416052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FE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gdb ./controller  →  break fsm_step  →  print st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41605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E1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예제 7-3 의 조용한 버그를 실행을 따라가며 잡는다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1520" y="4937760"/>
            <a:ext cx="10698480" cy="640080"/>
          </a:xfrm>
          <a:prstGeom prst="roundRect">
            <a:avLst>
              <a:gd name="adj" fmla="val 11429"/>
            </a:avLst>
          </a:prstGeom>
          <a:solidFill>
            <a:srgbClr val="2A3C58"/>
          </a:solidFill>
          <a:ln w="12700">
            <a:solidFill>
              <a:srgbClr val="3E517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49377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FE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링 버퍼 + 상태 머신 + 파일 로깅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49377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E1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프로젝트 — 4일치를 한 프로그램으로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B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제출: c_day3/controller/ (파일 5개) + worksheet_day3.html 결과  ·  내일 09:00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2026-09-10T05:46:57Z</dcterms:created>
  <dcterms:modified xsi:type="dcterms:W3CDTF">2026-09-10T05:46:57Z</dcterms:modified>
</cp:coreProperties>
</file>