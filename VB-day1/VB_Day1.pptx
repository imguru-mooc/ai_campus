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9e9b8ec-3b24-0b56-4500-744217ac05e6}">
          <p14:sldIdLst>
            <p14:sldId id="256"/>
            <p14:sldId id="257"/>
            <p14:sldId id="258"/>
            <p14:sldId id="259"/>
            <p14:sldId id="260"/>
          </p14:sldIdLst>
        </p14:section>
        <p14:section name="1교시" id="{71174a56-904c-09e2-91f8-6bf07f111bbc}">
          <p14:sldIdLst>
            <p14:sldId id="261"/>
          </p14:sldIdLst>
        </p14:section>
        <p14:section name="2교시" id="{0902b064-cd74-3b12-2b67-f50c28afc9e9}">
          <p14:sldIdLst>
            <p14:sldId id="262"/>
          </p14:sldIdLst>
        </p14:section>
        <p14:section name="3교시" id="{2f4c958b-38cd-3943-f0ee-388f951572c1}">
          <p14:sldIdLst>
            <p14:sldId id="263"/>
          </p14:sldIdLst>
        </p14:section>
        <p14:section name="4교시" id="{38807b60-8fa8-7e0d-7986-3e90f20a7a1e}">
          <p14:sldIdLst>
            <p14:sldId id="264"/>
          </p14:sldIdLst>
        </p14:section>
        <p14:section name="5교시" id="{8fc94b14-ae97-b872-2327-caefa5a8cd27}">
          <p14:sldIdLst>
            <p14:sldId id="265"/>
          </p14:sldIdLst>
        </p14:section>
        <p14:section name="6교시" id="{533bade8-fdb0-0ae3-c15b-5bff242cb70f}">
          <p14:sldIdLst>
            <p14:sldId id="266"/>
          </p14:sldIdLst>
        </p14:section>
        <p14:section name="7교시" id="{b2096c58-6cfd-13ab-5b9a-5cb4f5326f0d}">
          <p14:sldIdLst>
            <p14:sldId id="267"/>
          </p14:sldIdLst>
        </p14:section>
        <p14:section name="8교시" id="{08b47e76-f398-62a8-f0a5-e0adc3d9340e}">
          <p14:sldIdLst>
            <p14:sldId id="268"/>
          </p14:sldIdLst>
        </p14:section>
        <p14:section name="정리" id="{b7324da1-5223-c984-b1e6-08e3d56a37c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/>
                <a:ea typeface="Malgun Gothic"/>
              </a:rPr>
              <a:t>Vision 기본 모델 Day 1 · HYUNDAI AI Insight Campus 온디바이스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005840"/>
            <a:ext cx="109728" cy="29260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005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Vision 기본 모델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NumPy 에서 PyTorch 로, 그리고 영상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HYUNDAI AI Insight Campus · 온디바이스 AI · Vision 기본 모델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2026. 10. 27 (화)  09:00–18:00  ·  8교시  ·  Google Colab (하드웨어 없음)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Tensor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20624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autograd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420624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nn.Module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20624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DataLoader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420624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이미지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20624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영상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20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강사: 김정인 · 김구수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수업이 끝나면 여러분은 다음을 할 수 있습니다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1691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PyTorch 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1214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mynn.py 의 계층 · 학습 코드를 PyTorch 부품으로 옮기고 SimpleConvNet 433,890 파라미터를 확인한다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691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Tensor · 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1214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from_numpy(공유) 와 tensor(복사), float32, permute · unsqueeze, .to(device) 를 구분해 쓴다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32918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autograd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7216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backward() 로 기울기를 구하고 손 유도 dW = Xᵀ(Y − t)/N 과 같은지 확인한다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3375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2918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nn.Module · DataLoader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모델 클래스 · Dataset · DataLoader 로 학습 루프를 만들고 평가 · 저장한다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5800" y="4937759"/>
            <a:ext cx="384048" cy="384048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93775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8920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이미지 · 영상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32180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OpenCV (H, W, C) BGR 을 (C, H, W) RGB 텐서로 바꾸고 VideoCapture → VideoWriter 루프를 만든다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C084FC"/>
          </a:solidFill>
          <a:ln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93775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8920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미니 프로젝트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32180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종이 손글씨 사진 30장과 영상 속 숫자를 전처리해 인식한다 (naive 0.100 → 약 0.967)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시간표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8교시 × 50분 · 점심 12:00–13:00 · 오전 PyTorch 부품, 오후 학습 루프 → 이미지 → 영상 → 미니 프로젝트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463040"/>
          <a:ext cx="11274552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1554480"/>
                <a:gridCol w="4754880"/>
                <a:gridCol w="1280160"/>
                <a:gridCol w="2953512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애니메이션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09:00–09:50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NN 복습 퀴즈 · mynn → PyTorch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퀴즈 + 강의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D1-1 mynn → PyTorch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10:00–10:50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Tensor · GPU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D1-2 Tensor 의 메모리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11:00–11:50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autograd — 역전파를 자동으로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D1-3 autograd 계산 그래프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13:00–13:50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nn.Module · Dataset · DataLoader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D1-4 Dataset · DataLoader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14:00–14:50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루프 · 평가 · 저장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D1-5 학습 루프 한 바퀴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15:00–15:50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 이미지 — 픽셀 · 채널 · 정규화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D1-6 이미지 → 텐서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16:00–16:50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파일 파이프라인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D1-7 영상 = 프레임의 연속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17:00–17:50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미니 프로젝트 — 종이 손글씨 · 영상 숫자 인식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D1-8 종이 손글씨 전처리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자료 · 온라인 링크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예측(애니메이션) → 검증(노트북) → 점검(워크시트) — 모두 브라우저에서 바로 열립니다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508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기본 주소 (Day 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80136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https://imguru-mooc.github.io/AI_CAMPUS/VB-day1/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46888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animation.html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68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애니메이션 8개 (D1-1 ~ D1-8) — #d1-6 처럼 바로가기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0175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0175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worksheet.html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0175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개념 워크시트 — #t1 ~ #t8 교시 바로가기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6616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5661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B942"/>
                </a:solidFill>
                <a:latin typeface="Consolas"/>
                <a:ea typeface="Consolas"/>
                <a:cs typeface="Consolas"/>
              </a:rPr>
              <a:t>VB_Day1_lecture.ipynb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566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강의 노트북 — 1~8교시 문제 + 미니 프로젝트 (Colab 에서 열기)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1148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1148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VB_Day1.pdf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1148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오늘 슬라이드 PDF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6634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data/paper_digits.zip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6634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종이 손글씨 사진 30장 (숫자 0~9 × 3장) — 6 · 8교시 실습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21208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212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NN Day 5 복습 퀴즈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52120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09:00 시작 — 강사가 Google Forms 링크 공유 (20문항 · 15분)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7900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노트북은 "파일 → Drive에 사본 저장" 후 작업 · 런타임 유형은 GPU · 하드웨어 없이 데이터만으로 진행합니다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큰 그림 — 같은 모델, 다른 도구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NN 과정에서 NumPy 로 원리를 만들었습니다. 오늘은 같은 모델을 PyTorch 로 옮기고, 실제 사진 · 영상을 넣어 봅니다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3657600" cy="2377440"/>
          </a:xfrm>
          <a:prstGeom prst="roundRect">
            <a:avLst>
              <a:gd name="adj" fmla="val 3076"/>
            </a:avLst>
          </a:prstGeom>
          <a:solidFill>
            <a:srgbClr val="111A2E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NN 과정 (NumPy · 원리)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1965960"/>
            <a:ext cx="3200400" cy="960120"/>
          </a:xfrm>
          <a:prstGeom prst="roundRect">
            <a:avLst>
              <a:gd name="adj" fmla="val 5714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2020824"/>
            <a:ext cx="298094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mynn.py — 계층을 직접 구현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im2col · backward 직접 작성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SimpleConvNet 1 epoch 0.9810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063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 </a:t>
            </a:r>
            <a:r>
              <a:rPr sz="2400" b="1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433,890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1417320"/>
            <a:ext cx="3657600" cy="2377440"/>
          </a:xfrm>
          <a:prstGeom prst="roundRect">
            <a:avLst>
              <a:gd name="adj" fmla="val 3076"/>
            </a:avLst>
          </a:prstGeom>
          <a:solidFill>
            <a:srgbClr val="111A2E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Vision 과정 (PyTorch · 실제 데이터)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11896" y="1965960"/>
            <a:ext cx="3200400" cy="960120"/>
          </a:xfrm>
          <a:prstGeom prst="roundRect">
            <a:avLst>
              <a:gd name="adj" fmla="val 5714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1624" y="2020824"/>
            <a:ext cx="298094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nn.Conv2d · MaxPool2d · Linear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loss.backward() · opt.step()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종이 사진 · 영상 프레임 입력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063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 </a:t>
            </a:r>
            <a:r>
              <a:rPr sz="24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433,890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0248" y="1417320"/>
            <a:ext cx="3657600" cy="2377440"/>
          </a:xfrm>
          <a:prstGeom prst="roundRect">
            <a:avLst>
              <a:gd name="adj" fmla="val 3076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15361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 바꾸는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1993392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계산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199339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torch.Tensor · GPU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242316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미분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24231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autograd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2852928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부품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285292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nn · optim · DataLoader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8" y="3282696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28269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OpenCV 이미지 · 영상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87368" y="237744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0416" y="2377440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77639"/>
            <a:ext cx="11274552" cy="2240280"/>
          </a:xfrm>
          <a:prstGeom prst="roundRect">
            <a:avLst>
              <a:gd name="adj" fmla="val 3265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8736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Vision 기본 모델 5일 로드맵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526280"/>
            <a:ext cx="1874519" cy="1097280"/>
          </a:xfrm>
          <a:prstGeom prst="roundRect">
            <a:avLst>
              <a:gd name="adj" fmla="val 6666"/>
            </a:avLst>
          </a:prstGeom>
          <a:solidFill>
            <a:srgbClr val="0B1220"/>
          </a:solidFill>
          <a:ln w="25400"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10/27(화)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4956048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PyTorch · 이미지 · 영상</a:t>
            </a:r>
          </a:p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→ 종이 손글씨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0" y="484632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07792" y="4526280"/>
            <a:ext cx="1874519" cy="1097280"/>
          </a:xfrm>
          <a:prstGeom prst="roundRect">
            <a:avLst>
              <a:gd name="adj" fmla="val 6666"/>
            </a:avLst>
          </a:prstGeom>
          <a:solidFill>
            <a:srgbClr val="0B1220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Day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76472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10/28(수)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4956048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LeNet · VGG · ResNet</a:t>
            </a:r>
          </a:p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→ CIFAR-10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82312" y="484632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29784" y="4526280"/>
            <a:ext cx="1874519" cy="1097280"/>
          </a:xfrm>
          <a:prstGeom prst="roundRect">
            <a:avLst>
              <a:gd name="adj" fmla="val 6666"/>
            </a:avLst>
          </a:prstGeom>
          <a:solidFill>
            <a:srgbClr val="0B1220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9512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Day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98464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10/29(목)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39512" y="4956048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경량 CNN · 전이학습</a:t>
            </a:r>
          </a:p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· Grad-CAM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04304" y="484632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51776" y="4526280"/>
            <a:ext cx="1874519" cy="1097280"/>
          </a:xfrm>
          <a:prstGeom prst="roundRect">
            <a:avLst>
              <a:gd name="adj" fmla="val 6666"/>
            </a:avLst>
          </a:prstGeom>
          <a:solidFill>
            <a:srgbClr val="0B1220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61504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Day 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0456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11/2(월)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61504" y="4956048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객체 탐지 IoU · NMS</a:t>
            </a:r>
          </a:p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· mAP · YOLO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26296" y="484632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73768" y="4526280"/>
            <a:ext cx="1874519" cy="1097280"/>
          </a:xfrm>
          <a:prstGeom prst="roundRect">
            <a:avLst>
              <a:gd name="adj" fmla="val 6666"/>
            </a:avLst>
          </a:prstGeom>
          <a:solidFill>
            <a:srgbClr val="0B1220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83496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Day 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42448" y="4590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11/3(화)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3496" y="4956048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세그멘테이션 · 포즈</a:t>
            </a:r>
          </a:p>
          <a:p>
            <a:pPr algn="l"/>
            <a:r>
              <a:rPr sz="10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· ONNX → 침입 감지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7424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후속: ONNX · TensorRT (11/4~) → Quantization · Pruning → [프로젝트] 현장 안전 모니터링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NN 복습 퀴즈 · mynn → PyTorch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09:00–09:50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09:00–09:15 NN Day 5 복습 퀴즈 (20문항)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mynn.py 부품 ↔ PyTorch 부품 대응표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SimpleConvNet 을 nn.Sequential 로 다시 쓰기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파라미터 433,890 — NumPy 판과 같음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154680"/>
            <a:ext cx="3803904" cy="1188720"/>
          </a:xfrm>
          <a:prstGeom prst="roundRect">
            <a:avLst>
              <a:gd name="adj" fmla="val 6153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1_simpleconv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56059"/>
            <a:ext cx="3657600" cy="98596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45354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1-1  nn.Sequential + 파라미터 수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1-2  계층별 shape 추적 (x = layer(x))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D1-1 mynn → PyTorch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1645920"/>
            <a:ext cx="13258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대응표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16459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1700784"/>
            <a:ext cx="490118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Affine → nn.Linear   (W 는 (out, in), x @ W.T + b)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SoftmaxWithLoss → nn.CrossEntropyLoss (logits)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optimizer.update → zero_grad → backward → step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25603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2560320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6248" y="2615184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nn.Sequential(Conv2d(1,30,5), ReLU, MaxPool2d(2),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Flatten, Linear(4320,100), ReLU, Linear(100,10))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3273552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shape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3273552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3328416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(2,1,28,28) → Conv (2,30,24,24) → Pool (2,30,12,12)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→ Flatten (2,4320) → Linear (2,100) → Linear (2,10)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7488" y="3986784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파라미터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3986784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56248" y="4041648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Conv 30·1·5·5+30 = 780   Linear1 = 432,100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Linear2 100·10+10 = 1,010   합계 433,890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4700016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세기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4700016"/>
            <a:ext cx="5120640" cy="420624"/>
          </a:xfrm>
          <a:prstGeom prst="roundRect">
            <a:avLst>
              <a:gd name="adj" fmla="val 1304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4754880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sum(p.numel() for p in net.parameters())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구조 · 파라미터 수는 NumPy 판과 똑같다. 달라지는 것은 im2col 과 backward 를 직접 짜지 않는다는 것 — Conv2d 내부에서 처리하고 GPU 에서는 cuDNN 이 계산한다.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Tensor · GPU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10:00–10:50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Tensor = ndarray + device + requires_grad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기본 float32 (NumPy 기본 float64)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from_numpy 는 공유, torch.tensor 는 복사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reshape · permute · unsqueeze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.to(device) — 모델과 데이터는 같은 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2-1  dtype 함정 (float64 → .float())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2-2  공유 vs 복사 예측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2-3  Y = XW + b · softmax 를 torch 로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2-4  permute · unsqueeze · reshape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D1-2 Tensor 의 메모리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16459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공유 vs 복사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1645920"/>
            <a:ext cx="5120640" cy="1097280"/>
          </a:xfrm>
          <a:prstGeom prst="roundRect">
            <a:avLst>
              <a:gd name="adj" fmla="val 6666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2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345" y="1719072"/>
            <a:ext cx="2796988" cy="95097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47488" y="2852928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285292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2907792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 = torch.from_numpy(a);  c = torch.tensor(a)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b[0] = 7;  c[1] = 9   →  a = [7, 0, 0],  c = [0, 9, 0]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3621024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softmax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362102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3675887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Y = X @ W + b;  Y = Y - Y.max(dim=1, keepdim=True).values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 = torch.exp(Y);  P = E / E.sum(dim=1, keepdim=True)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4389120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shape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4389120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4443983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x = torch.arange(24).reshape(2, 3, 4)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permute(0, 2, 1) → (2, 4, 3)   unsqueeze(0) → (1, 2, 3, 4)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reshape(2, -1) → (2, 12)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float64 텐서를 nn.Linear 에 넣으면 expected Float but found Double → .float(). GPU 시간은 torch.cuda.synchronize() 후 측정 (2048×2048 행렬곱 CPU 약 77.5 ms, 실행 예).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autograd — 역전파를 자동으로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11:00–11:50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requires_grad=True → 연산을 계산 그래프로 기록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backward() 가 연쇄 법칙을 거꾸로 적용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잎 텐서 .grad 에 누적 (더해짐)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손 유도 기울기와 autograd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83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3730752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307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3721608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3-1  f = x² + 3y² 미분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3-2  기울기 누적 · zero_()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3-3  Affine + softmax + CE 비교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3-4  autograd 경사하강</a:t>
            </a:r>
          </a:p>
        </p:txBody>
      </p:sp>
      <p:sp>
        <p:nvSpPr>
          <p:cNvPr id="46" name="Oval 45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3-5  torch.optim.SGD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D1-3 autograd 계산 그래프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16459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계산 그래프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1645920"/>
            <a:ext cx="5120640" cy="1097280"/>
          </a:xfrm>
          <a:prstGeom prst="roundRect">
            <a:avLst>
              <a:gd name="adj" fmla="val 6666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f3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719072"/>
            <a:ext cx="2560320" cy="95097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047488" y="2852928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3-1 · 3-2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285292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2907792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 = x² + 3y² at (1, 2) → f = 13, ∂f/∂x = 2, ∂f/∂y = 12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(x**2).backward() 두 번 → x.grad 2 → 4 (누적)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3621024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3-3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362102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3675887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dW = X.T @ (Y − T) / N     db = (Y − T).sum(0) / N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autograd 의 W.grad 와 일치 (최대 오차 약 3e-8)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4389120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3-4 · 3-5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46520" y="4389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6248" y="4443983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with torch.no_grad(): p -= lr * p.grad;  p.grad.zero_()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opt.zero_grad() → f.backward() → opt.step()  → (0, 0) 근처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zero_grad 를 빠뜨리면 기울기가 계속 누적된다. requires_grad 텐서는 .detach().numpy(). no_grad 없이 in-place 갱신하면 "a leaf Variable that requires grad ..." 오류.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nn.Module · Dataset · DataLoader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13:00–13:50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nn.Module: __init__ 에서 계층, forward 에서 연결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self. 에 붙인 계층 → parameters() 자동 수집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Dataset (__len__ · __getitem__) → DataLoader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CrossEntropyLoss = logits + 정수 레이블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4-1  MLP 784-100-10 (79,510)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4-2  NumpyDigits(Dataset)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4-3  DataLoader 배치 100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4-4  CrossEntropyLoss 직접 계산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D1-4 Dataset · DataLoader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1645920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MLP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1645920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1700784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self.fc1 = nn.Linear(784, 100);  self.fc2 = nn.Linear(100, 10)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forward: x.flatten(1) → F.relu(self.fc1(x)) → self.fc2(x)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파라미터 79,510 (NN Day 3 과 같음)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2578608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2578608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2633472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MNIST train 60,000 · test 10,000 · ToTensor() → (1, 28, 28)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__getitem__: torch.from_numpy(X[i]).float() / 255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.unsqueeze(0),  int(y)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3511296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DataLoader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351129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4_datalo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372" y="3584448"/>
            <a:ext cx="2632934" cy="81381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047488" y="4581144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손실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458114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4636007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-F.log_softmax(logits, dim=1)[torch.arange(N), yb].mean()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학습 전 2.3010  ≈ ln 10 = 2.3026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배치 xb (100, 1, 28, 28) · yb int64 (100,) · len(train_loader) = 600. 모델 끝에 softmax 를 또 붙이지 않는다 — CrossEntropyLoss 가 포함한다.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학습 루프 · 평가 ·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14:00–14:50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배치마다 6단계 — model.train() 으로 시작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평가: model.eval() + torch.no_grad()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state_dict 로 저장 · 불러오기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487168"/>
            <a:ext cx="3803904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5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954" y="2560320"/>
            <a:ext cx="2166730" cy="9966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3767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5-1  train_one_epoch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5-2  evaluate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5-3  MLP · Adam 3 epoch</a:t>
            </a:r>
          </a:p>
        </p:txBody>
      </p:sp>
      <p:sp>
        <p:nvSpPr>
          <p:cNvPr id="45" name="Oval 44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5-4  저장 · 불러오기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D1-5 학습 루프 한 바퀴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1645920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6단계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1645920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1700784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① xb, yb → device   ② logits = model(xb)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③ loss = loss_fn(logits, yb)   ④ opt.zero_grad()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⑤ loss.backward()   ⑥ opt.step()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7488" y="2578608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evaluate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2578608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56248" y="2633472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model.eval()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with torch.no_grad(): pred = model(xb).argmax(dim=1)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학습 전 정확도 0.0953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3511296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 epoch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(실행 예)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3511296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3566160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epoch 1   loss 0.4043   test 0.9356   4.9 s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epoch 2   loss 0.1891   test 0.9568   4.9 s</a:t>
            </a:r>
          </a:p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epoch 3   loss 0.1372   test 0.9624   4.4 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4443984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46520" y="444398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6248" y="4498848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torch.save(model.state_dict(), "mlp.pt")   # 320,309 bytes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new.load_state_dict(torch.load("mlp.pt", map_location=device))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eval() 은 Dropout · BN 모드, no_grad() 는 기록 끄기 — 다른 일. model.to(device) 는 옵티마이저 생성 전에, 손실은 loss.item() 으로 모은다. (NN Day 3: SGD 10 epoch 0.9694)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C084FC"/>
          </a:solidFill>
          <a:ln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디지털 이미지 — 픽셀 · 채널 · 정규화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15:00–15:50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OpenCV (H, W, C) uint8 BGR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PyTorch (C, H, W) float32 0~1 RGB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Gray = 0.299R + 0.587G + 0.114B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학습과 추론의 전처리는 같아야 한다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383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3730752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307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3721608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6-1  BGR → RGB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6-2  흑백 직접 계산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6-3  ToTensor 직접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6-4  crop · resize 224</a:t>
            </a:r>
          </a:p>
        </p:txBody>
      </p:sp>
      <p:sp>
        <p:nvSpPr>
          <p:cNvPr id="46" name="Oval 45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6-5  ImageNet 정규화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D1-6 이미지 → 텐서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16459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HWC → CHW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1645920"/>
            <a:ext cx="5120640" cy="1097280"/>
          </a:xfrm>
          <a:prstGeom prst="roundRect">
            <a:avLst>
              <a:gd name="adj" fmla="val 6666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f6_hwc_c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960" y="1719072"/>
            <a:ext cx="2905760" cy="95097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047488" y="2852928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읽기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285292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2907792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img = cv2.imread("data/paper_digits/d3_0.jpg")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# (640, 480, 3) uint8 BGR · 값 25~186 → rgb = img[:, :, ::-1]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3621024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overflow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362102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3675887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uint8 [[200, 250]] + 100 → [[44, 94]]   float → [300, 350]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cv2.add → [[255, 255]]  (saturation)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4389120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텐서로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46520" y="4389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6248" y="4443983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torch.from_numpy(rgb.copy()).permute(2, 0, 1).float() / 255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cv2.resize(crop, (224, 224), interpolation=cv2.INTER_AREA)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cv2.resize 의 크기 인자는 (W, H). 정규화 mean [0.485, 0.456, 0.406] · std [0.229, 0.224, 0.225] 를 mean.view(3, 1, 1) 로 브로드캐스팅 → (1, 3, 224, 224).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영상 파일 파이프라인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16:00–16:50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영상 = 프레임의 연속 (FPS · 프레임 수)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VideoCapture → 처리 → VideoWriter 루프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크기 인자 (W, H) — 틀리면 빈 영상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7-1  VideoWriter 로 digits.mp4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7-2  영상 속성 읽기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7-3  frame_to_input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7-4  읽기 → 처리 → 쓰기 루프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D1-7 영상 = 프레임의 연속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1645920"/>
            <a:ext cx="1325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digits.mp4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16459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7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0" y="1719072"/>
            <a:ext cx="2407919" cy="72237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47488" y="2624328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영상 정보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2624328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2679192"/>
            <a:ext cx="4901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120×320 · 30 FPS · 180 프레임 · 6.0 초 · [7, 2, 1, 0, 4, 1]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가운데 프레임 = 30k + 15 → 15, 45, 75, 105, 135, 165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3282696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쓰기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3282696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3337560"/>
            <a:ext cx="4901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cv2.VideoWriter("digits.mp4", cv2.VideoWriter_fourcc(*"mp4v"),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  FPS, (W_V, H_V))     # 크기는 (W, H) · 약 43 KB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3941063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입력 변환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3941063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3995927"/>
            <a:ext cx="4901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BGR2GRAY → gray[:, 100:220] → resize 28×28 INTER_AREA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→ /255 → [None, None]  →  (1, 1, 28, 28)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4599431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루프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46520" y="4599431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6248" y="4654295"/>
            <a:ext cx="4901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while True: ok, frame = cap.read(); if not ok: break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→ 상자 · 프레임 번호 → write · 프레임당 평균 약 0.7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cap.get(CAP_PROP_...) 은 float → int. release() 를 꼭 부르고 ok 를 확인한다. mp4v 는 브라우저 재생이 안 될 수 있어 H.264 로 변환해 재생.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미니 프로젝트 — 종이 손글씨 · 영상 숫자 인식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17:00–17:50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55321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6187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강의 노트북 8교시  ·  preprocess(img_bgr) → (1, 1, 28, 28)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645920"/>
            <a:ext cx="5120640" cy="1325880"/>
          </a:xfrm>
          <a:prstGeom prst="roundRect">
            <a:avLst>
              <a:gd name="adj" fmla="val 4137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1700784"/>
            <a:ext cx="4901183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① cv2.cvtColor(img, cv2.COLOR_BGR2GRAY)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② bg = GaussianBlur(g, (0,0), 25); g = cv2.divide(g, bg, scale=255)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③ GaussianBlur (5,5) → Otsu BINARY_INV → MORPH_OPEN 3×3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④ findContours → max(contourArea) → boundingRect → 자르기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⑤ scale = 20 / max(w, h)  (긴 변 20, 비율 유지)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⑥ 28×28 가운데 → moments 무게중심 → (14, 14) 로 이동 → ÷255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58368" y="3108960"/>
          <a:ext cx="5120640" cy="24323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3886200"/>
                <a:gridCol w="6858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배점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SimpleConvNet nn.Module (433,890)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epoch 학습 (Adam 1e-3, 배치 100) — test ≥ 0.98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preprocess(img_bgr) → (1, 1, 28, 28)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30장 정확도: naive vs preprocess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프레임 인식 · digits_pred.mp4 · 정확도 1.0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해석 (마크다운, 강사 채점)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8368" y="56052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채점 셀 실행 → 자동 채점 90점 + 강사 10점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97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D1-8 종이 손글씨 전처리 — 단계별 변화를 먼저 보고 코드로 확인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126187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결과 (실행 예, CPU)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373368" y="1645920"/>
          <a:ext cx="5175504" cy="932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33502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loss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epoch 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0.2366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0.9791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13.6 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ADE8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epoch 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0.0680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0.9830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14.6 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373368" y="2697480"/>
          <a:ext cx="5175504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46704"/>
                <a:gridCol w="182880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30장 · 영상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naive  (흑백 → 28×28 → ÷255)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0.100  (3/30)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조명 보정 없이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0.600  (18/30)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ADE8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preprocess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0.967  (29/30)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ADE8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가운데 프레임 [7, 2, 1, 0, 4, 1]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6373368" y="4389120"/>
            <a:ext cx="5175504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8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4443983"/>
            <a:ext cx="4681728" cy="8778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373368" y="5468112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naive 는 27장을 '8' 로 — 흰 배경이 전부 밝은 픽셀. 틀린 1장 d7_2 → 2.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domain shift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 — 오늘은 입력을 학습 데이터(MNIST) 쪽으로 옮긴다.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핵심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각 항목 옆 번호는 다시 볼 애니메이션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mynn → PyTorch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1417320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같은 SimpleConvNet 433,890 — im2col · backward 는 PyTorch 가 처리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141732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020824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020824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Tensor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020824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float32 기본 · from_numpy 공유 / tensor 복사 · permute · .to(device)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02082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24328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62432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autograd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2624328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backward() 는 .grad 에 누적 → zero_grad → backward → 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62432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227832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DataLoader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227832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배치 (100, 1, 28, 28) · 600 iteration/epoch · CE 는 logits 입력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22783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831336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831336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학습 루프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831336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train() 6단계 · eval() + no_grad() · state_dict 저장 (MLP 3 epoch 약 0.9624)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831336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434840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434840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이미지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434840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(H, W, C) uint8 BGR → (C, H, W) float32 RGB · resize 크기는 (W, H)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43484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038344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038344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영상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5038344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VideoCapture → read 루프 → VideoWriter · 30 FPS · 180 프레임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03834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641848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64184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종이 손글씨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5641848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naive 0.100 → 조명 보정 · Otsu · 무게중심 → 약 0.967 (domain shift)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564184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D1-8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2 로 가는 다리 — CNN 대표 구조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오늘 만든 학습 도구로, 더 어려운 데이터 CIFAR-10 에 LeNet · VGG · ResNet 을 학습시킵니다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63040"/>
            <a:ext cx="11274552" cy="4069080"/>
          </a:xfrm>
          <a:prstGeom prst="roundRect">
            <a:avLst>
              <a:gd name="adj" fmla="val 1797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1 (오늘)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Day 2 (10/28 수)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0116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2066544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MLP 784-100-10 · MNIST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011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MLP 로 CIFAR-10 이 안 되는 이유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57860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2633472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SimpleConvNet (Conv 1층)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5786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786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LeNet · AlexNet · VGG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145536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3200400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nn.Sequential · nn.Module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14553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1455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깊이 문제와 BatchNorm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712464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767328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Adam 2 epoch test 0.9830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371246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7124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ResNet 구현 · CIFAR-10 85% 도전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27939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334255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train_one_epoch · evaluate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4279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2793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그대로 사용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84632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4901184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전처리로 입력을 데이터 쪽으로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846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데이터 증강 (Day 2) · 전이학습 (Day 3)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MLP 의 한계 → LeNet · AlexNet · VGG → 깊이와 BatchNorm → ResNet → CIFAR-10 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오늘 만든 train_one_epoch · evaluate 를 그대로 사용합니다 — 노트북을 Drive 에 사본 저장해 두세요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ampus Dark">
  <a:themeElements>
    <a:clrScheme name="AI Campus Dark">
      <a:dk1>
        <a:srgbClr val="DBE4F0"/>
      </a:dk1>
      <a:lt1>
        <a:srgbClr val="0B1220"/>
      </a:lt1>
      <a:dk2>
        <a:srgbClr val="8A9BB8"/>
      </a:dk2>
      <a:lt2>
        <a:srgbClr val="111A2E"/>
      </a:lt2>
      <a:accent1>
        <a:srgbClr val="F5B942"/>
      </a:accent1>
      <a:accent2>
        <a:srgbClr val="2DD4BF"/>
      </a:accent2>
      <a:accent3>
        <a:srgbClr val="60A5FA"/>
      </a:accent3>
      <a:accent4>
        <a:srgbClr val="4ADE80"/>
      </a:accent4>
      <a:accent5>
        <a:srgbClr val="F87171"/>
      </a:accent5>
      <a:accent6>
        <a:srgbClr val="C084FC"/>
      </a:accent6>
      <a:hlink>
        <a:srgbClr val="60A5FA"/>
      </a:hlink>
      <a:folHlink>
        <a:srgbClr val="C084FC"/>
      </a:folHlink>
    </a:clrScheme>
    <a:fontScheme name="AI Campus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Day 4 — 학습 기법</dc:title>
  <dc:subject>PptxGenJS Presentation</dc:subject>
  <dc:creator>김정인</dc:creator>
  <cp:lastModifiedBy>김정인</cp:lastModifiedBy>
  <cp:revision>1</cp:revision>
  <dcterms:created xsi:type="dcterms:W3CDTF">2026-10-22T03:27:24Z</dcterms:created>
  <dcterms:modified xsi:type="dcterms:W3CDTF">2026-10-22T03:27:24Z</dcterms:modified>
</cp:coreProperties>
</file>