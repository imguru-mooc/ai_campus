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47bf2a7f-6bfb-9c6e-5650-0b96d3717088}">
          <p14:sldIdLst>
            <p14:sldId id="256"/>
            <p14:sldId id="257"/>
            <p14:sldId id="258"/>
            <p14:sldId id="259"/>
            <p14:sldId id="260"/>
          </p14:sldIdLst>
        </p14:section>
        <p14:section name="1교시" id="{503cb4ac-5c53-5baa-ad40-51dd8924c6dc}">
          <p14:sldIdLst>
            <p14:sldId id="261"/>
          </p14:sldIdLst>
        </p14:section>
        <p14:section name="2교시" id="{49be06c0-3825-b9e5-796c-94d9c9da440c}">
          <p14:sldIdLst>
            <p14:sldId id="262"/>
          </p14:sldIdLst>
        </p14:section>
        <p14:section name="3교시" id="{ecdd3102-5233-dd82-25d0-a11b9098075c}">
          <p14:sldIdLst>
            <p14:sldId id="263"/>
          </p14:sldIdLst>
        </p14:section>
        <p14:section name="4교시" id="{8b04206c-4b63-ff41-c11e-cf9d976c76ea}">
          <p14:sldIdLst>
            <p14:sldId id="264"/>
          </p14:sldIdLst>
        </p14:section>
        <p14:section name="5교시" id="{3d539cad-6488-d341-c7bc-4a52be9b7e36}">
          <p14:sldIdLst>
            <p14:sldId id="265"/>
          </p14:sldIdLst>
        </p14:section>
        <p14:section name="6교시" id="{e80be638-0cec-85ed-037c-98ba10bb36be}">
          <p14:sldIdLst>
            <p14:sldId id="266"/>
          </p14:sldIdLst>
        </p14:section>
        <p14:section name="7교시" id="{6626225f-432c-d0bd-f582-91d1dfd0d669}">
          <p14:sldIdLst>
            <p14:sldId id="267"/>
          </p14:sldIdLst>
        </p14:section>
        <p14:section name="8교시" id="{c011f3e4-b99c-34b1-2714-7228ccf13ad0}">
          <p14:sldIdLst>
            <p14:sldId id="268"/>
          </p14:sldIdLst>
        </p14:section>
        <p14:section name="정리" id="{709446b9-d410-15a3-f767-65d30a13607b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1 의 도구(NumPy · 미분 · 경사하강)로 신경망의 몸체(뉴런 · 층 · 순전파 · 손실)를 만드는 날. 09:00 Day 1 복습 퀴즈로 시작.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복습 퀴즈 결과에서 오답이 많은 문항(axis, keepdims, 수치 미분 h)은 해당 Day 1 애니메이션으로 2~3분 짚고 넘어간다.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과제 5 해설은 노트북 🔒 해설 보기 셀에 있다. 결정 경계가 직선인 이유(sigmoid(0)=0.5)와 계단 함수로는 기울기가 0 이라 학습이 안 되는 이유를 꼭 말로 설명하게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N_TITLE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N_CONTENT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4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Neural Network Day 2 · HYUNDAI AI Insight Campus 온디바이스 AI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CAMPUS/NN-day2/" TargetMode="External"/><Relationship Id="rId2" Type="http://schemas.openxmlformats.org/officeDocument/2006/relationships/hyperlink" Target="https://colab.research.google.com/github/imguru-mooc/AI_CAMPUS/blob/main/NN-day2/NN_Day2_lecture.ipynb" TargetMode="External"/><Relationship Id="rId3" Type="http://schemas.openxmlformats.org/officeDocument/2006/relationships/hyperlink" Target="https://imguru-mooc.github.io/AI_CAMPUS/NN-day2/animation.html" TargetMode="External"/><Relationship Id="rId4" Type="http://schemas.openxmlformats.org/officeDocument/2006/relationships/hyperlink" Target="https://imguru-mooc.github.io/AI_CAMPUS/NN-day2/worksheet.html" TargetMode="External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/>
          <p:cNvSpPr/>
          <p:nvPr/>
        </p:nvSpPr>
        <p:spPr>
          <a:xfrm>
            <a:off x="685800" y="1005840"/>
            <a:ext cx="109728" cy="2926080"/>
          </a:xfrm>
          <a:prstGeom prst="rect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3" name="text_1"/>
          <p:cNvSpPr txBox="1"/>
          <p:nvPr/>
        </p:nvSpPr>
        <p:spPr>
          <a:xfrm>
            <a:off x="1051560" y="10058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chemeClr val="accent1"/>
                </a:solidFill>
              </a:rPr>
              <a:t>Neural Network Day 2</a:t>
            </a:r>
            <a:endParaRPr lang="en-US" sz="4600" dirty="0"/>
          </a:p>
        </p:txBody>
      </p:sp>
      <p:sp>
        <p:nvSpPr>
          <p:cNvPr id="4" name="text_2"/>
          <p:cNvSpPr txBox="1"/>
          <p:nvPr/>
        </p:nvSpPr>
        <p:spPr>
          <a:xfrm>
            <a:off x="1051560" y="1920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뉴런 · 순전파 · 손실</a:t>
            </a:r>
            <a:endParaRPr lang="en-US" sz="2600" dirty="0"/>
          </a:p>
        </p:txBody>
      </p:sp>
      <p:sp>
        <p:nvSpPr>
          <p:cNvPr id="5" name="text_3"/>
          <p:cNvSpPr txBox="1"/>
          <p:nvPr/>
        </p:nvSpPr>
        <p:spPr>
          <a:xfrm>
            <a:off x="1051560" y="2743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HYUNDAI AI Insight Campus · 온디바이스 AI · Neural Network 2/5</a:t>
            </a:r>
            <a:endParaRPr lang="en-US" sz="1500" dirty="0"/>
          </a:p>
        </p:txBody>
      </p:sp>
      <p:sp>
        <p:nvSpPr>
          <p:cNvPr id="6" name="text_4"/>
          <p:cNvSpPr txBox="1"/>
          <p:nvPr/>
        </p:nvSpPr>
        <p:spPr>
          <a:xfrm>
            <a:off x="1051560" y="3200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2026. 10. 21 (수)  09:00–18:00  ·  8교시  ·  Google Colab</a:t>
            </a:r>
            <a:endParaRPr lang="en-US" sz="1300" dirty="0"/>
          </a:p>
        </p:txBody>
      </p:sp>
      <p:sp>
        <p:nvSpPr>
          <p:cNvPr id="7" name="tag_5"/>
          <p:cNvSpPr/>
          <p:nvPr/>
        </p:nvSpPr>
        <p:spPr>
          <a:xfrm>
            <a:off x="1051560" y="420624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8" name="text_6"/>
          <p:cNvSpPr txBox="1"/>
          <p:nvPr/>
        </p:nvSpPr>
        <p:spPr>
          <a:xfrm>
            <a:off x="1051560" y="42062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퍼셉트론</a:t>
            </a:r>
            <a:endParaRPr lang="en-US" sz="1100" dirty="0"/>
          </a:p>
        </p:txBody>
      </p:sp>
      <p:sp>
        <p:nvSpPr>
          <p:cNvPr id="9" name="tag_7"/>
          <p:cNvSpPr/>
          <p:nvPr/>
        </p:nvSpPr>
        <p:spPr>
          <a:xfrm>
            <a:off x="2651760" y="420624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" name="text_8"/>
          <p:cNvSpPr txBox="1"/>
          <p:nvPr/>
        </p:nvSpPr>
        <p:spPr>
          <a:xfrm>
            <a:off x="2651760" y="42062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XOR · MLP</a:t>
            </a:r>
            <a:endParaRPr lang="en-US" sz="1100" dirty="0"/>
          </a:p>
        </p:txBody>
      </p:sp>
      <p:sp>
        <p:nvSpPr>
          <p:cNvPr id="11" name="tag_9"/>
          <p:cNvSpPr/>
          <p:nvPr/>
        </p:nvSpPr>
        <p:spPr>
          <a:xfrm>
            <a:off x="4251960" y="420624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2" name="text_10"/>
          <p:cNvSpPr txBox="1"/>
          <p:nvPr/>
        </p:nvSpPr>
        <p:spPr>
          <a:xfrm>
            <a:off x="4251960" y="42062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활성화 함수</a:t>
            </a:r>
            <a:endParaRPr lang="en-US" sz="1100" dirty="0"/>
          </a:p>
        </p:txBody>
      </p:sp>
      <p:sp>
        <p:nvSpPr>
          <p:cNvPr id="13" name="tag_11"/>
          <p:cNvSpPr/>
          <p:nvPr/>
        </p:nvSpPr>
        <p:spPr>
          <a:xfrm>
            <a:off x="5852160" y="420624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4" name="text_12"/>
          <p:cNvSpPr txBox="1"/>
          <p:nvPr/>
        </p:nvSpPr>
        <p:spPr>
          <a:xfrm>
            <a:off x="5852160" y="42062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순전파</a:t>
            </a:r>
            <a:endParaRPr lang="en-US" sz="1100" dirty="0"/>
          </a:p>
        </p:txBody>
      </p:sp>
      <p:sp>
        <p:nvSpPr>
          <p:cNvPr id="15" name="tag_13"/>
          <p:cNvSpPr/>
          <p:nvPr/>
        </p:nvSpPr>
        <p:spPr>
          <a:xfrm>
            <a:off x="7452360" y="420624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16" name="text_14"/>
          <p:cNvSpPr txBox="1"/>
          <p:nvPr/>
        </p:nvSpPr>
        <p:spPr>
          <a:xfrm>
            <a:off x="7452360" y="42062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Softmax · CE</a:t>
            </a:r>
            <a:endParaRPr lang="en-US" sz="1100" dirty="0"/>
          </a:p>
        </p:txBody>
      </p:sp>
      <p:sp>
        <p:nvSpPr>
          <p:cNvPr id="17" name="tag_15"/>
          <p:cNvSpPr/>
          <p:nvPr/>
        </p:nvSpPr>
        <p:spPr>
          <a:xfrm>
            <a:off x="9052560" y="420624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8" name="text_16"/>
          <p:cNvSpPr txBox="1"/>
          <p:nvPr/>
        </p:nvSpPr>
        <p:spPr>
          <a:xfrm>
            <a:off x="9052560" y="42062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로지스틱 회귀</a:t>
            </a:r>
            <a:endParaRPr lang="en-US" sz="1100" dirty="0"/>
          </a:p>
        </p:txBody>
      </p:sp>
      <p:sp>
        <p:nvSpPr>
          <p:cNvPr id="19" name="text_17"/>
          <p:cNvSpPr txBox="1"/>
          <p:nvPr/>
        </p:nvSpPr>
        <p:spPr>
          <a:xfrm>
            <a:off x="1051560" y="5120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강사: 김정인 · 김구수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오늘의 학습 목표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수업이 끝나면 여러분은 다음을 할 수 있습니다</a:t>
            </a:r>
            <a:endParaRPr lang="en-US" sz="1300" dirty="0"/>
          </a:p>
        </p:txBody>
      </p:sp>
      <p:sp>
        <p:nvSpPr>
          <p:cNvPr id="4" name="panel_18"/>
          <p:cNvSpPr/>
          <p:nvPr/>
        </p:nvSpPr>
        <p:spPr>
          <a:xfrm>
            <a:off x="457200" y="146304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5" name="badge_19"/>
          <p:cNvSpPr/>
          <p:nvPr/>
        </p:nvSpPr>
        <p:spPr>
          <a:xfrm>
            <a:off x="685800" y="17373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badgeNum_20"/>
          <p:cNvSpPr txBox="1"/>
          <p:nvPr/>
        </p:nvSpPr>
        <p:spPr>
          <a:xfrm>
            <a:off x="68580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_21"/>
          <p:cNvSpPr txBox="1"/>
          <p:nvPr/>
        </p:nvSpPr>
        <p:spPr>
          <a:xfrm>
            <a:off x="1234440" y="16916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퍼셉트론</a:t>
            </a:r>
            <a:endParaRPr lang="en-US" sz="1700" dirty="0"/>
          </a:p>
        </p:txBody>
      </p:sp>
      <p:sp>
        <p:nvSpPr>
          <p:cNvPr id="8" name="text_22"/>
          <p:cNvSpPr txBox="1"/>
          <p:nvPr/>
        </p:nvSpPr>
        <p:spPr>
          <a:xfrm>
            <a:off x="1234440" y="212140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가중치 · 편향 · 계단 함수로 AND · OR · NAND 를 만들고 결정 직선을 그린다</a:t>
            </a:r>
            <a:endParaRPr lang="en-US" sz="1250" dirty="0"/>
          </a:p>
        </p:txBody>
      </p:sp>
      <p:sp>
        <p:nvSpPr>
          <p:cNvPr id="9" name="panel_23"/>
          <p:cNvSpPr/>
          <p:nvPr/>
        </p:nvSpPr>
        <p:spPr>
          <a:xfrm>
            <a:off x="6172200" y="146304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10" name="badge_24"/>
          <p:cNvSpPr/>
          <p:nvPr/>
        </p:nvSpPr>
        <p:spPr>
          <a:xfrm>
            <a:off x="6400800" y="173736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badgeNum_25"/>
          <p:cNvSpPr txBox="1"/>
          <p:nvPr/>
        </p:nvSpPr>
        <p:spPr>
          <a:xfrm>
            <a:off x="640080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_26"/>
          <p:cNvSpPr txBox="1"/>
          <p:nvPr/>
        </p:nvSpPr>
        <p:spPr>
          <a:xfrm>
            <a:off x="6949440" y="16916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학습 규칙과 한계</a:t>
            </a:r>
            <a:endParaRPr lang="en-US" sz="1700" dirty="0"/>
          </a:p>
        </p:txBody>
      </p:sp>
      <p:sp>
        <p:nvSpPr>
          <p:cNvPr id="13" name="text_27"/>
          <p:cNvSpPr txBox="1"/>
          <p:nvPr/>
        </p:nvSpPr>
        <p:spPr>
          <a:xfrm>
            <a:off x="6949440" y="212140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W ← W − η(y − t)x 로 학습시키고, XOR 이 직선 하나로 안 되는 이유를 설명한다</a:t>
            </a:r>
            <a:endParaRPr lang="en-US" sz="1250" dirty="0"/>
          </a:p>
        </p:txBody>
      </p:sp>
      <p:sp>
        <p:nvSpPr>
          <p:cNvPr id="14" name="panel_28"/>
          <p:cNvSpPr/>
          <p:nvPr/>
        </p:nvSpPr>
        <p:spPr>
          <a:xfrm>
            <a:off x="457200" y="306324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15" name="badge_29"/>
          <p:cNvSpPr/>
          <p:nvPr/>
        </p:nvSpPr>
        <p:spPr>
          <a:xfrm>
            <a:off x="685800" y="3337560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badgeNum_30"/>
          <p:cNvSpPr txBox="1"/>
          <p:nvPr/>
        </p:nvSpPr>
        <p:spPr>
          <a:xfrm>
            <a:off x="68580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_31"/>
          <p:cNvSpPr txBox="1"/>
          <p:nvPr/>
        </p:nvSpPr>
        <p:spPr>
          <a:xfrm>
            <a:off x="1234440" y="32918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다층 퍼셉트론</a:t>
            </a:r>
            <a:endParaRPr lang="en-US" sz="1700" dirty="0"/>
          </a:p>
        </p:txBody>
      </p:sp>
      <p:sp>
        <p:nvSpPr>
          <p:cNvPr id="18" name="text_32"/>
          <p:cNvSpPr txBox="1"/>
          <p:nvPr/>
        </p:nvSpPr>
        <p:spPr>
          <a:xfrm>
            <a:off x="1234440" y="372160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은닉층으로 XOR 을 풀고, 은닉층 = 공간 변환임을 그림으로 설명한다</a:t>
            </a:r>
            <a:endParaRPr lang="en-US" sz="1250" dirty="0"/>
          </a:p>
        </p:txBody>
      </p:sp>
      <p:sp>
        <p:nvSpPr>
          <p:cNvPr id="19" name="panel_33"/>
          <p:cNvSpPr/>
          <p:nvPr/>
        </p:nvSpPr>
        <p:spPr>
          <a:xfrm>
            <a:off x="6172200" y="306324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0" name="badge_34"/>
          <p:cNvSpPr/>
          <p:nvPr/>
        </p:nvSpPr>
        <p:spPr>
          <a:xfrm>
            <a:off x="6400800" y="333756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badgeNum_35"/>
          <p:cNvSpPr txBox="1"/>
          <p:nvPr/>
        </p:nvSpPr>
        <p:spPr>
          <a:xfrm>
            <a:off x="640080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2" name="text_36"/>
          <p:cNvSpPr txBox="1"/>
          <p:nvPr/>
        </p:nvSpPr>
        <p:spPr>
          <a:xfrm>
            <a:off x="6949440" y="32918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활성화 함수</a:t>
            </a:r>
            <a:endParaRPr lang="en-US" sz="1700" dirty="0"/>
          </a:p>
        </p:txBody>
      </p:sp>
      <p:sp>
        <p:nvSpPr>
          <p:cNvPr id="23" name="text_37"/>
          <p:cNvSpPr txBox="1"/>
          <p:nvPr/>
        </p:nvSpPr>
        <p:spPr>
          <a:xfrm>
            <a:off x="6949440" y="372160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sigmoid · ReLU 와 도함수를 구현하고, 비선형이 필요한 이유를 말한다</a:t>
            </a:r>
            <a:endParaRPr lang="en-US" sz="1250" dirty="0"/>
          </a:p>
        </p:txBody>
      </p:sp>
      <p:sp>
        <p:nvSpPr>
          <p:cNvPr id="24" name="panel_38"/>
          <p:cNvSpPr/>
          <p:nvPr/>
        </p:nvSpPr>
        <p:spPr>
          <a:xfrm>
            <a:off x="457200" y="466344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5" name="badge_39"/>
          <p:cNvSpPr/>
          <p:nvPr/>
        </p:nvSpPr>
        <p:spPr>
          <a:xfrm>
            <a:off x="685800" y="4937760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badgeNum_40"/>
          <p:cNvSpPr txBox="1"/>
          <p:nvPr/>
        </p:nvSpPr>
        <p:spPr>
          <a:xfrm>
            <a:off x="685800" y="4937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7" name="text_41"/>
          <p:cNvSpPr txBox="1"/>
          <p:nvPr/>
        </p:nvSpPr>
        <p:spPr>
          <a:xfrm>
            <a:off x="1234440" y="48920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순전파 · 출력층</a:t>
            </a:r>
            <a:endParaRPr lang="en-US" sz="1700" dirty="0"/>
          </a:p>
        </p:txBody>
      </p:sp>
      <p:sp>
        <p:nvSpPr>
          <p:cNvPr id="28" name="text_42"/>
          <p:cNvSpPr txBox="1"/>
          <p:nvPr/>
        </p:nvSpPr>
        <p:spPr>
          <a:xfrm>
            <a:off x="1234440" y="532180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2-3-2-2 망을 행렬로 계산하고 softmax 를 수치적으로 안정하게 구현한다</a:t>
            </a:r>
            <a:endParaRPr lang="en-US" sz="1250" dirty="0"/>
          </a:p>
        </p:txBody>
      </p:sp>
      <p:sp>
        <p:nvSpPr>
          <p:cNvPr id="29" name="panel_43"/>
          <p:cNvSpPr/>
          <p:nvPr/>
        </p:nvSpPr>
        <p:spPr>
          <a:xfrm>
            <a:off x="6172200" y="466344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30" name="badge_44"/>
          <p:cNvSpPr/>
          <p:nvPr/>
        </p:nvSpPr>
        <p:spPr>
          <a:xfrm>
            <a:off x="6400800" y="4937760"/>
            <a:ext cx="384048" cy="38404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1" name="badgeNum_45"/>
          <p:cNvSpPr txBox="1"/>
          <p:nvPr/>
        </p:nvSpPr>
        <p:spPr>
          <a:xfrm>
            <a:off x="6400800" y="4937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32" name="text_46"/>
          <p:cNvSpPr txBox="1"/>
          <p:nvPr/>
        </p:nvSpPr>
        <p:spPr>
          <a:xfrm>
            <a:off x="6949440" y="48920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손실 · 학습</a:t>
            </a:r>
            <a:endParaRPr lang="en-US" sz="1700" dirty="0"/>
          </a:p>
        </p:txBody>
      </p:sp>
      <p:sp>
        <p:nvSpPr>
          <p:cNvPr id="33" name="text_47"/>
          <p:cNvSpPr txBox="1"/>
          <p:nvPr/>
        </p:nvSpPr>
        <p:spPr>
          <a:xfrm>
            <a:off x="6949440" y="532180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MSE · CE 를 구현하고, 선형 · 로지스틱 회귀를 경사하강으로 학습시킨다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시간표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8교시 × 50분 · 점심 12:00–13:00 · 오전 뉴런과 층(퍼셉트론 → MLP), 오후 신경망 계산(활성화 · 순전파 · 손실) → 학습</a:t>
            </a:r>
            <a:endParaRPr lang="en-US" sz="1300" dirty="0"/>
          </a:p>
        </p:txBody>
      </p:sp>
      <p:graphicFrame>
        <p:nvGraphicFramePr>
          <p:cNvPr id="4" name="time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455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554480"/>
                <a:gridCol w="4937760"/>
                <a:gridCol w="1280160"/>
                <a:gridCol w="277063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8A9BB8"/>
                          </a:solidFill>
                        </a:rPr>
                        <a:t>교시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8A9BB8"/>
                          </a:solidFill>
                        </a:rPr>
                        <a:t>시간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8A9BB8"/>
                          </a:solidFill>
                        </a:rPr>
                        <a:t>주제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8A9BB8"/>
                          </a:solidFill>
                        </a:rPr>
                        <a:t>형태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8A9BB8"/>
                          </a:solidFill>
                        </a:rPr>
                        <a:t>애니메이션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09:00–09:50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Day 1 복습 퀴즈 · 퍼셉트론 · 논리 게이트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퀴즈 + 강의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D2-1 퍼셉트론 뉴런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10:00–10:50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퍼셉트론 학습 규칙 · 결정 경계 · XOR 의 한계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 + 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D2-2 퍼셉트론 학습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11:00–11:50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다층 퍼셉트론 — XOR 풀기 · 은닉층 = 공간 변환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 + 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D2-3 XOR 다층 퍼셉트론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13:00–13:50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활성화 함수 — sigmoid · ReLU · 도함수 · 기울기 소실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 + 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D2-4 활성화 함수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14:00–14:50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행렬로 보는 순전파 — 2-3-2-2 망 · shape · 파라미터 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 + 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D2-5 순전파 흐름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15:00–15:50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출력층과 손실 — softmax · one-hot · MSE · CE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 + 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D2-6 Softmax · D2-7 손실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16:00–16:50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선형 회귀를 경사하강으로 — 기울기 유도 · 검증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 + 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D2-8 선형 회귀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17:00–17:50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미니 프로젝트 — 로지스틱 회귀 분류기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DBE4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 실습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DD4B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D2-9 로지스틱 회귀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오늘의 자료 · 온라인 링크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예측(애니메이션) → 검증(노트북) → 점검(워크시트) — 모두 브라우저에서 바로 열립니다</a:t>
            </a:r>
            <a:endParaRPr lang="en-US" sz="1300" dirty="0"/>
          </a:p>
        </p:txBody>
      </p:sp>
      <p:sp>
        <p:nvSpPr>
          <p:cNvPr id="4" name="panel_48"/>
          <p:cNvSpPr/>
          <p:nvPr/>
        </p:nvSpPr>
        <p:spPr>
          <a:xfrm>
            <a:off x="457200" y="1463040"/>
            <a:ext cx="11274552" cy="1005840"/>
          </a:xfrm>
          <a:prstGeom prst="roundRect">
            <a:avLst>
              <a:gd name="adj" fmla="val 7273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5" name="text_49"/>
          <p:cNvSpPr txBox="1"/>
          <p:nvPr/>
        </p:nvSpPr>
        <p:spPr>
          <a:xfrm>
            <a:off x="685800" y="1572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기본 주소 (Day 2)</a:t>
            </a:r>
            <a:endParaRPr lang="en-US" sz="1200" dirty="0"/>
          </a:p>
        </p:txBody>
      </p:sp>
      <p:sp>
        <p:nvSpPr>
          <p:cNvPr id="6" name="text_50"/>
          <p:cNvSpPr txBox="1"/>
          <p:nvPr/>
        </p:nvSpPr>
        <p:spPr>
          <a:xfrm>
            <a:off x="685800" y="18745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u="sng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https://imguru-mooc.github.io/AI_CAMPUS/NN-day2/</a:t>
            </a:r>
            <a:endParaRPr lang="en-US" sz="1800" dirty="0"/>
          </a:p>
        </p:txBody>
      </p:sp>
      <p:sp>
        <p:nvSpPr>
          <p:cNvPr id="7" name="panel_51"/>
          <p:cNvSpPr/>
          <p:nvPr/>
        </p:nvSpPr>
        <p:spPr>
          <a:xfrm>
            <a:off x="457200" y="2697480"/>
            <a:ext cx="11274552" cy="640080"/>
          </a:xfrm>
          <a:prstGeom prst="roundRect">
            <a:avLst>
              <a:gd name="adj" fmla="val 1142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8" name="text_52"/>
          <p:cNvSpPr txBox="1"/>
          <p:nvPr/>
        </p:nvSpPr>
        <p:spPr>
          <a:xfrm>
            <a:off x="685800" y="26974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NN_Day2_lecture.ipynb</a:t>
            </a:r>
            <a:endParaRPr lang="en-US" sz="1400" dirty="0"/>
          </a:p>
        </p:txBody>
      </p:sp>
      <p:sp>
        <p:nvSpPr>
          <p:cNvPr id="9" name="text_53"/>
          <p:cNvSpPr txBox="1"/>
          <p:nvPr/>
        </p:nvSpPr>
        <p:spPr>
          <a:xfrm>
            <a:off x="4663440" y="26974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강의 노트북 — 1~8교시 + 미니 프로젝트, 빈칸 53개 · 🔒 정답 보기</a:t>
            </a:r>
            <a:endParaRPr lang="en-US" sz="1300" dirty="0"/>
          </a:p>
        </p:txBody>
      </p:sp>
      <p:sp>
        <p:nvSpPr>
          <p:cNvPr id="10" name="panel_54"/>
          <p:cNvSpPr/>
          <p:nvPr/>
        </p:nvSpPr>
        <p:spPr>
          <a:xfrm>
            <a:off x="457200" y="3474720"/>
            <a:ext cx="11274552" cy="640080"/>
          </a:xfrm>
          <a:prstGeom prst="roundRect">
            <a:avLst>
              <a:gd name="adj" fmla="val 1142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11" name="text_55"/>
          <p:cNvSpPr txBox="1"/>
          <p:nvPr/>
        </p:nvSpPr>
        <p:spPr>
          <a:xfrm>
            <a:off x="685800" y="34747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animation.html</a:t>
            </a:r>
            <a:endParaRPr lang="en-US" sz="1400" dirty="0"/>
          </a:p>
        </p:txBody>
      </p:sp>
      <p:sp>
        <p:nvSpPr>
          <p:cNvPr id="12" name="text_56"/>
          <p:cNvSpPr txBox="1"/>
          <p:nvPr/>
        </p:nvSpPr>
        <p:spPr>
          <a:xfrm>
            <a:off x="4663440" y="34747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애니메이션 9개 (D2-1 ~ D2-9) — #d2-5 처럼 바로가기</a:t>
            </a:r>
            <a:endParaRPr lang="en-US" sz="1300" dirty="0"/>
          </a:p>
        </p:txBody>
      </p:sp>
      <p:sp>
        <p:nvSpPr>
          <p:cNvPr id="13" name="panel_57"/>
          <p:cNvSpPr/>
          <p:nvPr/>
        </p:nvSpPr>
        <p:spPr>
          <a:xfrm>
            <a:off x="457200" y="4251960"/>
            <a:ext cx="11274552" cy="640080"/>
          </a:xfrm>
          <a:prstGeom prst="roundRect">
            <a:avLst>
              <a:gd name="adj" fmla="val 1142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14" name="text_58"/>
          <p:cNvSpPr txBox="1"/>
          <p:nvPr/>
        </p:nvSpPr>
        <p:spPr>
          <a:xfrm>
            <a:off x="685800" y="42519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worksheet.html</a:t>
            </a:r>
            <a:endParaRPr lang="en-US" sz="1400" dirty="0"/>
          </a:p>
        </p:txBody>
      </p:sp>
      <p:sp>
        <p:nvSpPr>
          <p:cNvPr id="15" name="text_59"/>
          <p:cNvSpPr txBox="1"/>
          <p:nvPr/>
        </p:nvSpPr>
        <p:spPr>
          <a:xfrm>
            <a:off x="4663440" y="42519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개념 워크시트 80문항 · 9가지 유형 — #t1 ~ #t8 교시 바로가기</a:t>
            </a:r>
            <a:endParaRPr lang="en-US" sz="1300" dirty="0"/>
          </a:p>
        </p:txBody>
      </p:sp>
      <p:sp>
        <p:nvSpPr>
          <p:cNvPr id="16" name="panel_60"/>
          <p:cNvSpPr/>
          <p:nvPr/>
        </p:nvSpPr>
        <p:spPr>
          <a:xfrm>
            <a:off x="457200" y="5029200"/>
            <a:ext cx="11274552" cy="640080"/>
          </a:xfrm>
          <a:prstGeom prst="roundRect">
            <a:avLst>
              <a:gd name="adj" fmla="val 1142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17" name="text_61"/>
          <p:cNvSpPr txBox="1"/>
          <p:nvPr/>
        </p:nvSpPr>
        <p:spPr>
          <a:xfrm>
            <a:off x="685800" y="50292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1 복습 퀴즈</a:t>
            </a:r>
            <a:endParaRPr lang="en-US" sz="1400" dirty="0"/>
          </a:p>
        </p:txBody>
      </p:sp>
      <p:sp>
        <p:nvSpPr>
          <p:cNvPr id="18" name="text_62"/>
          <p:cNvSpPr txBox="1"/>
          <p:nvPr/>
        </p:nvSpPr>
        <p:spPr>
          <a:xfrm>
            <a:off x="4663440" y="50292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09:00 시작 — 강사가 Google Forms 링크 공유 (20문항 · 15분)</a:t>
            </a:r>
            <a:endParaRPr lang="en-US" sz="1300" dirty="0"/>
          </a:p>
        </p:txBody>
      </p:sp>
      <p:sp>
        <p:nvSpPr>
          <p:cNvPr id="19" name="text_63"/>
          <p:cNvSpPr txBox="1"/>
          <p:nvPr/>
        </p:nvSpPr>
        <p:spPr>
          <a:xfrm>
            <a:off x="457200" y="58978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노트북은 "파일 → Drive에 사본 저장" 후 작업 · 런타임이 끊기면 환경 셀(numerical_gradient 포함)부터 다시 실행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오늘 만드는 것 — 학습의 고리 중 앞 두 칸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Day 1 에서 그린 고리: 모델 → 손실 → 기울기 → 갱신. 오늘은 모델(순전파)과 손실을 완성하고, 작은 모델로 고리를 한 바퀴 돌립니다</a:t>
            </a:r>
            <a:endParaRPr lang="en-US" sz="1300" dirty="0"/>
          </a:p>
        </p:txBody>
      </p:sp>
      <p:sp>
        <p:nvSpPr>
          <p:cNvPr id="4" name="panel_64"/>
          <p:cNvSpPr/>
          <p:nvPr/>
        </p:nvSpPr>
        <p:spPr>
          <a:xfrm>
            <a:off x="457200" y="182880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111A2E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5" name="text_65"/>
          <p:cNvSpPr txBox="1"/>
          <p:nvPr/>
        </p:nvSpPr>
        <p:spPr>
          <a:xfrm>
            <a:off x="640080" y="2011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모델 (순전파)</a:t>
            </a:r>
            <a:endParaRPr lang="en-US" sz="1800" dirty="0"/>
          </a:p>
        </p:txBody>
      </p:sp>
      <p:sp>
        <p:nvSpPr>
          <p:cNvPr id="6" name="text_66"/>
          <p:cNvSpPr txBox="1"/>
          <p:nvPr/>
        </p:nvSpPr>
        <p:spPr>
          <a:xfrm>
            <a:off x="640080" y="26517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퍼셉트론 → MLP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@ W + b → 활성화</a:t>
            </a:r>
            <a:endParaRPr lang="en-US" sz="1300" dirty="0"/>
          </a:p>
        </p:txBody>
      </p:sp>
      <p:sp>
        <p:nvSpPr>
          <p:cNvPr id="7" name="text_67"/>
          <p:cNvSpPr txBox="1"/>
          <p:nvPr/>
        </p:nvSpPr>
        <p:spPr>
          <a:xfrm>
            <a:off x="640080" y="39776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1~5교시</a:t>
            </a:r>
            <a:endParaRPr lang="en-US" sz="1200" dirty="0"/>
          </a:p>
        </p:txBody>
      </p:sp>
      <p:sp>
        <p:nvSpPr>
          <p:cNvPr id="8" name="text_68"/>
          <p:cNvSpPr txBox="1"/>
          <p:nvPr/>
        </p:nvSpPr>
        <p:spPr>
          <a:xfrm>
            <a:off x="3090672" y="29260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panel_69"/>
          <p:cNvSpPr/>
          <p:nvPr/>
        </p:nvSpPr>
        <p:spPr>
          <a:xfrm>
            <a:off x="3337560" y="182880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111A2E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10" name="text_70"/>
          <p:cNvSpPr txBox="1"/>
          <p:nvPr/>
        </p:nvSpPr>
        <p:spPr>
          <a:xfrm>
            <a:off x="3520440" y="2011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손실</a:t>
            </a:r>
            <a:endParaRPr lang="en-US" sz="1800" dirty="0"/>
          </a:p>
        </p:txBody>
      </p:sp>
      <p:sp>
        <p:nvSpPr>
          <p:cNvPr id="11" name="text_71"/>
          <p:cNvSpPr txBox="1"/>
          <p:nvPr/>
        </p:nvSpPr>
        <p:spPr>
          <a:xfrm>
            <a:off x="3520440" y="26517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MSE · Cross-Entropy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softmax · one-hot</a:t>
            </a:r>
            <a:endParaRPr lang="en-US" sz="1300" dirty="0"/>
          </a:p>
        </p:txBody>
      </p:sp>
      <p:sp>
        <p:nvSpPr>
          <p:cNvPr id="12" name="text_72"/>
          <p:cNvSpPr txBox="1"/>
          <p:nvPr/>
        </p:nvSpPr>
        <p:spPr>
          <a:xfrm>
            <a:off x="3520440" y="39776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6교시</a:t>
            </a:r>
            <a:endParaRPr lang="en-US" sz="1200" dirty="0"/>
          </a:p>
        </p:txBody>
      </p:sp>
      <p:sp>
        <p:nvSpPr>
          <p:cNvPr id="13" name="text_73"/>
          <p:cNvSpPr txBox="1"/>
          <p:nvPr/>
        </p:nvSpPr>
        <p:spPr>
          <a:xfrm>
            <a:off x="5971032" y="29260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panel_74"/>
          <p:cNvSpPr/>
          <p:nvPr/>
        </p:nvSpPr>
        <p:spPr>
          <a:xfrm>
            <a:off x="6217920" y="182880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111A2E"/>
          </a:solidFill>
          <a:ln w="19050">
            <a:solidFill>
              <a:srgbClr val="F5B942"/>
            </a:solidFill>
            <a:prstDash val="solid"/>
          </a:ln>
        </p:spPr>
      </p:sp>
      <p:sp>
        <p:nvSpPr>
          <p:cNvPr id="15" name="text_75"/>
          <p:cNvSpPr txBox="1"/>
          <p:nvPr/>
        </p:nvSpPr>
        <p:spPr>
          <a:xfrm>
            <a:off x="6400800" y="2011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기울기</a:t>
            </a:r>
            <a:endParaRPr lang="en-US" sz="1800" dirty="0"/>
          </a:p>
        </p:txBody>
      </p:sp>
      <p:sp>
        <p:nvSpPr>
          <p:cNvPr id="16" name="text_76"/>
          <p:cNvSpPr txBox="1"/>
          <p:nvPr/>
        </p:nvSpPr>
        <p:spPr>
          <a:xfrm>
            <a:off x="6400800" y="26517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손 유도 + 수치 미분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(Day 3: 역전파)</a:t>
            </a:r>
            <a:endParaRPr lang="en-US" sz="1300" dirty="0"/>
          </a:p>
        </p:txBody>
      </p:sp>
      <p:sp>
        <p:nvSpPr>
          <p:cNvPr id="17" name="text_77"/>
          <p:cNvSpPr txBox="1"/>
          <p:nvPr/>
        </p:nvSpPr>
        <p:spPr>
          <a:xfrm>
            <a:off x="6400800" y="39776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7 · 8교시</a:t>
            </a:r>
            <a:endParaRPr lang="en-US" sz="1200" dirty="0"/>
          </a:p>
        </p:txBody>
      </p:sp>
      <p:sp>
        <p:nvSpPr>
          <p:cNvPr id="18" name="text_78"/>
          <p:cNvSpPr txBox="1"/>
          <p:nvPr/>
        </p:nvSpPr>
        <p:spPr>
          <a:xfrm>
            <a:off x="8851392" y="29260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panel_79"/>
          <p:cNvSpPr/>
          <p:nvPr/>
        </p:nvSpPr>
        <p:spPr>
          <a:xfrm>
            <a:off x="9098280" y="182880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111A2E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20" name="text_80"/>
          <p:cNvSpPr txBox="1"/>
          <p:nvPr/>
        </p:nvSpPr>
        <p:spPr>
          <a:xfrm>
            <a:off x="9281160" y="2011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갱신</a:t>
            </a:r>
            <a:endParaRPr lang="en-US" sz="1800" dirty="0"/>
          </a:p>
        </p:txBody>
      </p:sp>
      <p:sp>
        <p:nvSpPr>
          <p:cNvPr id="21" name="text_81"/>
          <p:cNvSpPr txBox="1"/>
          <p:nvPr/>
        </p:nvSpPr>
        <p:spPr>
          <a:xfrm>
            <a:off x="9281160" y="26517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← W − η·dW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선형 · 로지스틱 회귀</a:t>
            </a:r>
            <a:endParaRPr lang="en-US" sz="1300" dirty="0"/>
          </a:p>
        </p:txBody>
      </p:sp>
      <p:sp>
        <p:nvSpPr>
          <p:cNvPr id="22" name="text_82"/>
          <p:cNvSpPr txBox="1"/>
          <p:nvPr/>
        </p:nvSpPr>
        <p:spPr>
          <a:xfrm>
            <a:off x="9281160" y="39776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7 · 8교시</a:t>
            </a:r>
            <a:endParaRPr lang="en-US" sz="1200" dirty="0"/>
          </a:p>
        </p:txBody>
      </p:sp>
      <p:sp>
        <p:nvSpPr>
          <p:cNvPr id="23" name="text_83"/>
          <p:cNvSpPr txBox="1"/>
          <p:nvPr/>
        </p:nvSpPr>
        <p:spPr>
          <a:xfrm>
            <a:off x="457200" y="502920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chemeClr val="accent1"/>
                </a:solidFill>
              </a:rPr>
              <a:t>수치 미분은 파라미터 수만큼 느려진다 — MNIST 79,510개 → step 당 손실 159,020번 → Day 3 역전파가 필요한 이유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_84"/>
          <p:cNvSpPr/>
          <p:nvPr/>
        </p:nvSpPr>
        <p:spPr>
          <a:xfrm>
            <a:off x="457200" y="384048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badgeNum_85"/>
          <p:cNvSpPr txBox="1"/>
          <p:nvPr/>
        </p:nvSpPr>
        <p:spPr>
          <a:xfrm>
            <a:off x="457200" y="3840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4" name="text_86"/>
          <p:cNvSpPr txBox="1"/>
          <p:nvPr/>
        </p:nvSpPr>
        <p:spPr>
          <a:xfrm>
            <a:off x="1005840" y="32004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Day 1 복습 퀴즈 · 퍼셉트론</a:t>
            </a:r>
            <a:endParaRPr lang="en-US" sz="2600" dirty="0"/>
          </a:p>
        </p:txBody>
      </p:sp>
      <p:sp>
        <p:nvSpPr>
          <p:cNvPr id="5" name="text_87"/>
          <p:cNvSpPr txBox="1"/>
          <p:nvPr/>
        </p:nvSpPr>
        <p:spPr>
          <a:xfrm>
            <a:off x="9875520" y="4114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09:00–09:50</a:t>
            </a:r>
            <a:endParaRPr lang="en-US" sz="1200" dirty="0"/>
          </a:p>
        </p:txBody>
      </p:sp>
      <p:sp>
        <p:nvSpPr>
          <p:cNvPr id="6" name="panel_88"/>
          <p:cNvSpPr/>
          <p:nvPr/>
        </p:nvSpPr>
        <p:spPr>
          <a:xfrm>
            <a:off x="457200" y="1143000"/>
            <a:ext cx="4206240" cy="5120640"/>
          </a:xfrm>
          <a:prstGeom prst="roundRect">
            <a:avLst>
              <a:gd name="adj" fmla="val 173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7" name="text_89"/>
          <p:cNvSpPr txBox="1"/>
          <p:nvPr/>
        </p:nvSpPr>
        <p:spPr>
          <a:xfrm>
            <a:off x="658368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학습 목표</a:t>
            </a:r>
            <a:endParaRPr lang="en-US" sz="1200" dirty="0"/>
          </a:p>
        </p:txBody>
      </p:sp>
      <p:sp>
        <p:nvSpPr>
          <p:cNvPr id="8" name="text_90"/>
          <p:cNvSpPr txBox="1"/>
          <p:nvPr/>
        </p:nvSpPr>
        <p:spPr>
          <a:xfrm>
            <a:off x="658368" y="1600200"/>
            <a:ext cx="3840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09:00–09:15 Day 1 복습 퀴즈 (Google Forms 20문항)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y = step(xW + b): 가중합 + 계단 함수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가중치 = 직선의 방향, 편향 = 직선의 위치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AND · NAND · OR = 같은 함수, 다른 숫자</a:t>
            </a:r>
            <a:endParaRPr lang="en-US" sz="1300" dirty="0"/>
          </a:p>
        </p:txBody>
      </p:sp>
      <p:sp>
        <p:nvSpPr>
          <p:cNvPr id="9" name="text_91"/>
          <p:cNvSpPr txBox="1"/>
          <p:nvPr/>
        </p:nvSpPr>
        <p:spPr>
          <a:xfrm>
            <a:off x="658368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노트북 실습</a:t>
            </a:r>
            <a:endParaRPr lang="en-US" sz="1200" dirty="0"/>
          </a:p>
        </p:txBody>
      </p:sp>
      <p:sp>
        <p:nvSpPr>
          <p:cNvPr id="10" name="badge_92"/>
          <p:cNvSpPr/>
          <p:nvPr/>
        </p:nvSpPr>
        <p:spPr>
          <a:xfrm>
            <a:off x="685800" y="39593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badgeNum_93"/>
          <p:cNvSpPr txBox="1"/>
          <p:nvPr/>
        </p:nvSpPr>
        <p:spPr>
          <a:xfrm>
            <a:off x="685800" y="3959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_94"/>
          <p:cNvSpPr txBox="1"/>
          <p:nvPr/>
        </p:nvSpPr>
        <p:spPr>
          <a:xfrm>
            <a:off x="1078992" y="39593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문제 1-1  perceptron · AND</a:t>
            </a:r>
            <a:endParaRPr lang="en-US" sz="1150" dirty="0"/>
          </a:p>
        </p:txBody>
      </p:sp>
      <p:sp>
        <p:nvSpPr>
          <p:cNvPr id="13" name="badge_95"/>
          <p:cNvSpPr/>
          <p:nvPr/>
        </p:nvSpPr>
        <p:spPr>
          <a:xfrm>
            <a:off x="685800" y="44165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badgeNum_96"/>
          <p:cNvSpPr txBox="1"/>
          <p:nvPr/>
        </p:nvSpPr>
        <p:spPr>
          <a:xfrm>
            <a:off x="685800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_97"/>
          <p:cNvSpPr txBox="1"/>
          <p:nvPr/>
        </p:nvSpPr>
        <p:spPr>
          <a:xfrm>
            <a:off x="1078992" y="44165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문제 1-2  NAND · OR 가중치</a:t>
            </a:r>
            <a:endParaRPr lang="en-US" sz="1150" dirty="0"/>
          </a:p>
        </p:txBody>
      </p:sp>
      <p:sp>
        <p:nvSpPr>
          <p:cNvPr id="16" name="badge_98"/>
          <p:cNvSpPr/>
          <p:nvPr/>
        </p:nvSpPr>
        <p:spPr>
          <a:xfrm>
            <a:off x="685800" y="48737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badgeNum_99"/>
          <p:cNvSpPr txBox="1"/>
          <p:nvPr/>
        </p:nvSpPr>
        <p:spPr>
          <a:xfrm>
            <a:off x="685800" y="4873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_100"/>
          <p:cNvSpPr txBox="1"/>
          <p:nvPr/>
        </p:nvSpPr>
        <p:spPr>
          <a:xfrm>
            <a:off x="1078992" y="48737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진리표 확인 · 결정 직선 그림</a:t>
            </a:r>
            <a:endParaRPr lang="en-US" sz="1150" dirty="0"/>
          </a:p>
        </p:txBody>
      </p:sp>
      <p:sp>
        <p:nvSpPr>
          <p:cNvPr id="19" name="animTag_101"/>
          <p:cNvSpPr/>
          <p:nvPr/>
        </p:nvSpPr>
        <p:spPr>
          <a:xfrm>
            <a:off x="658368" y="5760720"/>
            <a:ext cx="3803904" cy="347472"/>
          </a:xfrm>
          <a:prstGeom prst="roundRect">
            <a:avLst>
              <a:gd name="adj" fmla="val 13158"/>
            </a:avLst>
          </a:prstGeom>
          <a:solidFill>
            <a:srgbClr val="0F2A27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0" name="text_102"/>
          <p:cNvSpPr txBox="1"/>
          <p:nvPr/>
        </p:nvSpPr>
        <p:spPr>
          <a:xfrm>
            <a:off x="777240" y="5760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▶ 애니메이션  D2-1 퍼셉트론 뉴런</a:t>
            </a:r>
            <a:endParaRPr lang="en-US" sz="1100" dirty="0"/>
          </a:p>
        </p:txBody>
      </p:sp>
      <p:sp>
        <p:nvSpPr>
          <p:cNvPr id="21" name="panel_103"/>
          <p:cNvSpPr/>
          <p:nvPr/>
        </p:nvSpPr>
        <p:spPr>
          <a:xfrm>
            <a:off x="4846320" y="1143000"/>
            <a:ext cx="6903720" cy="5120640"/>
          </a:xfrm>
          <a:prstGeom prst="roundRect">
            <a:avLst>
              <a:gd name="adj" fmla="val 142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2" name="text_104"/>
          <p:cNvSpPr txBox="1"/>
          <p:nvPr/>
        </p:nvSpPr>
        <p:spPr>
          <a:xfrm>
            <a:off x="5047488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핵심 개념</a:t>
            </a:r>
            <a:endParaRPr lang="en-US" sz="1200" dirty="0"/>
          </a:p>
        </p:txBody>
      </p:sp>
      <p:sp>
        <p:nvSpPr>
          <p:cNvPr id="23" name="text_105"/>
          <p:cNvSpPr txBox="1"/>
          <p:nvPr/>
        </p:nvSpPr>
        <p:spPr>
          <a:xfrm>
            <a:off x="5047488" y="164592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퍼셉트론</a:t>
            </a:r>
            <a:endParaRPr lang="en-US" sz="1250" dirty="0"/>
          </a:p>
        </p:txBody>
      </p:sp>
      <p:sp>
        <p:nvSpPr>
          <p:cNvPr id="24" name="codebg_106"/>
          <p:cNvSpPr/>
          <p:nvPr/>
        </p:nvSpPr>
        <p:spPr>
          <a:xfrm>
            <a:off x="6446520" y="164592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5" name="code_107"/>
          <p:cNvSpPr txBox="1"/>
          <p:nvPr/>
        </p:nvSpPr>
        <p:spPr>
          <a:xfrm>
            <a:off x="6556248" y="170078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x @ W + 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1 if s &gt; 0 else 0</a:t>
            </a:r>
            <a:endParaRPr lang="en-US" sz="1300" dirty="0"/>
          </a:p>
        </p:txBody>
      </p:sp>
      <p:sp>
        <p:nvSpPr>
          <p:cNvPr id="26" name="text_108"/>
          <p:cNvSpPr txBox="1"/>
          <p:nvPr/>
        </p:nvSpPr>
        <p:spPr>
          <a:xfrm>
            <a:off x="5047488" y="254889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AND</a:t>
            </a:r>
            <a:endParaRPr lang="en-US" sz="1250" dirty="0"/>
          </a:p>
        </p:txBody>
      </p:sp>
      <p:sp>
        <p:nvSpPr>
          <p:cNvPr id="27" name="codebg_109"/>
          <p:cNvSpPr/>
          <p:nvPr/>
        </p:nvSpPr>
        <p:spPr>
          <a:xfrm>
            <a:off x="6446520" y="254889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8" name="code_110"/>
          <p:cNvSpPr txBox="1"/>
          <p:nvPr/>
        </p:nvSpPr>
        <p:spPr>
          <a:xfrm>
            <a:off x="6556248" y="260375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= (0.5, 0.5),  b = -0.7</a:t>
            </a:r>
            <a:endParaRPr lang="en-US" sz="1300" dirty="0"/>
          </a:p>
        </p:txBody>
      </p:sp>
      <p:sp>
        <p:nvSpPr>
          <p:cNvPr id="29" name="text_111"/>
          <p:cNvSpPr txBox="1"/>
          <p:nvPr/>
        </p:nvSpPr>
        <p:spPr>
          <a:xfrm>
            <a:off x="5047488" y="345186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NAND · OR</a:t>
            </a:r>
            <a:endParaRPr lang="en-US" sz="1250" dirty="0"/>
          </a:p>
        </p:txBody>
      </p:sp>
      <p:sp>
        <p:nvSpPr>
          <p:cNvPr id="30" name="codebg_112"/>
          <p:cNvSpPr/>
          <p:nvPr/>
        </p:nvSpPr>
        <p:spPr>
          <a:xfrm>
            <a:off x="6446520" y="345186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31" name="code_113"/>
          <p:cNvSpPr txBox="1"/>
          <p:nvPr/>
        </p:nvSpPr>
        <p:spPr>
          <a:xfrm>
            <a:off x="6556248" y="350672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NAND: W = (-0.5, -0.5), b = 0.7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  : W = ( 0.5,  0.5), b = -0.2</a:t>
            </a:r>
            <a:endParaRPr lang="en-US" sz="1300" dirty="0"/>
          </a:p>
        </p:txBody>
      </p:sp>
      <p:sp>
        <p:nvSpPr>
          <p:cNvPr id="32" name="text_114"/>
          <p:cNvSpPr txBox="1"/>
          <p:nvPr/>
        </p:nvSpPr>
        <p:spPr>
          <a:xfrm>
            <a:off x="5047488" y="435483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결정 경계</a:t>
            </a:r>
            <a:endParaRPr lang="en-US" sz="1250" dirty="0"/>
          </a:p>
        </p:txBody>
      </p:sp>
      <p:sp>
        <p:nvSpPr>
          <p:cNvPr id="33" name="codebg_115"/>
          <p:cNvSpPr/>
          <p:nvPr/>
        </p:nvSpPr>
        <p:spPr>
          <a:xfrm>
            <a:off x="6446520" y="435483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34" name="code_116"/>
          <p:cNvSpPr txBox="1"/>
          <p:nvPr/>
        </p:nvSpPr>
        <p:spPr>
          <a:xfrm>
            <a:off x="6556248" y="440969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x1·W1 + x2·W2 + b = 0   # 직선</a:t>
            </a:r>
            <a:endParaRPr lang="en-US" sz="1300" dirty="0"/>
          </a:p>
        </p:txBody>
      </p:sp>
      <p:sp>
        <p:nvSpPr>
          <p:cNvPr id="35" name="text_117"/>
          <p:cNvSpPr txBox="1"/>
          <p:nvPr/>
        </p:nvSpPr>
        <p:spPr>
          <a:xfrm>
            <a:off x="5047488" y="5349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체크포인트</a:t>
            </a:r>
            <a:endParaRPr lang="en-US" sz="1150" dirty="0"/>
          </a:p>
        </p:txBody>
      </p:sp>
      <p:sp>
        <p:nvSpPr>
          <p:cNvPr id="36" name="text_118"/>
          <p:cNvSpPr txBox="1"/>
          <p:nvPr/>
        </p:nvSpPr>
        <p:spPr>
          <a:xfrm>
            <a:off x="5047488" y="562356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기능은 코드가 아니라 숫자(파라미터)에 들어 있다 — Day 1 의 "규칙 = 숫자의 모음".</a:t>
            </a:r>
            <a:endParaRPr lang="en-US" sz="1150" dirty="0"/>
          </a:p>
        </p:txBody>
      </p:sp>
      <p:sp>
        <p:nvSpPr>
          <p:cNvPr id="38" name="Text 0"/>
          <p:cNvSpPr/>
          <p:nvPr>
            <p:ph idx="100" type="title" hasCustomPrompt="1"/>
          </p:nvPr>
        </p:nvSpPr>
        <p:spPr>
          <a:xfrm>
            <a:off x="457200" y="2743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9" name="Text 0"/>
          <p:cNvSpPr/>
          <p:nvPr>
            <p:ph idx="101" type="body" hasCustomPrompt="1"/>
          </p:nvPr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_119"/>
          <p:cNvSpPr/>
          <p:nvPr/>
        </p:nvSpPr>
        <p:spPr>
          <a:xfrm>
            <a:off x="457200" y="384048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badgeNum_120"/>
          <p:cNvSpPr txBox="1"/>
          <p:nvPr/>
        </p:nvSpPr>
        <p:spPr>
          <a:xfrm>
            <a:off x="457200" y="3840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4" name="text_121"/>
          <p:cNvSpPr txBox="1"/>
          <p:nvPr/>
        </p:nvSpPr>
        <p:spPr>
          <a:xfrm>
            <a:off x="1005840" y="32004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퍼셉트론 학습과 한계</a:t>
            </a:r>
            <a:endParaRPr lang="en-US" sz="2600" dirty="0"/>
          </a:p>
        </p:txBody>
      </p:sp>
      <p:sp>
        <p:nvSpPr>
          <p:cNvPr id="5" name="text_122"/>
          <p:cNvSpPr txBox="1"/>
          <p:nvPr/>
        </p:nvSpPr>
        <p:spPr>
          <a:xfrm>
            <a:off x="9875520" y="4114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10:00–10:50</a:t>
            </a:r>
            <a:endParaRPr lang="en-US" sz="1200" dirty="0"/>
          </a:p>
        </p:txBody>
      </p:sp>
      <p:sp>
        <p:nvSpPr>
          <p:cNvPr id="6" name="panel_123"/>
          <p:cNvSpPr/>
          <p:nvPr/>
        </p:nvSpPr>
        <p:spPr>
          <a:xfrm>
            <a:off x="457200" y="1143000"/>
            <a:ext cx="4206240" cy="5120640"/>
          </a:xfrm>
          <a:prstGeom prst="roundRect">
            <a:avLst>
              <a:gd name="adj" fmla="val 173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7" name="text_124"/>
          <p:cNvSpPr txBox="1"/>
          <p:nvPr/>
        </p:nvSpPr>
        <p:spPr>
          <a:xfrm>
            <a:off x="658368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학습 목표</a:t>
            </a:r>
            <a:endParaRPr lang="en-US" sz="1200" dirty="0"/>
          </a:p>
        </p:txBody>
      </p:sp>
      <p:sp>
        <p:nvSpPr>
          <p:cNvPr id="8" name="text_125"/>
          <p:cNvSpPr txBox="1"/>
          <p:nvPr/>
        </p:nvSpPr>
        <p:spPr>
          <a:xfrm>
            <a:off x="658368" y="1600200"/>
            <a:ext cx="3840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학습 규칙: 틀렸을 때만, 틀린 쪽으로 고친다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epoch = 데이터 전체를 한 바퀴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결정 경계 x2 = −(W1·x1 + b) / W2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XOR 은 선형 분리 불가 → 퍼셉트론 하나로 불가능</a:t>
            </a:r>
            <a:endParaRPr lang="en-US" sz="1300" dirty="0"/>
          </a:p>
        </p:txBody>
      </p:sp>
      <p:sp>
        <p:nvSpPr>
          <p:cNvPr id="9" name="text_126"/>
          <p:cNvSpPr txBox="1"/>
          <p:nvPr/>
        </p:nvSpPr>
        <p:spPr>
          <a:xfrm>
            <a:off x="658368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노트북 실습</a:t>
            </a:r>
            <a:endParaRPr lang="en-US" sz="1200" dirty="0"/>
          </a:p>
        </p:txBody>
      </p:sp>
      <p:sp>
        <p:nvSpPr>
          <p:cNvPr id="10" name="badge_127"/>
          <p:cNvSpPr/>
          <p:nvPr/>
        </p:nvSpPr>
        <p:spPr>
          <a:xfrm>
            <a:off x="685800" y="39593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badgeNum_128"/>
          <p:cNvSpPr txBox="1"/>
          <p:nvPr/>
        </p:nvSpPr>
        <p:spPr>
          <a:xfrm>
            <a:off x="685800" y="3959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_129"/>
          <p:cNvSpPr txBox="1"/>
          <p:nvPr/>
        </p:nvSpPr>
        <p:spPr>
          <a:xfrm>
            <a:off x="1078992" y="39593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문제 2-1  train_perceptron</a:t>
            </a:r>
            <a:endParaRPr lang="en-US" sz="1150" dirty="0"/>
          </a:p>
        </p:txBody>
      </p:sp>
      <p:sp>
        <p:nvSpPr>
          <p:cNvPr id="13" name="badge_130"/>
          <p:cNvSpPr/>
          <p:nvPr/>
        </p:nvSpPr>
        <p:spPr>
          <a:xfrm>
            <a:off x="685800" y="44165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badgeNum_131"/>
          <p:cNvSpPr txBox="1"/>
          <p:nvPr/>
        </p:nvSpPr>
        <p:spPr>
          <a:xfrm>
            <a:off x="685800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_132"/>
          <p:cNvSpPr txBox="1"/>
          <p:nvPr/>
        </p:nvSpPr>
        <p:spPr>
          <a:xfrm>
            <a:off x="1078992" y="44165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문제 2-2  boundary_x2 · 그래프</a:t>
            </a:r>
            <a:endParaRPr lang="en-US" sz="1150" dirty="0"/>
          </a:p>
        </p:txBody>
      </p:sp>
      <p:sp>
        <p:nvSpPr>
          <p:cNvPr id="16" name="badge_133"/>
          <p:cNvSpPr/>
          <p:nvPr/>
        </p:nvSpPr>
        <p:spPr>
          <a:xfrm>
            <a:off x="685800" y="48737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badgeNum_134"/>
          <p:cNvSpPr txBox="1"/>
          <p:nvPr/>
        </p:nvSpPr>
        <p:spPr>
          <a:xfrm>
            <a:off x="685800" y="4873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_135"/>
          <p:cNvSpPr txBox="1"/>
          <p:nvPr/>
        </p:nvSpPr>
        <p:spPr>
          <a:xfrm>
            <a:off x="1078992" y="48737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XOR 실험 · 정확도 곡선</a:t>
            </a:r>
            <a:endParaRPr lang="en-US" sz="1150" dirty="0"/>
          </a:p>
        </p:txBody>
      </p:sp>
      <p:sp>
        <p:nvSpPr>
          <p:cNvPr id="19" name="animTag_136"/>
          <p:cNvSpPr/>
          <p:nvPr/>
        </p:nvSpPr>
        <p:spPr>
          <a:xfrm>
            <a:off x="658368" y="5760720"/>
            <a:ext cx="3803904" cy="347472"/>
          </a:xfrm>
          <a:prstGeom prst="roundRect">
            <a:avLst>
              <a:gd name="adj" fmla="val 13158"/>
            </a:avLst>
          </a:prstGeom>
          <a:solidFill>
            <a:srgbClr val="0F2A27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0" name="text_137"/>
          <p:cNvSpPr txBox="1"/>
          <p:nvPr/>
        </p:nvSpPr>
        <p:spPr>
          <a:xfrm>
            <a:off x="777240" y="5760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▶ 애니메이션  D2-2 퍼셉트론 학습</a:t>
            </a:r>
            <a:endParaRPr lang="en-US" sz="1100" dirty="0"/>
          </a:p>
        </p:txBody>
      </p:sp>
      <p:sp>
        <p:nvSpPr>
          <p:cNvPr id="21" name="panel_138"/>
          <p:cNvSpPr/>
          <p:nvPr/>
        </p:nvSpPr>
        <p:spPr>
          <a:xfrm>
            <a:off x="4846320" y="1143000"/>
            <a:ext cx="6903720" cy="5120640"/>
          </a:xfrm>
          <a:prstGeom prst="roundRect">
            <a:avLst>
              <a:gd name="adj" fmla="val 142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2" name="text_139"/>
          <p:cNvSpPr txBox="1"/>
          <p:nvPr/>
        </p:nvSpPr>
        <p:spPr>
          <a:xfrm>
            <a:off x="5047488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핵심 개념</a:t>
            </a:r>
            <a:endParaRPr lang="en-US" sz="1200" dirty="0"/>
          </a:p>
        </p:txBody>
      </p:sp>
      <p:sp>
        <p:nvSpPr>
          <p:cNvPr id="23" name="text_140"/>
          <p:cNvSpPr txBox="1"/>
          <p:nvPr/>
        </p:nvSpPr>
        <p:spPr>
          <a:xfrm>
            <a:off x="5047488" y="1645920"/>
            <a:ext cx="1371600" cy="1094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학습 규칙</a:t>
            </a:r>
            <a:endParaRPr lang="en-US" sz="1250" dirty="0"/>
          </a:p>
        </p:txBody>
      </p:sp>
      <p:sp>
        <p:nvSpPr>
          <p:cNvPr id="24" name="codebg_141"/>
          <p:cNvSpPr/>
          <p:nvPr/>
        </p:nvSpPr>
        <p:spPr>
          <a:xfrm>
            <a:off x="6446520" y="1645920"/>
            <a:ext cx="5120640" cy="1094232"/>
          </a:xfrm>
          <a:prstGeom prst="roundRect">
            <a:avLst>
              <a:gd name="adj" fmla="val 4178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5" name="code_142"/>
          <p:cNvSpPr txBox="1"/>
          <p:nvPr/>
        </p:nvSpPr>
        <p:spPr>
          <a:xfrm>
            <a:off x="6556248" y="1700784"/>
            <a:ext cx="4901184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= W - lr * (y - t) * 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b - lr * (y - t)</a:t>
            </a:r>
            <a:endParaRPr lang="en-US" sz="1300" dirty="0"/>
          </a:p>
        </p:txBody>
      </p:sp>
      <p:sp>
        <p:nvSpPr>
          <p:cNvPr id="26" name="text_143"/>
          <p:cNvSpPr txBox="1"/>
          <p:nvPr/>
        </p:nvSpPr>
        <p:spPr>
          <a:xfrm>
            <a:off x="5047488" y="2849880"/>
            <a:ext cx="1371600" cy="1094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AND 학습</a:t>
            </a:r>
            <a:endParaRPr lang="en-US" sz="1250" dirty="0"/>
          </a:p>
        </p:txBody>
      </p:sp>
      <p:sp>
        <p:nvSpPr>
          <p:cNvPr id="27" name="codebg_144"/>
          <p:cNvSpPr/>
          <p:nvPr/>
        </p:nvSpPr>
        <p:spPr>
          <a:xfrm>
            <a:off x="6446520" y="2849880"/>
            <a:ext cx="5120640" cy="1094232"/>
          </a:xfrm>
          <a:prstGeom prst="roundRect">
            <a:avLst>
              <a:gd name="adj" fmla="val 4178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8" name="code_145"/>
          <p:cNvSpPr txBox="1"/>
          <p:nvPr/>
        </p:nvSpPr>
        <p:spPr>
          <a:xfrm>
            <a:off x="6556248" y="2904744"/>
            <a:ext cx="4901184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epoch → 정확도 1.0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= (0.2, 0.1), b = -0.2</a:t>
            </a:r>
            <a:endParaRPr lang="en-US" sz="1300" dirty="0"/>
          </a:p>
        </p:txBody>
      </p:sp>
      <p:sp>
        <p:nvSpPr>
          <p:cNvPr id="29" name="text_146"/>
          <p:cNvSpPr txBox="1"/>
          <p:nvPr/>
        </p:nvSpPr>
        <p:spPr>
          <a:xfrm>
            <a:off x="5047488" y="4053840"/>
            <a:ext cx="1371600" cy="1094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XOR 학습</a:t>
            </a:r>
            <a:endParaRPr lang="en-US" sz="1250" dirty="0"/>
          </a:p>
        </p:txBody>
      </p:sp>
      <p:sp>
        <p:nvSpPr>
          <p:cNvPr id="30" name="codebg_147"/>
          <p:cNvSpPr/>
          <p:nvPr/>
        </p:nvSpPr>
        <p:spPr>
          <a:xfrm>
            <a:off x="6446520" y="4053840"/>
            <a:ext cx="5120640" cy="1094232"/>
          </a:xfrm>
          <a:prstGeom prst="roundRect">
            <a:avLst>
              <a:gd name="adj" fmla="val 4178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31" name="code_148"/>
          <p:cNvSpPr txBox="1"/>
          <p:nvPr/>
        </p:nvSpPr>
        <p:spPr>
          <a:xfrm>
            <a:off x="6556248" y="4108704"/>
            <a:ext cx="4901184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 epoch 내내 정확도 0.5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모델이 표현할 수 없음</a:t>
            </a:r>
            <a:endParaRPr lang="en-US" sz="1300" dirty="0"/>
          </a:p>
        </p:txBody>
      </p:sp>
      <p:sp>
        <p:nvSpPr>
          <p:cNvPr id="32" name="text_149"/>
          <p:cNvSpPr txBox="1"/>
          <p:nvPr/>
        </p:nvSpPr>
        <p:spPr>
          <a:xfrm>
            <a:off x="5047488" y="5349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체크포인트</a:t>
            </a:r>
            <a:endParaRPr lang="en-US" sz="1150" dirty="0"/>
          </a:p>
        </p:txBody>
      </p:sp>
      <p:sp>
        <p:nvSpPr>
          <p:cNvPr id="33" name="text_150"/>
          <p:cNvSpPr txBox="1"/>
          <p:nvPr/>
        </p:nvSpPr>
        <p:spPr>
          <a:xfrm>
            <a:off x="5047488" y="562356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학습 방법이 나빠서가 아니라 모델(직선 하나)이 XOR 을 표현할 수 없다. 1969 Minsky &amp; Papert → 첫 번째 AI 겨울.</a:t>
            </a:r>
            <a:endParaRPr lang="en-US" sz="1150" dirty="0"/>
          </a:p>
        </p:txBody>
      </p:sp>
      <p:sp>
        <p:nvSpPr>
          <p:cNvPr id="34" name="Text 0"/>
          <p:cNvSpPr/>
          <p:nvPr>
            <p:ph idx="100" type="title" hasCustomPrompt="1"/>
          </p:nvPr>
        </p:nvSpPr>
        <p:spPr>
          <a:xfrm>
            <a:off x="457200" y="2743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5" name="Text 0"/>
          <p:cNvSpPr/>
          <p:nvPr>
            <p:ph idx="101" type="body" hasCustomPrompt="1"/>
          </p:nvPr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_151"/>
          <p:cNvSpPr/>
          <p:nvPr/>
        </p:nvSpPr>
        <p:spPr>
          <a:xfrm>
            <a:off x="457200" y="384048"/>
            <a:ext cx="438912" cy="43891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badgeNum_152"/>
          <p:cNvSpPr txBox="1"/>
          <p:nvPr/>
        </p:nvSpPr>
        <p:spPr>
          <a:xfrm>
            <a:off x="457200" y="3840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4" name="text_153"/>
          <p:cNvSpPr txBox="1"/>
          <p:nvPr/>
        </p:nvSpPr>
        <p:spPr>
          <a:xfrm>
            <a:off x="1005840" y="32004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다층 퍼셉트론 — XOR 풀기</a:t>
            </a:r>
            <a:endParaRPr lang="en-US" sz="2600" dirty="0"/>
          </a:p>
        </p:txBody>
      </p:sp>
      <p:sp>
        <p:nvSpPr>
          <p:cNvPr id="5" name="text_154"/>
          <p:cNvSpPr txBox="1"/>
          <p:nvPr/>
        </p:nvSpPr>
        <p:spPr>
          <a:xfrm>
            <a:off x="9875520" y="4114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11:00–11:50</a:t>
            </a:r>
            <a:endParaRPr lang="en-US" sz="1200" dirty="0"/>
          </a:p>
        </p:txBody>
      </p:sp>
      <p:sp>
        <p:nvSpPr>
          <p:cNvPr id="6" name="panel_155"/>
          <p:cNvSpPr/>
          <p:nvPr/>
        </p:nvSpPr>
        <p:spPr>
          <a:xfrm>
            <a:off x="457200" y="1143000"/>
            <a:ext cx="4206240" cy="5120640"/>
          </a:xfrm>
          <a:prstGeom prst="roundRect">
            <a:avLst>
              <a:gd name="adj" fmla="val 173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7" name="text_156"/>
          <p:cNvSpPr txBox="1"/>
          <p:nvPr/>
        </p:nvSpPr>
        <p:spPr>
          <a:xfrm>
            <a:off x="658368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학습 목표</a:t>
            </a:r>
            <a:endParaRPr lang="en-US" sz="1200" dirty="0"/>
          </a:p>
        </p:txBody>
      </p:sp>
      <p:sp>
        <p:nvSpPr>
          <p:cNvPr id="8" name="text_157"/>
          <p:cNvSpPr txBox="1"/>
          <p:nvPr/>
        </p:nvSpPr>
        <p:spPr>
          <a:xfrm>
            <a:off x="658368" y="1600200"/>
            <a:ext cx="3840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XOR = AND(NAND(x), OR(x)) — 직선 두 개 + 조합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은닉층 = 입력을 새 공간으로 옮기는 변환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층 하나 = step(X @ W + b), 뉴런 여러 개를 행렬로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가중치를 학습하려면 미분 가능해야 한다</a:t>
            </a:r>
            <a:endParaRPr lang="en-US" sz="1300" dirty="0"/>
          </a:p>
        </p:txBody>
      </p:sp>
      <p:sp>
        <p:nvSpPr>
          <p:cNvPr id="9" name="text_158"/>
          <p:cNvSpPr txBox="1"/>
          <p:nvPr/>
        </p:nvSpPr>
        <p:spPr>
          <a:xfrm>
            <a:off x="658368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노트북 실습</a:t>
            </a:r>
            <a:endParaRPr lang="en-US" sz="1200" dirty="0"/>
          </a:p>
        </p:txBody>
      </p:sp>
      <p:sp>
        <p:nvSpPr>
          <p:cNvPr id="10" name="badge_159"/>
          <p:cNvSpPr/>
          <p:nvPr/>
        </p:nvSpPr>
        <p:spPr>
          <a:xfrm>
            <a:off x="685800" y="39593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badgeNum_160"/>
          <p:cNvSpPr txBox="1"/>
          <p:nvPr/>
        </p:nvSpPr>
        <p:spPr>
          <a:xfrm>
            <a:off x="685800" y="3959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_161"/>
          <p:cNvSpPr txBox="1"/>
          <p:nvPr/>
        </p:nvSpPr>
        <p:spPr>
          <a:xfrm>
            <a:off x="1078992" y="39593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문제 3-1  XOR 게이트 조합</a:t>
            </a:r>
            <a:endParaRPr lang="en-US" sz="1150" dirty="0"/>
          </a:p>
        </p:txBody>
      </p:sp>
      <p:sp>
        <p:nvSpPr>
          <p:cNvPr id="13" name="badge_162"/>
          <p:cNvSpPr/>
          <p:nvPr/>
        </p:nvSpPr>
        <p:spPr>
          <a:xfrm>
            <a:off x="685800" y="44165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badgeNum_163"/>
          <p:cNvSpPr txBox="1"/>
          <p:nvPr/>
        </p:nvSpPr>
        <p:spPr>
          <a:xfrm>
            <a:off x="685800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_164"/>
          <p:cNvSpPr txBox="1"/>
          <p:nvPr/>
        </p:nvSpPr>
        <p:spPr>
          <a:xfrm>
            <a:off x="1078992" y="44165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은닉 좌표 출력 · 공간 변환 그림</a:t>
            </a:r>
            <a:endParaRPr lang="en-US" sz="1150" dirty="0"/>
          </a:p>
        </p:txBody>
      </p:sp>
      <p:sp>
        <p:nvSpPr>
          <p:cNvPr id="16" name="badge_165"/>
          <p:cNvSpPr/>
          <p:nvPr/>
        </p:nvSpPr>
        <p:spPr>
          <a:xfrm>
            <a:off x="685800" y="48737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badgeNum_166"/>
          <p:cNvSpPr txBox="1"/>
          <p:nvPr/>
        </p:nvSpPr>
        <p:spPr>
          <a:xfrm>
            <a:off x="685800" y="4873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_167"/>
          <p:cNvSpPr txBox="1"/>
          <p:nvPr/>
        </p:nvSpPr>
        <p:spPr>
          <a:xfrm>
            <a:off x="1078992" y="48737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문제 3-2  행렬로 쓴 2층 망</a:t>
            </a:r>
            <a:endParaRPr lang="en-US" sz="1150" dirty="0"/>
          </a:p>
        </p:txBody>
      </p:sp>
      <p:sp>
        <p:nvSpPr>
          <p:cNvPr id="19" name="animTag_168"/>
          <p:cNvSpPr/>
          <p:nvPr/>
        </p:nvSpPr>
        <p:spPr>
          <a:xfrm>
            <a:off x="658368" y="5760720"/>
            <a:ext cx="3803904" cy="347472"/>
          </a:xfrm>
          <a:prstGeom prst="roundRect">
            <a:avLst>
              <a:gd name="adj" fmla="val 13158"/>
            </a:avLst>
          </a:prstGeom>
          <a:solidFill>
            <a:srgbClr val="0F2A27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0" name="text_169"/>
          <p:cNvSpPr txBox="1"/>
          <p:nvPr/>
        </p:nvSpPr>
        <p:spPr>
          <a:xfrm>
            <a:off x="777240" y="5760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▶ 애니메이션  D2-3 XOR 다층 퍼셉트론</a:t>
            </a:r>
            <a:endParaRPr lang="en-US" sz="1100" dirty="0"/>
          </a:p>
        </p:txBody>
      </p:sp>
      <p:sp>
        <p:nvSpPr>
          <p:cNvPr id="21" name="panel_170"/>
          <p:cNvSpPr/>
          <p:nvPr/>
        </p:nvSpPr>
        <p:spPr>
          <a:xfrm>
            <a:off x="4846320" y="1143000"/>
            <a:ext cx="6903720" cy="5120640"/>
          </a:xfrm>
          <a:prstGeom prst="roundRect">
            <a:avLst>
              <a:gd name="adj" fmla="val 142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2" name="text_171"/>
          <p:cNvSpPr txBox="1"/>
          <p:nvPr/>
        </p:nvSpPr>
        <p:spPr>
          <a:xfrm>
            <a:off x="5047488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핵심 개념</a:t>
            </a:r>
            <a:endParaRPr lang="en-US" sz="1200" dirty="0"/>
          </a:p>
        </p:txBody>
      </p:sp>
      <p:sp>
        <p:nvSpPr>
          <p:cNvPr id="23" name="text_172"/>
          <p:cNvSpPr txBox="1"/>
          <p:nvPr/>
        </p:nvSpPr>
        <p:spPr>
          <a:xfrm>
            <a:off x="5047488" y="1645920"/>
            <a:ext cx="1371600" cy="1094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게이트 조합</a:t>
            </a:r>
            <a:endParaRPr lang="en-US" sz="1250" dirty="0"/>
          </a:p>
        </p:txBody>
      </p:sp>
      <p:sp>
        <p:nvSpPr>
          <p:cNvPr id="24" name="codebg_173"/>
          <p:cNvSpPr/>
          <p:nvPr/>
        </p:nvSpPr>
        <p:spPr>
          <a:xfrm>
            <a:off x="6446520" y="1645920"/>
            <a:ext cx="5120640" cy="1094232"/>
          </a:xfrm>
          <a:prstGeom prst="roundRect">
            <a:avLst>
              <a:gd name="adj" fmla="val 4178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5" name="code_174"/>
          <p:cNvSpPr txBox="1"/>
          <p:nvPr/>
        </p:nvSpPr>
        <p:spPr>
          <a:xfrm>
            <a:off x="6556248" y="1700784"/>
            <a:ext cx="4901184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 = NAND(x); s2 = OR(x)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AND([s1, s2])</a:t>
            </a:r>
            <a:endParaRPr lang="en-US" sz="1300" dirty="0"/>
          </a:p>
        </p:txBody>
      </p:sp>
      <p:sp>
        <p:nvSpPr>
          <p:cNvPr id="26" name="text_175"/>
          <p:cNvSpPr txBox="1"/>
          <p:nvPr/>
        </p:nvSpPr>
        <p:spPr>
          <a:xfrm>
            <a:off x="5047488" y="2849880"/>
            <a:ext cx="1371600" cy="1094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행렬 2층</a:t>
            </a:r>
            <a:endParaRPr lang="en-US" sz="1250" dirty="0"/>
          </a:p>
        </p:txBody>
      </p:sp>
      <p:sp>
        <p:nvSpPr>
          <p:cNvPr id="27" name="codebg_176"/>
          <p:cNvSpPr/>
          <p:nvPr/>
        </p:nvSpPr>
        <p:spPr>
          <a:xfrm>
            <a:off x="6446520" y="2849880"/>
            <a:ext cx="5120640" cy="1094232"/>
          </a:xfrm>
          <a:prstGeom prst="roundRect">
            <a:avLst>
              <a:gd name="adj" fmla="val 4178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8" name="code_177"/>
          <p:cNvSpPr txBox="1"/>
          <p:nvPr/>
        </p:nvSpPr>
        <p:spPr>
          <a:xfrm>
            <a:off x="6556248" y="2904744"/>
            <a:ext cx="4901184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= step(X4 @ W1 + b1)   # (4, 2)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step(H @ W2 + b2)    # (4, 1)</a:t>
            </a:r>
            <a:endParaRPr lang="en-US" sz="1300" dirty="0"/>
          </a:p>
        </p:txBody>
      </p:sp>
      <p:sp>
        <p:nvSpPr>
          <p:cNvPr id="29" name="text_178"/>
          <p:cNvSpPr txBox="1"/>
          <p:nvPr/>
        </p:nvSpPr>
        <p:spPr>
          <a:xfrm>
            <a:off x="5047488" y="4053840"/>
            <a:ext cx="1371600" cy="1094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은닉 공간</a:t>
            </a:r>
            <a:endParaRPr lang="en-US" sz="1250" dirty="0"/>
          </a:p>
        </p:txBody>
      </p:sp>
      <p:sp>
        <p:nvSpPr>
          <p:cNvPr id="30" name="codebg_179"/>
          <p:cNvSpPr/>
          <p:nvPr/>
        </p:nvSpPr>
        <p:spPr>
          <a:xfrm>
            <a:off x="6446520" y="4053840"/>
            <a:ext cx="5120640" cy="1094232"/>
          </a:xfrm>
          <a:prstGeom prst="roundRect">
            <a:avLst>
              <a:gd name="adj" fmla="val 4178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31" name="code_180"/>
          <p:cNvSpPr txBox="1"/>
          <p:nvPr/>
        </p:nvSpPr>
        <p:spPr>
          <a:xfrm>
            <a:off x="6556248" y="4108704"/>
            <a:ext cx="4901184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(0,0)→(1,0)  (0,1)→(1,1)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(1,0)→(1,1)  (1,1)→(0,1)</a:t>
            </a:r>
            <a:endParaRPr lang="en-US" sz="1300" dirty="0"/>
          </a:p>
        </p:txBody>
      </p:sp>
      <p:sp>
        <p:nvSpPr>
          <p:cNvPr id="32" name="text_181"/>
          <p:cNvSpPr txBox="1"/>
          <p:nvPr/>
        </p:nvSpPr>
        <p:spPr>
          <a:xfrm>
            <a:off x="5047488" y="5349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체크포인트</a:t>
            </a:r>
            <a:endParaRPr lang="en-US" sz="1150" dirty="0"/>
          </a:p>
        </p:txBody>
      </p:sp>
      <p:sp>
        <p:nvSpPr>
          <p:cNvPr id="33" name="text_182"/>
          <p:cNvSpPr txBox="1"/>
          <p:nvPr/>
        </p:nvSpPr>
        <p:spPr>
          <a:xfrm>
            <a:off x="5047488" y="562356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앞쪽 층이 '풀기 쉬운 공간'으로 옮기고 마지막 층이 간단한 경계를 긋는다 — CNN · YOLO 도 같은 구조.</a:t>
            </a:r>
            <a:endParaRPr lang="en-US" sz="1150" dirty="0"/>
          </a:p>
        </p:txBody>
      </p:sp>
      <p:sp>
        <p:nvSpPr>
          <p:cNvPr id="34" name="Text 0"/>
          <p:cNvSpPr/>
          <p:nvPr>
            <p:ph idx="100" type="title" hasCustomPrompt="1"/>
          </p:nvPr>
        </p:nvSpPr>
        <p:spPr>
          <a:xfrm>
            <a:off x="457200" y="2743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5" name="Text 0"/>
          <p:cNvSpPr/>
          <p:nvPr>
            <p:ph idx="101" type="body" hasCustomPrompt="1"/>
          </p:nvPr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_183"/>
          <p:cNvSpPr/>
          <p:nvPr/>
        </p:nvSpPr>
        <p:spPr>
          <a:xfrm>
            <a:off x="457200" y="384048"/>
            <a:ext cx="438912" cy="43891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" name="badgeNum_184"/>
          <p:cNvSpPr txBox="1"/>
          <p:nvPr/>
        </p:nvSpPr>
        <p:spPr>
          <a:xfrm>
            <a:off x="457200" y="3840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4" name="text_185"/>
          <p:cNvSpPr txBox="1"/>
          <p:nvPr/>
        </p:nvSpPr>
        <p:spPr>
          <a:xfrm>
            <a:off x="1005840" y="32004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활성화 함수</a:t>
            </a:r>
            <a:endParaRPr lang="en-US" sz="2600" dirty="0"/>
          </a:p>
        </p:txBody>
      </p:sp>
      <p:sp>
        <p:nvSpPr>
          <p:cNvPr id="5" name="text_186"/>
          <p:cNvSpPr txBox="1"/>
          <p:nvPr/>
        </p:nvSpPr>
        <p:spPr>
          <a:xfrm>
            <a:off x="9875520" y="4114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13:00–13:50</a:t>
            </a:r>
            <a:endParaRPr lang="en-US" sz="1200" dirty="0"/>
          </a:p>
        </p:txBody>
      </p:sp>
      <p:sp>
        <p:nvSpPr>
          <p:cNvPr id="6" name="panel_187"/>
          <p:cNvSpPr/>
          <p:nvPr/>
        </p:nvSpPr>
        <p:spPr>
          <a:xfrm>
            <a:off x="457200" y="1143000"/>
            <a:ext cx="4206240" cy="5120640"/>
          </a:xfrm>
          <a:prstGeom prst="roundRect">
            <a:avLst>
              <a:gd name="adj" fmla="val 173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7" name="text_188"/>
          <p:cNvSpPr txBox="1"/>
          <p:nvPr/>
        </p:nvSpPr>
        <p:spPr>
          <a:xfrm>
            <a:off x="658368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학습 목표</a:t>
            </a:r>
            <a:endParaRPr lang="en-US" sz="1200" dirty="0"/>
          </a:p>
        </p:txBody>
      </p:sp>
      <p:sp>
        <p:nvSpPr>
          <p:cNvPr id="8" name="text_189"/>
          <p:cNvSpPr txBox="1"/>
          <p:nvPr/>
        </p:nvSpPr>
        <p:spPr>
          <a:xfrm>
            <a:off x="658368" y="1600200"/>
            <a:ext cx="3840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계단 함수는 기울기 0 → 경사하강 불가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sigmoid · tanh · ReLU · Leaky ReLU 구현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비선형이 없으면 층을 쌓아도 한 층 (Wa Wb = W)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sigmoid' ≤ 0.25 → 깊으면 기울기 소실 → ReLU</a:t>
            </a:r>
            <a:endParaRPr lang="en-US" sz="1300" dirty="0"/>
          </a:p>
        </p:txBody>
      </p:sp>
      <p:sp>
        <p:nvSpPr>
          <p:cNvPr id="9" name="text_190"/>
          <p:cNvSpPr txBox="1"/>
          <p:nvPr/>
        </p:nvSpPr>
        <p:spPr>
          <a:xfrm>
            <a:off x="658368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노트북 실습</a:t>
            </a:r>
            <a:endParaRPr lang="en-US" sz="1200" dirty="0"/>
          </a:p>
        </p:txBody>
      </p:sp>
      <p:sp>
        <p:nvSpPr>
          <p:cNvPr id="10" name="badge_191"/>
          <p:cNvSpPr/>
          <p:nvPr/>
        </p:nvSpPr>
        <p:spPr>
          <a:xfrm>
            <a:off x="685800" y="39593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badgeNum_192"/>
          <p:cNvSpPr txBox="1"/>
          <p:nvPr/>
        </p:nvSpPr>
        <p:spPr>
          <a:xfrm>
            <a:off x="685800" y="3959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_193"/>
          <p:cNvSpPr txBox="1"/>
          <p:nvPr/>
        </p:nvSpPr>
        <p:spPr>
          <a:xfrm>
            <a:off x="1078992" y="39593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문제 4-1 · 4-2  sigmoid · relu</a:t>
            </a:r>
            <a:endParaRPr lang="en-US" sz="1150" dirty="0"/>
          </a:p>
        </p:txBody>
      </p:sp>
      <p:sp>
        <p:nvSpPr>
          <p:cNvPr id="13" name="badge_194"/>
          <p:cNvSpPr/>
          <p:nvPr/>
        </p:nvSpPr>
        <p:spPr>
          <a:xfrm>
            <a:off x="685800" y="44165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badgeNum_195"/>
          <p:cNvSpPr txBox="1"/>
          <p:nvPr/>
        </p:nvSpPr>
        <p:spPr>
          <a:xfrm>
            <a:off x="685800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_196"/>
          <p:cNvSpPr txBox="1"/>
          <p:nvPr/>
        </p:nvSpPr>
        <p:spPr>
          <a:xfrm>
            <a:off x="1078992" y="44165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문제 4-3  도함수 vs 중앙 차분</a:t>
            </a:r>
            <a:endParaRPr lang="en-US" sz="1150" dirty="0"/>
          </a:p>
        </p:txBody>
      </p:sp>
      <p:sp>
        <p:nvSpPr>
          <p:cNvPr id="16" name="badge_197"/>
          <p:cNvSpPr/>
          <p:nvPr/>
        </p:nvSpPr>
        <p:spPr>
          <a:xfrm>
            <a:off x="685800" y="48737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badgeNum_198"/>
          <p:cNvSpPr txBox="1"/>
          <p:nvPr/>
        </p:nvSpPr>
        <p:spPr>
          <a:xfrm>
            <a:off x="685800" y="4873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_199"/>
          <p:cNvSpPr txBox="1"/>
          <p:nvPr/>
        </p:nvSpPr>
        <p:spPr>
          <a:xfrm>
            <a:off x="1078992" y="48737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문제 4-4  선형 2층 = 1층</a:t>
            </a:r>
            <a:endParaRPr lang="en-US" sz="1150" dirty="0"/>
          </a:p>
        </p:txBody>
      </p:sp>
      <p:sp>
        <p:nvSpPr>
          <p:cNvPr id="19" name="animTag_200"/>
          <p:cNvSpPr/>
          <p:nvPr/>
        </p:nvSpPr>
        <p:spPr>
          <a:xfrm>
            <a:off x="658368" y="5760720"/>
            <a:ext cx="3803904" cy="347472"/>
          </a:xfrm>
          <a:prstGeom prst="roundRect">
            <a:avLst>
              <a:gd name="adj" fmla="val 13158"/>
            </a:avLst>
          </a:prstGeom>
          <a:solidFill>
            <a:srgbClr val="0F2A27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0" name="text_201"/>
          <p:cNvSpPr txBox="1"/>
          <p:nvPr/>
        </p:nvSpPr>
        <p:spPr>
          <a:xfrm>
            <a:off x="777240" y="5760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▶ 애니메이션  D2-4 활성화 함수</a:t>
            </a:r>
            <a:endParaRPr lang="en-US" sz="1100" dirty="0"/>
          </a:p>
        </p:txBody>
      </p:sp>
      <p:sp>
        <p:nvSpPr>
          <p:cNvPr id="21" name="panel_202"/>
          <p:cNvSpPr/>
          <p:nvPr/>
        </p:nvSpPr>
        <p:spPr>
          <a:xfrm>
            <a:off x="4846320" y="1143000"/>
            <a:ext cx="6903720" cy="5120640"/>
          </a:xfrm>
          <a:prstGeom prst="roundRect">
            <a:avLst>
              <a:gd name="adj" fmla="val 142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2" name="text_203"/>
          <p:cNvSpPr txBox="1"/>
          <p:nvPr/>
        </p:nvSpPr>
        <p:spPr>
          <a:xfrm>
            <a:off x="5047488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핵심 개념</a:t>
            </a:r>
            <a:endParaRPr lang="en-US" sz="1200" dirty="0"/>
          </a:p>
        </p:txBody>
      </p:sp>
      <p:sp>
        <p:nvSpPr>
          <p:cNvPr id="23" name="text_204"/>
          <p:cNvSpPr txBox="1"/>
          <p:nvPr/>
        </p:nvSpPr>
        <p:spPr>
          <a:xfrm>
            <a:off x="5047488" y="164592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sigmoid</a:t>
            </a:r>
            <a:endParaRPr lang="en-US" sz="1250" dirty="0"/>
          </a:p>
        </p:txBody>
      </p:sp>
      <p:sp>
        <p:nvSpPr>
          <p:cNvPr id="24" name="codebg_205"/>
          <p:cNvSpPr/>
          <p:nvPr/>
        </p:nvSpPr>
        <p:spPr>
          <a:xfrm>
            <a:off x="6446520" y="164592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5" name="code_206"/>
          <p:cNvSpPr txBox="1"/>
          <p:nvPr/>
        </p:nvSpPr>
        <p:spPr>
          <a:xfrm>
            <a:off x="6556248" y="170078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/ (1 + np.exp(-a))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도함수 s * (1 - s), 최대 0.25</a:t>
            </a:r>
            <a:endParaRPr lang="en-US" sz="1300" dirty="0"/>
          </a:p>
        </p:txBody>
      </p:sp>
      <p:sp>
        <p:nvSpPr>
          <p:cNvPr id="26" name="text_207"/>
          <p:cNvSpPr txBox="1"/>
          <p:nvPr/>
        </p:nvSpPr>
        <p:spPr>
          <a:xfrm>
            <a:off x="5047488" y="254889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ReLU</a:t>
            </a:r>
            <a:endParaRPr lang="en-US" sz="1250" dirty="0"/>
          </a:p>
        </p:txBody>
      </p:sp>
      <p:sp>
        <p:nvSpPr>
          <p:cNvPr id="27" name="codebg_208"/>
          <p:cNvSpPr/>
          <p:nvPr/>
        </p:nvSpPr>
        <p:spPr>
          <a:xfrm>
            <a:off x="6446520" y="254889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8" name="code_209"/>
          <p:cNvSpPr txBox="1"/>
          <p:nvPr/>
        </p:nvSpPr>
        <p:spPr>
          <a:xfrm>
            <a:off x="6556248" y="260375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np.maximum(0, a)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도함수 (a &gt; 0).astype(float)</a:t>
            </a:r>
            <a:endParaRPr lang="en-US" sz="1300" dirty="0"/>
          </a:p>
        </p:txBody>
      </p:sp>
      <p:sp>
        <p:nvSpPr>
          <p:cNvPr id="29" name="text_210"/>
          <p:cNvSpPr txBox="1"/>
          <p:nvPr/>
        </p:nvSpPr>
        <p:spPr>
          <a:xfrm>
            <a:off x="5047488" y="345186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선형 쌓기</a:t>
            </a:r>
            <a:endParaRPr lang="en-US" sz="1250" dirty="0"/>
          </a:p>
        </p:txBody>
      </p:sp>
      <p:sp>
        <p:nvSpPr>
          <p:cNvPr id="30" name="codebg_211"/>
          <p:cNvSpPr/>
          <p:nvPr/>
        </p:nvSpPr>
        <p:spPr>
          <a:xfrm>
            <a:off x="6446520" y="345186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31" name="code_212"/>
          <p:cNvSpPr txBox="1"/>
          <p:nvPr/>
        </p:nvSpPr>
        <p:spPr>
          <a:xfrm>
            <a:off x="6556248" y="350672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 @ Wa) @ Wb == X @ (Wa @ Wb)</a:t>
            </a:r>
            <a:endParaRPr lang="en-US" sz="1300" dirty="0"/>
          </a:p>
        </p:txBody>
      </p:sp>
      <p:sp>
        <p:nvSpPr>
          <p:cNvPr id="32" name="text_213"/>
          <p:cNvSpPr txBox="1"/>
          <p:nvPr/>
        </p:nvSpPr>
        <p:spPr>
          <a:xfrm>
            <a:off x="5047488" y="435483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기울기 소실</a:t>
            </a:r>
            <a:endParaRPr lang="en-US" sz="1250" dirty="0"/>
          </a:p>
        </p:txBody>
      </p:sp>
      <p:sp>
        <p:nvSpPr>
          <p:cNvPr id="33" name="codebg_214"/>
          <p:cNvSpPr/>
          <p:nvPr/>
        </p:nvSpPr>
        <p:spPr>
          <a:xfrm>
            <a:off x="6446520" y="435483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34" name="code_215"/>
          <p:cNvSpPr txBox="1"/>
          <p:nvPr/>
        </p:nvSpPr>
        <p:spPr>
          <a:xfrm>
            <a:off x="6556248" y="440969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0.25 ** 10 ≈ 9.5e-07</a:t>
            </a:r>
            <a:endParaRPr lang="en-US" sz="1300" dirty="0"/>
          </a:p>
        </p:txBody>
      </p:sp>
      <p:sp>
        <p:nvSpPr>
          <p:cNvPr id="35" name="text_216"/>
          <p:cNvSpPr txBox="1"/>
          <p:nvPr/>
        </p:nvSpPr>
        <p:spPr>
          <a:xfrm>
            <a:off x="5047488" y="5349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체크포인트</a:t>
            </a:r>
            <a:endParaRPr lang="en-US" sz="1150" dirty="0"/>
          </a:p>
        </p:txBody>
      </p:sp>
      <p:sp>
        <p:nvSpPr>
          <p:cNvPr id="36" name="text_217"/>
          <p:cNvSpPr txBox="1"/>
          <p:nvPr/>
        </p:nvSpPr>
        <p:spPr>
          <a:xfrm>
            <a:off x="5047488" y="562356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은닉층의 기본값은 ReLU, 출력층은 문제에 맞게(6교시). sigmoid 도함수는 Day 3 역전파에서 그대로 쓴다.</a:t>
            </a:r>
            <a:endParaRPr lang="en-US" sz="1150" dirty="0"/>
          </a:p>
        </p:txBody>
      </p:sp>
      <p:sp>
        <p:nvSpPr>
          <p:cNvPr id="37" name="Text 0"/>
          <p:cNvSpPr/>
          <p:nvPr>
            <p:ph idx="100" type="title" hasCustomPrompt="1"/>
          </p:nvPr>
        </p:nvSpPr>
        <p:spPr>
          <a:xfrm>
            <a:off x="457200" y="2743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8" name="Text 0"/>
          <p:cNvSpPr/>
          <p:nvPr>
            <p:ph idx="101" type="body" hasCustomPrompt="1"/>
          </p:nvPr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_218"/>
          <p:cNvSpPr/>
          <p:nvPr/>
        </p:nvSpPr>
        <p:spPr>
          <a:xfrm>
            <a:off x="457200" y="384048"/>
            <a:ext cx="438912" cy="438912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" name="badgeNum_219"/>
          <p:cNvSpPr txBox="1"/>
          <p:nvPr/>
        </p:nvSpPr>
        <p:spPr>
          <a:xfrm>
            <a:off x="457200" y="3840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4" name="text_220"/>
          <p:cNvSpPr txBox="1"/>
          <p:nvPr/>
        </p:nvSpPr>
        <p:spPr>
          <a:xfrm>
            <a:off x="1005840" y="32004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행렬로 보는 순전파</a:t>
            </a:r>
            <a:endParaRPr lang="en-US" sz="2600" dirty="0"/>
          </a:p>
        </p:txBody>
      </p:sp>
      <p:sp>
        <p:nvSpPr>
          <p:cNvPr id="5" name="text_221"/>
          <p:cNvSpPr txBox="1"/>
          <p:nvPr/>
        </p:nvSpPr>
        <p:spPr>
          <a:xfrm>
            <a:off x="9875520" y="4114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14:00–14:50</a:t>
            </a:r>
            <a:endParaRPr lang="en-US" sz="1200" dirty="0"/>
          </a:p>
        </p:txBody>
      </p:sp>
      <p:sp>
        <p:nvSpPr>
          <p:cNvPr id="6" name="panel_222"/>
          <p:cNvSpPr/>
          <p:nvPr/>
        </p:nvSpPr>
        <p:spPr>
          <a:xfrm>
            <a:off x="457200" y="1143000"/>
            <a:ext cx="4206240" cy="5120640"/>
          </a:xfrm>
          <a:prstGeom prst="roundRect">
            <a:avLst>
              <a:gd name="adj" fmla="val 173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7" name="text_223"/>
          <p:cNvSpPr txBox="1"/>
          <p:nvPr/>
        </p:nvSpPr>
        <p:spPr>
          <a:xfrm>
            <a:off x="658368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학습 목표</a:t>
            </a:r>
            <a:endParaRPr lang="en-US" sz="1200" dirty="0"/>
          </a:p>
        </p:txBody>
      </p:sp>
      <p:sp>
        <p:nvSpPr>
          <p:cNvPr id="8" name="text_224"/>
          <p:cNvSpPr txBox="1"/>
          <p:nvPr/>
        </p:nvSpPr>
        <p:spPr>
          <a:xfrm>
            <a:off x="658368" y="1600200"/>
            <a:ext cx="3840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층마다 A = X @ W + b → Z = h(A) 반복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 shape = (이전 층 뉴런 수, 이번 층 뉴런 수)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행 = 샘플 → 배치 처리가 공짜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파라미터 수 = 모델 크기 = 메모리</a:t>
            </a:r>
            <a:endParaRPr lang="en-US" sz="1300" dirty="0"/>
          </a:p>
        </p:txBody>
      </p:sp>
      <p:sp>
        <p:nvSpPr>
          <p:cNvPr id="9" name="text_225"/>
          <p:cNvSpPr txBox="1"/>
          <p:nvPr/>
        </p:nvSpPr>
        <p:spPr>
          <a:xfrm>
            <a:off x="658368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노트북 실습</a:t>
            </a:r>
            <a:endParaRPr lang="en-US" sz="1200" dirty="0"/>
          </a:p>
        </p:txBody>
      </p:sp>
      <p:sp>
        <p:nvSpPr>
          <p:cNvPr id="10" name="badge_226"/>
          <p:cNvSpPr/>
          <p:nvPr/>
        </p:nvSpPr>
        <p:spPr>
          <a:xfrm>
            <a:off x="685800" y="39593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badgeNum_227"/>
          <p:cNvSpPr txBox="1"/>
          <p:nvPr/>
        </p:nvSpPr>
        <p:spPr>
          <a:xfrm>
            <a:off x="685800" y="3959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_228"/>
          <p:cNvSpPr txBox="1"/>
          <p:nvPr/>
        </p:nvSpPr>
        <p:spPr>
          <a:xfrm>
            <a:off x="1078992" y="39593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문제 5-1  shape 예측</a:t>
            </a:r>
            <a:endParaRPr lang="en-US" sz="1150" dirty="0"/>
          </a:p>
        </p:txBody>
      </p:sp>
      <p:sp>
        <p:nvSpPr>
          <p:cNvPr id="13" name="badge_229"/>
          <p:cNvSpPr/>
          <p:nvPr/>
        </p:nvSpPr>
        <p:spPr>
          <a:xfrm>
            <a:off x="685800" y="44165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badgeNum_230"/>
          <p:cNvSpPr txBox="1"/>
          <p:nvPr/>
        </p:nvSpPr>
        <p:spPr>
          <a:xfrm>
            <a:off x="685800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_231"/>
          <p:cNvSpPr txBox="1"/>
          <p:nvPr/>
        </p:nvSpPr>
        <p:spPr>
          <a:xfrm>
            <a:off x="1078992" y="44165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문제 5-2  forward (배치 4개)</a:t>
            </a:r>
            <a:endParaRPr lang="en-US" sz="1150" dirty="0"/>
          </a:p>
        </p:txBody>
      </p:sp>
      <p:sp>
        <p:nvSpPr>
          <p:cNvPr id="16" name="badge_232"/>
          <p:cNvSpPr/>
          <p:nvPr/>
        </p:nvSpPr>
        <p:spPr>
          <a:xfrm>
            <a:off x="685800" y="48737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badgeNum_233"/>
          <p:cNvSpPr txBox="1"/>
          <p:nvPr/>
        </p:nvSpPr>
        <p:spPr>
          <a:xfrm>
            <a:off x="685800" y="4873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_234"/>
          <p:cNvSpPr txBox="1"/>
          <p:nvPr/>
        </p:nvSpPr>
        <p:spPr>
          <a:xfrm>
            <a:off x="1078992" y="48737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문제 5-3 · 5-4  파라미터 수 · MNIST shape</a:t>
            </a:r>
            <a:endParaRPr lang="en-US" sz="1150" dirty="0"/>
          </a:p>
        </p:txBody>
      </p:sp>
      <p:sp>
        <p:nvSpPr>
          <p:cNvPr id="19" name="animTag_235"/>
          <p:cNvSpPr/>
          <p:nvPr/>
        </p:nvSpPr>
        <p:spPr>
          <a:xfrm>
            <a:off x="658368" y="5760720"/>
            <a:ext cx="3803904" cy="347472"/>
          </a:xfrm>
          <a:prstGeom prst="roundRect">
            <a:avLst>
              <a:gd name="adj" fmla="val 13158"/>
            </a:avLst>
          </a:prstGeom>
          <a:solidFill>
            <a:srgbClr val="0F2A27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0" name="text_236"/>
          <p:cNvSpPr txBox="1"/>
          <p:nvPr/>
        </p:nvSpPr>
        <p:spPr>
          <a:xfrm>
            <a:off x="777240" y="5760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▶ 애니메이션  D2-5 순전파 흐름</a:t>
            </a:r>
            <a:endParaRPr lang="en-US" sz="1100" dirty="0"/>
          </a:p>
        </p:txBody>
      </p:sp>
      <p:sp>
        <p:nvSpPr>
          <p:cNvPr id="21" name="panel_237"/>
          <p:cNvSpPr/>
          <p:nvPr/>
        </p:nvSpPr>
        <p:spPr>
          <a:xfrm>
            <a:off x="4846320" y="1143000"/>
            <a:ext cx="6903720" cy="5120640"/>
          </a:xfrm>
          <a:prstGeom prst="roundRect">
            <a:avLst>
              <a:gd name="adj" fmla="val 142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2" name="text_238"/>
          <p:cNvSpPr txBox="1"/>
          <p:nvPr/>
        </p:nvSpPr>
        <p:spPr>
          <a:xfrm>
            <a:off x="5047488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핵심 개념</a:t>
            </a:r>
            <a:endParaRPr lang="en-US" sz="1200" dirty="0"/>
          </a:p>
        </p:txBody>
      </p:sp>
      <p:sp>
        <p:nvSpPr>
          <p:cNvPr id="23" name="text_239"/>
          <p:cNvSpPr txBox="1"/>
          <p:nvPr/>
        </p:nvSpPr>
        <p:spPr>
          <a:xfrm>
            <a:off x="5047488" y="164592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2-3-2-2 망</a:t>
            </a:r>
            <a:endParaRPr lang="en-US" sz="1250" dirty="0"/>
          </a:p>
        </p:txBody>
      </p:sp>
      <p:sp>
        <p:nvSpPr>
          <p:cNvPr id="24" name="codebg_240"/>
          <p:cNvSpPr/>
          <p:nvPr/>
        </p:nvSpPr>
        <p:spPr>
          <a:xfrm>
            <a:off x="6446520" y="164592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5" name="code_241"/>
          <p:cNvSpPr txBox="1"/>
          <p:nvPr/>
        </p:nvSpPr>
        <p:spPr>
          <a:xfrm>
            <a:off x="6556248" y="170078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 = X @ W1 + b1;  Z1 = sigmoid(A1)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A2 = Z1 @ W2 + b2; Z2 = sigmoid(A2)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 = Z2 @ W3 + b3</a:t>
            </a:r>
            <a:endParaRPr lang="en-US" sz="1300" dirty="0"/>
          </a:p>
        </p:txBody>
      </p:sp>
      <p:sp>
        <p:nvSpPr>
          <p:cNvPr id="26" name="text_242"/>
          <p:cNvSpPr txBox="1"/>
          <p:nvPr/>
        </p:nvSpPr>
        <p:spPr>
          <a:xfrm>
            <a:off x="5047488" y="254889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예제 출력</a:t>
            </a:r>
            <a:endParaRPr lang="en-US" sz="1250" dirty="0"/>
          </a:p>
        </p:txBody>
      </p:sp>
      <p:sp>
        <p:nvSpPr>
          <p:cNvPr id="27" name="codebg_243"/>
          <p:cNvSpPr/>
          <p:nvPr/>
        </p:nvSpPr>
        <p:spPr>
          <a:xfrm>
            <a:off x="6446520" y="254889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8" name="code_244"/>
          <p:cNvSpPr txBox="1"/>
          <p:nvPr/>
        </p:nvSpPr>
        <p:spPr>
          <a:xfrm>
            <a:off x="6556248" y="260375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[[1.0, 0.5]]  →  Y ≈ [0.3168, 0.6963]</a:t>
            </a:r>
            <a:endParaRPr lang="en-US" sz="1300" dirty="0"/>
          </a:p>
        </p:txBody>
      </p:sp>
      <p:sp>
        <p:nvSpPr>
          <p:cNvPr id="29" name="text_245"/>
          <p:cNvSpPr txBox="1"/>
          <p:nvPr/>
        </p:nvSpPr>
        <p:spPr>
          <a:xfrm>
            <a:off x="5047488" y="345186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파라미터 수</a:t>
            </a:r>
            <a:endParaRPr lang="en-US" sz="1250" dirty="0"/>
          </a:p>
        </p:txBody>
      </p:sp>
      <p:sp>
        <p:nvSpPr>
          <p:cNvPr id="30" name="codebg_246"/>
          <p:cNvSpPr/>
          <p:nvPr/>
        </p:nvSpPr>
        <p:spPr>
          <a:xfrm>
            <a:off x="6446520" y="345186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31" name="code_247"/>
          <p:cNvSpPr txBox="1"/>
          <p:nvPr/>
        </p:nvSpPr>
        <p:spPr>
          <a:xfrm>
            <a:off x="6556248" y="350672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(2·3+3) + (3·2+2) + (2·2+2) = 23</a:t>
            </a:r>
            <a:endParaRPr lang="en-US" sz="1300" dirty="0"/>
          </a:p>
        </p:txBody>
      </p:sp>
      <p:sp>
        <p:nvSpPr>
          <p:cNvPr id="32" name="text_248"/>
          <p:cNvSpPr txBox="1"/>
          <p:nvPr/>
        </p:nvSpPr>
        <p:spPr>
          <a:xfrm>
            <a:off x="5047488" y="435483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MNIST</a:t>
            </a:r>
            <a:endParaRPr lang="en-US" sz="1250" dirty="0"/>
          </a:p>
        </p:txBody>
      </p:sp>
      <p:sp>
        <p:nvSpPr>
          <p:cNvPr id="33" name="codebg_249"/>
          <p:cNvSpPr/>
          <p:nvPr/>
        </p:nvSpPr>
        <p:spPr>
          <a:xfrm>
            <a:off x="6446520" y="435483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34" name="code_250"/>
          <p:cNvSpPr txBox="1"/>
          <p:nvPr/>
        </p:nvSpPr>
        <p:spPr>
          <a:xfrm>
            <a:off x="6556248" y="440969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784-100-10 → 79,510개 ≈ 311 KB (float32)</a:t>
            </a:r>
            <a:endParaRPr lang="en-US" sz="1300" dirty="0"/>
          </a:p>
        </p:txBody>
      </p:sp>
      <p:sp>
        <p:nvSpPr>
          <p:cNvPr id="35" name="text_251"/>
          <p:cNvSpPr txBox="1"/>
          <p:nvPr/>
        </p:nvSpPr>
        <p:spPr>
          <a:xfrm>
            <a:off x="5047488" y="5349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체크포인트</a:t>
            </a:r>
            <a:endParaRPr lang="en-US" sz="1150" dirty="0"/>
          </a:p>
        </p:txBody>
      </p:sp>
      <p:sp>
        <p:nvSpPr>
          <p:cNvPr id="36" name="text_252"/>
          <p:cNvSpPr txBox="1"/>
          <p:nvPr/>
        </p:nvSpPr>
        <p:spPr>
          <a:xfrm>
            <a:off x="5047488" y="562356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순전파 = 추론(inference) — 온디바이스 기기가 실제로 실행하는 계산. 오류가 나면 shape 부터 출력.</a:t>
            </a:r>
            <a:endParaRPr lang="en-US" sz="1150" dirty="0"/>
          </a:p>
        </p:txBody>
      </p:sp>
      <p:sp>
        <p:nvSpPr>
          <p:cNvPr id="37" name="Text 0"/>
          <p:cNvSpPr/>
          <p:nvPr>
            <p:ph idx="100" type="title" hasCustomPrompt="1"/>
          </p:nvPr>
        </p:nvSpPr>
        <p:spPr>
          <a:xfrm>
            <a:off x="457200" y="2743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8" name="Text 0"/>
          <p:cNvSpPr/>
          <p:nvPr>
            <p:ph idx="101" type="body" hasCustomPrompt="1"/>
          </p:nvPr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_253"/>
          <p:cNvSpPr/>
          <p:nvPr/>
        </p:nvSpPr>
        <p:spPr>
          <a:xfrm>
            <a:off x="457200" y="384048"/>
            <a:ext cx="438912" cy="438912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" name="badgeNum_254"/>
          <p:cNvSpPr txBox="1"/>
          <p:nvPr/>
        </p:nvSpPr>
        <p:spPr>
          <a:xfrm>
            <a:off x="457200" y="3840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4" name="text_255"/>
          <p:cNvSpPr txBox="1"/>
          <p:nvPr/>
        </p:nvSpPr>
        <p:spPr>
          <a:xfrm>
            <a:off x="1005840" y="32004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출력층과 손실 함수</a:t>
            </a:r>
            <a:endParaRPr lang="en-US" sz="2600" dirty="0"/>
          </a:p>
        </p:txBody>
      </p:sp>
      <p:sp>
        <p:nvSpPr>
          <p:cNvPr id="5" name="text_256"/>
          <p:cNvSpPr txBox="1"/>
          <p:nvPr/>
        </p:nvSpPr>
        <p:spPr>
          <a:xfrm>
            <a:off x="9875520" y="4114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15:00–15:50</a:t>
            </a:r>
            <a:endParaRPr lang="en-US" sz="1200" dirty="0"/>
          </a:p>
        </p:txBody>
      </p:sp>
      <p:sp>
        <p:nvSpPr>
          <p:cNvPr id="6" name="panel_257"/>
          <p:cNvSpPr/>
          <p:nvPr/>
        </p:nvSpPr>
        <p:spPr>
          <a:xfrm>
            <a:off x="457200" y="1143000"/>
            <a:ext cx="4206240" cy="5120640"/>
          </a:xfrm>
          <a:prstGeom prst="roundRect">
            <a:avLst>
              <a:gd name="adj" fmla="val 173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7" name="text_258"/>
          <p:cNvSpPr txBox="1"/>
          <p:nvPr/>
        </p:nvSpPr>
        <p:spPr>
          <a:xfrm>
            <a:off x="658368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학습 목표</a:t>
            </a:r>
            <a:endParaRPr lang="en-US" sz="1200" dirty="0"/>
          </a:p>
        </p:txBody>
      </p:sp>
      <p:sp>
        <p:nvSpPr>
          <p:cNvPr id="8" name="text_259"/>
          <p:cNvSpPr txBox="1"/>
          <p:nvPr/>
        </p:nvSpPr>
        <p:spPr>
          <a:xfrm>
            <a:off x="658368" y="1600200"/>
            <a:ext cx="3840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회귀 = identity + MSE, 분류 = softmax + CE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softmax: 최댓값을 빼고 계산 (keepdims=True)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one-hot = np.eye(K)[t]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CE = −log(정답 확률), 확신하며 틀리면 큰 벌점</a:t>
            </a:r>
            <a:endParaRPr lang="en-US" sz="1300" dirty="0"/>
          </a:p>
        </p:txBody>
      </p:sp>
      <p:sp>
        <p:nvSpPr>
          <p:cNvPr id="9" name="text_260"/>
          <p:cNvSpPr txBox="1"/>
          <p:nvPr/>
        </p:nvSpPr>
        <p:spPr>
          <a:xfrm>
            <a:off x="658368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노트북 실습</a:t>
            </a:r>
            <a:endParaRPr lang="en-US" sz="1200" dirty="0"/>
          </a:p>
        </p:txBody>
      </p:sp>
      <p:sp>
        <p:nvSpPr>
          <p:cNvPr id="10" name="badge_261"/>
          <p:cNvSpPr/>
          <p:nvPr/>
        </p:nvSpPr>
        <p:spPr>
          <a:xfrm>
            <a:off x="685800" y="39593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badgeNum_262"/>
          <p:cNvSpPr txBox="1"/>
          <p:nvPr/>
        </p:nvSpPr>
        <p:spPr>
          <a:xfrm>
            <a:off x="685800" y="3959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_263"/>
          <p:cNvSpPr txBox="1"/>
          <p:nvPr/>
        </p:nvSpPr>
        <p:spPr>
          <a:xfrm>
            <a:off x="1078992" y="39593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문제 6-1  softmax 안정화</a:t>
            </a:r>
            <a:endParaRPr lang="en-US" sz="1150" dirty="0"/>
          </a:p>
        </p:txBody>
      </p:sp>
      <p:sp>
        <p:nvSpPr>
          <p:cNvPr id="13" name="badge_264"/>
          <p:cNvSpPr/>
          <p:nvPr/>
        </p:nvSpPr>
        <p:spPr>
          <a:xfrm>
            <a:off x="685800" y="44165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badgeNum_265"/>
          <p:cNvSpPr txBox="1"/>
          <p:nvPr/>
        </p:nvSpPr>
        <p:spPr>
          <a:xfrm>
            <a:off x="685800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_266"/>
          <p:cNvSpPr txBox="1"/>
          <p:nvPr/>
        </p:nvSpPr>
        <p:spPr>
          <a:xfrm>
            <a:off x="1078992" y="44165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문제 6-2  one_hot</a:t>
            </a:r>
            <a:endParaRPr lang="en-US" sz="1150" dirty="0"/>
          </a:p>
        </p:txBody>
      </p:sp>
      <p:sp>
        <p:nvSpPr>
          <p:cNvPr id="16" name="badge_267"/>
          <p:cNvSpPr/>
          <p:nvPr/>
        </p:nvSpPr>
        <p:spPr>
          <a:xfrm>
            <a:off x="685800" y="48737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badgeNum_268"/>
          <p:cNvSpPr txBox="1"/>
          <p:nvPr/>
        </p:nvSpPr>
        <p:spPr>
          <a:xfrm>
            <a:off x="685800" y="4873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_269"/>
          <p:cNvSpPr txBox="1"/>
          <p:nvPr/>
        </p:nvSpPr>
        <p:spPr>
          <a:xfrm>
            <a:off x="1078992" y="48737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문제 6-3 · 6-4  mse · cross_entropy</a:t>
            </a:r>
            <a:endParaRPr lang="en-US" sz="1150" dirty="0"/>
          </a:p>
        </p:txBody>
      </p:sp>
      <p:sp>
        <p:nvSpPr>
          <p:cNvPr id="19" name="animTag_270"/>
          <p:cNvSpPr/>
          <p:nvPr/>
        </p:nvSpPr>
        <p:spPr>
          <a:xfrm>
            <a:off x="658368" y="5760720"/>
            <a:ext cx="3803904" cy="347472"/>
          </a:xfrm>
          <a:prstGeom prst="roundRect">
            <a:avLst>
              <a:gd name="adj" fmla="val 13158"/>
            </a:avLst>
          </a:prstGeom>
          <a:solidFill>
            <a:srgbClr val="0F2A27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0" name="text_271"/>
          <p:cNvSpPr txBox="1"/>
          <p:nvPr/>
        </p:nvSpPr>
        <p:spPr>
          <a:xfrm>
            <a:off x="777240" y="5760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▶ 애니메이션  D2-6 Softmax · D2-7 손실 함수</a:t>
            </a:r>
            <a:endParaRPr lang="en-US" sz="1100" dirty="0"/>
          </a:p>
        </p:txBody>
      </p:sp>
      <p:sp>
        <p:nvSpPr>
          <p:cNvPr id="21" name="panel_272"/>
          <p:cNvSpPr/>
          <p:nvPr/>
        </p:nvSpPr>
        <p:spPr>
          <a:xfrm>
            <a:off x="4846320" y="1143000"/>
            <a:ext cx="6903720" cy="5120640"/>
          </a:xfrm>
          <a:prstGeom prst="roundRect">
            <a:avLst>
              <a:gd name="adj" fmla="val 142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2" name="text_273"/>
          <p:cNvSpPr txBox="1"/>
          <p:nvPr/>
        </p:nvSpPr>
        <p:spPr>
          <a:xfrm>
            <a:off x="5047488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핵심 개념</a:t>
            </a:r>
            <a:endParaRPr lang="en-US" sz="1200" dirty="0"/>
          </a:p>
        </p:txBody>
      </p:sp>
      <p:sp>
        <p:nvSpPr>
          <p:cNvPr id="23" name="text_274"/>
          <p:cNvSpPr txBox="1"/>
          <p:nvPr/>
        </p:nvSpPr>
        <p:spPr>
          <a:xfrm>
            <a:off x="5047488" y="164592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softmax</a:t>
            </a:r>
            <a:endParaRPr lang="en-US" sz="1250" dirty="0"/>
          </a:p>
        </p:txBody>
      </p:sp>
      <p:sp>
        <p:nvSpPr>
          <p:cNvPr id="24" name="codebg_275"/>
          <p:cNvSpPr/>
          <p:nvPr/>
        </p:nvSpPr>
        <p:spPr>
          <a:xfrm>
            <a:off x="6446520" y="164592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5" name="code_276"/>
          <p:cNvSpPr txBox="1"/>
          <p:nvPr/>
        </p:nvSpPr>
        <p:spPr>
          <a:xfrm>
            <a:off x="6556248" y="170078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A - A.max(axis=-1, keepdims=True)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expA / expA.sum(axis=-1, keepdims=True)</a:t>
            </a:r>
            <a:endParaRPr lang="en-US" sz="1300" dirty="0"/>
          </a:p>
        </p:txBody>
      </p:sp>
      <p:sp>
        <p:nvSpPr>
          <p:cNvPr id="26" name="text_277"/>
          <p:cNvSpPr txBox="1"/>
          <p:nvPr/>
        </p:nvSpPr>
        <p:spPr>
          <a:xfrm>
            <a:off x="5047488" y="254889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안정화</a:t>
            </a:r>
            <a:endParaRPr lang="en-US" sz="1250" dirty="0"/>
          </a:p>
        </p:txBody>
      </p:sp>
      <p:sp>
        <p:nvSpPr>
          <p:cNvPr id="27" name="codebg_278"/>
          <p:cNvSpPr/>
          <p:nvPr/>
        </p:nvSpPr>
        <p:spPr>
          <a:xfrm>
            <a:off x="6446520" y="254889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8" name="code_279"/>
          <p:cNvSpPr txBox="1"/>
          <p:nvPr/>
        </p:nvSpPr>
        <p:spPr>
          <a:xfrm>
            <a:off x="6556248" y="260375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naive([1010, 1000, 990]) → nan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stable → [0.99995, 4.5e-05, 2.1e-09]</a:t>
            </a:r>
            <a:endParaRPr lang="en-US" sz="1300" dirty="0"/>
          </a:p>
        </p:txBody>
      </p:sp>
      <p:sp>
        <p:nvSpPr>
          <p:cNvPr id="29" name="text_280"/>
          <p:cNvSpPr txBox="1"/>
          <p:nvPr/>
        </p:nvSpPr>
        <p:spPr>
          <a:xfrm>
            <a:off x="5047488" y="345186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손실</a:t>
            </a:r>
            <a:endParaRPr lang="en-US" sz="1250" dirty="0"/>
          </a:p>
        </p:txBody>
      </p:sp>
      <p:sp>
        <p:nvSpPr>
          <p:cNvPr id="30" name="codebg_281"/>
          <p:cNvSpPr/>
          <p:nvPr/>
        </p:nvSpPr>
        <p:spPr>
          <a:xfrm>
            <a:off x="6446520" y="345186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31" name="code_282"/>
          <p:cNvSpPr txBox="1"/>
          <p:nvPr/>
        </p:nvSpPr>
        <p:spPr>
          <a:xfrm>
            <a:off x="6556248" y="350672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mse = np.mean((y - t) ** 2)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  = -np.sum(t * np.log(y + 1e-7)) / N</a:t>
            </a:r>
            <a:endParaRPr lang="en-US" sz="1300" dirty="0"/>
          </a:p>
        </p:txBody>
      </p:sp>
      <p:sp>
        <p:nvSpPr>
          <p:cNvPr id="32" name="text_283"/>
          <p:cNvSpPr txBox="1"/>
          <p:nvPr/>
        </p:nvSpPr>
        <p:spPr>
          <a:xfrm>
            <a:off x="5047488" y="435483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예</a:t>
            </a:r>
            <a:endParaRPr lang="en-US" sz="1250" dirty="0"/>
          </a:p>
        </p:txBody>
      </p:sp>
      <p:sp>
        <p:nvSpPr>
          <p:cNvPr id="33" name="codebg_284"/>
          <p:cNvSpPr/>
          <p:nvPr/>
        </p:nvSpPr>
        <p:spPr>
          <a:xfrm>
            <a:off x="6446520" y="435483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34" name="code_285"/>
          <p:cNvSpPr txBox="1"/>
          <p:nvPr/>
        </p:nvSpPr>
        <p:spPr>
          <a:xfrm>
            <a:off x="6556248" y="440969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정답 확률 0.6: CE 0.51 · MSE 0.0195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정답 확률 0.1: CE 2.30</a:t>
            </a:r>
            <a:endParaRPr lang="en-US" sz="1300" dirty="0"/>
          </a:p>
        </p:txBody>
      </p:sp>
      <p:sp>
        <p:nvSpPr>
          <p:cNvPr id="35" name="text_286"/>
          <p:cNvSpPr txBox="1"/>
          <p:nvPr/>
        </p:nvSpPr>
        <p:spPr>
          <a:xfrm>
            <a:off x="5047488" y="5349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체크포인트</a:t>
            </a:r>
            <a:endParaRPr lang="en-US" sz="1150" dirty="0"/>
          </a:p>
        </p:txBody>
      </p:sp>
      <p:sp>
        <p:nvSpPr>
          <p:cNvPr id="36" name="text_287"/>
          <p:cNvSpPr txBox="1"/>
          <p:nvPr/>
        </p:nvSpPr>
        <p:spPr>
          <a:xfrm>
            <a:off x="5047488" y="562356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softmax 는 순서를 바꾸지 않는다 → 추론에서 답만 필요하면 argmax(A). softmax + CE 의 기울기 = y − t (Day 3).</a:t>
            </a:r>
            <a:endParaRPr lang="en-US" sz="1150" dirty="0"/>
          </a:p>
        </p:txBody>
      </p:sp>
      <p:sp>
        <p:nvSpPr>
          <p:cNvPr id="37" name="Text 0"/>
          <p:cNvSpPr/>
          <p:nvPr>
            <p:ph idx="100" type="title" hasCustomPrompt="1"/>
          </p:nvPr>
        </p:nvSpPr>
        <p:spPr>
          <a:xfrm>
            <a:off x="457200" y="2743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8" name="Text 0"/>
          <p:cNvSpPr/>
          <p:nvPr>
            <p:ph idx="101" type="body" hasCustomPrompt="1"/>
          </p:nvPr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_288"/>
          <p:cNvSpPr/>
          <p:nvPr/>
        </p:nvSpPr>
        <p:spPr>
          <a:xfrm>
            <a:off x="457200" y="384048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badgeNum_289"/>
          <p:cNvSpPr txBox="1"/>
          <p:nvPr/>
        </p:nvSpPr>
        <p:spPr>
          <a:xfrm>
            <a:off x="457200" y="3840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7</a:t>
            </a:r>
            <a:endParaRPr lang="en-US" sz="1500" dirty="0"/>
          </a:p>
        </p:txBody>
      </p:sp>
      <p:sp>
        <p:nvSpPr>
          <p:cNvPr id="4" name="text_290"/>
          <p:cNvSpPr txBox="1"/>
          <p:nvPr/>
        </p:nvSpPr>
        <p:spPr>
          <a:xfrm>
            <a:off x="1005840" y="32004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선형 회귀를 경사하강으로</a:t>
            </a:r>
            <a:endParaRPr lang="en-US" sz="2600" dirty="0"/>
          </a:p>
        </p:txBody>
      </p:sp>
      <p:sp>
        <p:nvSpPr>
          <p:cNvPr id="5" name="text_291"/>
          <p:cNvSpPr txBox="1"/>
          <p:nvPr/>
        </p:nvSpPr>
        <p:spPr>
          <a:xfrm>
            <a:off x="9875520" y="4114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16:00–16:50</a:t>
            </a:r>
            <a:endParaRPr lang="en-US" sz="1200" dirty="0"/>
          </a:p>
        </p:txBody>
      </p:sp>
      <p:sp>
        <p:nvSpPr>
          <p:cNvPr id="6" name="panel_292"/>
          <p:cNvSpPr/>
          <p:nvPr/>
        </p:nvSpPr>
        <p:spPr>
          <a:xfrm>
            <a:off x="457200" y="1143000"/>
            <a:ext cx="4206240" cy="5120640"/>
          </a:xfrm>
          <a:prstGeom prst="roundRect">
            <a:avLst>
              <a:gd name="adj" fmla="val 173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7" name="text_293"/>
          <p:cNvSpPr txBox="1"/>
          <p:nvPr/>
        </p:nvSpPr>
        <p:spPr>
          <a:xfrm>
            <a:off x="658368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학습 목표</a:t>
            </a:r>
            <a:endParaRPr lang="en-US" sz="1200" dirty="0"/>
          </a:p>
        </p:txBody>
      </p:sp>
      <p:sp>
        <p:nvSpPr>
          <p:cNvPr id="8" name="text_294"/>
          <p:cNvSpPr txBox="1"/>
          <p:nvPr/>
        </p:nvSpPr>
        <p:spPr>
          <a:xfrm>
            <a:off x="658368" y="1600200"/>
            <a:ext cx="3840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데이터 50개: T = 2X + 1 + 잡음, shape (50, 1)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½ 을 붙인 MSE → 기울기 (y − t)x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학습 루프: 예측 → 손실 → 기울기 → 갱신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손 유도 기울기를 수치 미분으로 검증</a:t>
            </a:r>
            <a:endParaRPr lang="en-US" sz="1300" dirty="0"/>
          </a:p>
        </p:txBody>
      </p:sp>
      <p:sp>
        <p:nvSpPr>
          <p:cNvPr id="9" name="text_295"/>
          <p:cNvSpPr txBox="1"/>
          <p:nvPr/>
        </p:nvSpPr>
        <p:spPr>
          <a:xfrm>
            <a:off x="658368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노트북 실습</a:t>
            </a:r>
            <a:endParaRPr lang="en-US" sz="1200" dirty="0"/>
          </a:p>
        </p:txBody>
      </p:sp>
      <p:sp>
        <p:nvSpPr>
          <p:cNvPr id="10" name="badge_296"/>
          <p:cNvSpPr/>
          <p:nvPr/>
        </p:nvSpPr>
        <p:spPr>
          <a:xfrm>
            <a:off x="685800" y="39593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badgeNum_297"/>
          <p:cNvSpPr txBox="1"/>
          <p:nvPr/>
        </p:nvSpPr>
        <p:spPr>
          <a:xfrm>
            <a:off x="685800" y="3959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_298"/>
          <p:cNvSpPr txBox="1"/>
          <p:nvPr/>
        </p:nvSpPr>
        <p:spPr>
          <a:xfrm>
            <a:off x="1078992" y="39593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문제 7-1  grads</a:t>
            </a:r>
            <a:endParaRPr lang="en-US" sz="1150" dirty="0"/>
          </a:p>
        </p:txBody>
      </p:sp>
      <p:sp>
        <p:nvSpPr>
          <p:cNvPr id="13" name="badge_299"/>
          <p:cNvSpPr/>
          <p:nvPr/>
        </p:nvSpPr>
        <p:spPr>
          <a:xfrm>
            <a:off x="685800" y="44165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badgeNum_300"/>
          <p:cNvSpPr txBox="1"/>
          <p:nvPr/>
        </p:nvSpPr>
        <p:spPr>
          <a:xfrm>
            <a:off x="685800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_301"/>
          <p:cNvSpPr txBox="1"/>
          <p:nvPr/>
        </p:nvSpPr>
        <p:spPr>
          <a:xfrm>
            <a:off x="1078992" y="44165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문제 7-2  학습 루프 · 그래프</a:t>
            </a:r>
            <a:endParaRPr lang="en-US" sz="1150" dirty="0"/>
          </a:p>
        </p:txBody>
      </p:sp>
      <p:sp>
        <p:nvSpPr>
          <p:cNvPr id="16" name="badge_302"/>
          <p:cNvSpPr/>
          <p:nvPr/>
        </p:nvSpPr>
        <p:spPr>
          <a:xfrm>
            <a:off x="685800" y="4873752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badgeNum_303"/>
          <p:cNvSpPr txBox="1"/>
          <p:nvPr/>
        </p:nvSpPr>
        <p:spPr>
          <a:xfrm>
            <a:off x="685800" y="4873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_304"/>
          <p:cNvSpPr txBox="1"/>
          <p:nvPr/>
        </p:nvSpPr>
        <p:spPr>
          <a:xfrm>
            <a:off x="1078992" y="48737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문제 7-3  numerical_gradient 비교</a:t>
            </a:r>
            <a:endParaRPr lang="en-US" sz="1150" dirty="0"/>
          </a:p>
        </p:txBody>
      </p:sp>
      <p:sp>
        <p:nvSpPr>
          <p:cNvPr id="19" name="animTag_305"/>
          <p:cNvSpPr/>
          <p:nvPr/>
        </p:nvSpPr>
        <p:spPr>
          <a:xfrm>
            <a:off x="658368" y="5760720"/>
            <a:ext cx="3803904" cy="347472"/>
          </a:xfrm>
          <a:prstGeom prst="roundRect">
            <a:avLst>
              <a:gd name="adj" fmla="val 13158"/>
            </a:avLst>
          </a:prstGeom>
          <a:solidFill>
            <a:srgbClr val="0F2A27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0" name="text_306"/>
          <p:cNvSpPr txBox="1"/>
          <p:nvPr/>
        </p:nvSpPr>
        <p:spPr>
          <a:xfrm>
            <a:off x="777240" y="5760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▶ 애니메이션  D2-8 선형 회귀 경사하강</a:t>
            </a:r>
            <a:endParaRPr lang="en-US" sz="1100" dirty="0"/>
          </a:p>
        </p:txBody>
      </p:sp>
      <p:sp>
        <p:nvSpPr>
          <p:cNvPr id="21" name="panel_307"/>
          <p:cNvSpPr/>
          <p:nvPr/>
        </p:nvSpPr>
        <p:spPr>
          <a:xfrm>
            <a:off x="4846320" y="1143000"/>
            <a:ext cx="6903720" cy="5120640"/>
          </a:xfrm>
          <a:prstGeom prst="roundRect">
            <a:avLst>
              <a:gd name="adj" fmla="val 142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2" name="text_308"/>
          <p:cNvSpPr txBox="1"/>
          <p:nvPr/>
        </p:nvSpPr>
        <p:spPr>
          <a:xfrm>
            <a:off x="5047488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핵심 개념</a:t>
            </a:r>
            <a:endParaRPr lang="en-US" sz="1200" dirty="0"/>
          </a:p>
        </p:txBody>
      </p:sp>
      <p:sp>
        <p:nvSpPr>
          <p:cNvPr id="23" name="text_309"/>
          <p:cNvSpPr txBox="1"/>
          <p:nvPr/>
        </p:nvSpPr>
        <p:spPr>
          <a:xfrm>
            <a:off x="5047488" y="164592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모델 · 손실</a:t>
            </a:r>
            <a:endParaRPr lang="en-US" sz="1250" dirty="0"/>
          </a:p>
        </p:txBody>
      </p:sp>
      <p:sp>
        <p:nvSpPr>
          <p:cNvPr id="24" name="codebg_310"/>
          <p:cNvSpPr/>
          <p:nvPr/>
        </p:nvSpPr>
        <p:spPr>
          <a:xfrm>
            <a:off x="6446520" y="164592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5" name="code_311"/>
          <p:cNvSpPr txBox="1"/>
          <p:nvPr/>
        </p:nvSpPr>
        <p:spPr>
          <a:xfrm>
            <a:off x="6556248" y="170078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X @ W + 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= ½ mean((Y−T)²)</a:t>
            </a:r>
            <a:endParaRPr lang="en-US" sz="1300" dirty="0"/>
          </a:p>
        </p:txBody>
      </p:sp>
      <p:sp>
        <p:nvSpPr>
          <p:cNvPr id="26" name="text_312"/>
          <p:cNvSpPr txBox="1"/>
          <p:nvPr/>
        </p:nvSpPr>
        <p:spPr>
          <a:xfrm>
            <a:off x="5047488" y="254889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기울기</a:t>
            </a:r>
            <a:endParaRPr lang="en-US" sz="1250" dirty="0"/>
          </a:p>
        </p:txBody>
      </p:sp>
      <p:sp>
        <p:nvSpPr>
          <p:cNvPr id="27" name="codebg_313"/>
          <p:cNvSpPr/>
          <p:nvPr/>
        </p:nvSpPr>
        <p:spPr>
          <a:xfrm>
            <a:off x="6446520" y="254889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8" name="code_314"/>
          <p:cNvSpPr txBox="1"/>
          <p:nvPr/>
        </p:nvSpPr>
        <p:spPr>
          <a:xfrm>
            <a:off x="6556248" y="260375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dW = X.T @ (Y - T) / 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 = np.mean(Y - T, axis=0)</a:t>
            </a:r>
            <a:endParaRPr lang="en-US" sz="1300" dirty="0"/>
          </a:p>
        </p:txBody>
      </p:sp>
      <p:sp>
        <p:nvSpPr>
          <p:cNvPr id="29" name="text_315"/>
          <p:cNvSpPr txBox="1"/>
          <p:nvPr/>
        </p:nvSpPr>
        <p:spPr>
          <a:xfrm>
            <a:off x="5047488" y="345186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학습</a:t>
            </a:r>
            <a:endParaRPr lang="en-US" sz="1250" dirty="0"/>
          </a:p>
        </p:txBody>
      </p:sp>
      <p:sp>
        <p:nvSpPr>
          <p:cNvPr id="30" name="codebg_316"/>
          <p:cNvSpPr/>
          <p:nvPr/>
        </p:nvSpPr>
        <p:spPr>
          <a:xfrm>
            <a:off x="6446520" y="345186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31" name="code_317"/>
          <p:cNvSpPr txBox="1"/>
          <p:nvPr/>
        </p:nvSpPr>
        <p:spPr>
          <a:xfrm>
            <a:off x="6556248" y="350672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-= lr * dW;  b -= lr * db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 1.0 · 200 epoch → W 2.05, b 0.98</a:t>
            </a:r>
            <a:endParaRPr lang="en-US" sz="1300" dirty="0"/>
          </a:p>
        </p:txBody>
      </p:sp>
      <p:sp>
        <p:nvSpPr>
          <p:cNvPr id="32" name="text_318"/>
          <p:cNvSpPr txBox="1"/>
          <p:nvPr/>
        </p:nvSpPr>
        <p:spPr>
          <a:xfrm>
            <a:off x="5047488" y="4354830"/>
            <a:ext cx="1371600" cy="793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학습률</a:t>
            </a:r>
            <a:endParaRPr lang="en-US" sz="1250" dirty="0"/>
          </a:p>
        </p:txBody>
      </p:sp>
      <p:sp>
        <p:nvSpPr>
          <p:cNvPr id="33" name="codebg_319"/>
          <p:cNvSpPr/>
          <p:nvPr/>
        </p:nvSpPr>
        <p:spPr>
          <a:xfrm>
            <a:off x="6446520" y="4354830"/>
            <a:ext cx="5120640" cy="793242"/>
          </a:xfrm>
          <a:prstGeom prst="roundRect">
            <a:avLst>
              <a:gd name="adj" fmla="val 5764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34" name="code_320"/>
          <p:cNvSpPr txBox="1"/>
          <p:nvPr/>
        </p:nvSpPr>
        <p:spPr>
          <a:xfrm>
            <a:off x="6556248" y="4409694"/>
            <a:ext cx="4901184" cy="6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 0.2 덜 감 / 2.0 발산 (상한 ≈ 1.54)</a:t>
            </a:r>
            <a:endParaRPr lang="en-US" sz="1300" dirty="0"/>
          </a:p>
        </p:txBody>
      </p:sp>
      <p:sp>
        <p:nvSpPr>
          <p:cNvPr id="35" name="text_321"/>
          <p:cNvSpPr txBox="1"/>
          <p:nvPr/>
        </p:nvSpPr>
        <p:spPr>
          <a:xfrm>
            <a:off x="5047488" y="5349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체크포인트</a:t>
            </a:r>
            <a:endParaRPr lang="en-US" sz="1150" dirty="0"/>
          </a:p>
        </p:txBody>
      </p:sp>
      <p:sp>
        <p:nvSpPr>
          <p:cNvPr id="36" name="text_322"/>
          <p:cNvSpPr txBox="1"/>
          <p:nvPr/>
        </p:nvSpPr>
        <p:spPr>
          <a:xfrm>
            <a:off x="5047488" y="562356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손으로 유도한 기울기 = 수치 미분 → Day 3 gradient check 의 축소판. 잡음 때문에 답은 (2, 1) 이 아니라 (2.05, 0.98).</a:t>
            </a:r>
            <a:endParaRPr lang="en-US" sz="1150" dirty="0"/>
          </a:p>
        </p:txBody>
      </p:sp>
      <p:sp>
        <p:nvSpPr>
          <p:cNvPr id="37" name="Text 0"/>
          <p:cNvSpPr/>
          <p:nvPr>
            <p:ph idx="100" type="title" hasCustomPrompt="1"/>
          </p:nvPr>
        </p:nvSpPr>
        <p:spPr>
          <a:xfrm>
            <a:off x="457200" y="2743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8" name="Text 0"/>
          <p:cNvSpPr/>
          <p:nvPr>
            <p:ph idx="101" type="body" hasCustomPrompt="1"/>
          </p:nvPr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_323"/>
          <p:cNvSpPr/>
          <p:nvPr/>
        </p:nvSpPr>
        <p:spPr>
          <a:xfrm>
            <a:off x="457200" y="384048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badgeNum_324"/>
          <p:cNvSpPr txBox="1"/>
          <p:nvPr/>
        </p:nvSpPr>
        <p:spPr>
          <a:xfrm>
            <a:off x="457200" y="3840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8</a:t>
            </a:r>
            <a:endParaRPr lang="en-US" sz="1500" dirty="0"/>
          </a:p>
        </p:txBody>
      </p:sp>
      <p:sp>
        <p:nvSpPr>
          <p:cNvPr id="4" name="text_325"/>
          <p:cNvSpPr txBox="1"/>
          <p:nvPr/>
        </p:nvSpPr>
        <p:spPr>
          <a:xfrm>
            <a:off x="1005840" y="32004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미니 프로젝트 — 로지스틱 회귀 분류기</a:t>
            </a:r>
            <a:endParaRPr lang="en-US" sz="2600" dirty="0"/>
          </a:p>
        </p:txBody>
      </p:sp>
      <p:sp>
        <p:nvSpPr>
          <p:cNvPr id="5" name="text_326"/>
          <p:cNvSpPr txBox="1"/>
          <p:nvPr/>
        </p:nvSpPr>
        <p:spPr>
          <a:xfrm>
            <a:off x="9875520" y="4114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17:00–17:50</a:t>
            </a:r>
            <a:endParaRPr lang="en-US" sz="1200" dirty="0"/>
          </a:p>
        </p:txBody>
      </p:sp>
      <p:sp>
        <p:nvSpPr>
          <p:cNvPr id="6" name="panel_327"/>
          <p:cNvSpPr/>
          <p:nvPr/>
        </p:nvSpPr>
        <p:spPr>
          <a:xfrm>
            <a:off x="457200" y="1143000"/>
            <a:ext cx="5532120" cy="5120640"/>
          </a:xfrm>
          <a:prstGeom prst="roundRect">
            <a:avLst>
              <a:gd name="adj" fmla="val 142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7" name="text_328"/>
          <p:cNvSpPr txBox="1"/>
          <p:nvPr/>
        </p:nvSpPr>
        <p:spPr>
          <a:xfrm>
            <a:off x="658368" y="12801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강의 노트북 8교시  ·  두 클래스 200점 분류</a:t>
            </a:r>
            <a:endParaRPr lang="en-US" sz="1300" dirty="0"/>
          </a:p>
        </p:txBody>
      </p:sp>
      <p:sp>
        <p:nvSpPr>
          <p:cNvPr id="8" name="codebg_329"/>
          <p:cNvSpPr/>
          <p:nvPr/>
        </p:nvSpPr>
        <p:spPr>
          <a:xfrm>
            <a:off x="658368" y="1691640"/>
            <a:ext cx="5120640" cy="685800"/>
          </a:xfrm>
          <a:prstGeom prst="roundRect">
            <a:avLst>
              <a:gd name="adj" fmla="val 6667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9" name="code_330"/>
          <p:cNvSpPr txBox="1"/>
          <p:nvPr/>
        </p:nvSpPr>
        <p:spPr>
          <a:xfrm>
            <a:off x="768096" y="1746504"/>
            <a:ext cx="490118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 = sigmoid(X @ W + b)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dW = X.T @ (P − T)/N   # 같은 (y − t)x 모양</a:t>
            </a:r>
            <a:endParaRPr lang="en-US" sz="1200" dirty="0"/>
          </a:p>
        </p:txBody>
      </p:sp>
      <p:graphicFrame>
        <p:nvGraphicFramePr>
          <p:cNvPr id="14" name="task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2560320"/>
          <a:ext cx="51206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657600"/>
                <a:gridCol w="82296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A9BB8"/>
                          </a:solidFill>
                        </a:rPr>
                        <a:t>과제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A9BB8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A9BB8"/>
                          </a:solidFill>
                        </a:rPr>
                        <a:t>배점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BE4F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BE4F0"/>
                          </a:solidFill>
                        </a:rPr>
                        <a:t>predict_proba — 확률 계산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B942"/>
                          </a:solidFill>
                        </a:rPr>
                        <a:t>20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BE4F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BE4F0"/>
                          </a:solidFill>
                        </a:rPr>
                        <a:t>bce_loss — 이진 교차 엔트로피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B942"/>
                          </a:solidFill>
                        </a:rPr>
                        <a:t>20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BE4F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BE4F0"/>
                          </a:solidFill>
                        </a:rPr>
                        <a:t>gradients + 300 step 학습 (lr 0.5)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B942"/>
                          </a:solidFill>
                        </a:rPr>
                        <a:t>30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BE4F0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BE4F0"/>
                          </a:solidFill>
                        </a:rPr>
                        <a:t>결정 경계 직선 그리기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B942"/>
                          </a:solidFill>
                        </a:rPr>
                        <a:t>20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BE4F0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BE4F0"/>
                          </a:solidFill>
                        </a:rPr>
                        <a:t>결과 해석 (강사 채점)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B942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F2B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</a:tr>
            </a:tbl>
          </a:graphicData>
        </a:graphic>
      </p:graphicFrame>
      <p:sp>
        <p:nvSpPr>
          <p:cNvPr id="11" name="text_331"/>
          <p:cNvSpPr txBox="1"/>
          <p:nvPr/>
        </p:nvSpPr>
        <p:spPr>
          <a:xfrm>
            <a:off x="658368" y="5257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채점 셀 실행 → 자동 채점 90점 + 해석 10점</a:t>
            </a:r>
            <a:endParaRPr lang="en-US" sz="1200" dirty="0"/>
          </a:p>
        </p:txBody>
      </p:sp>
      <p:sp>
        <p:nvSpPr>
          <p:cNvPr id="12" name="text_332"/>
          <p:cNvSpPr txBox="1"/>
          <p:nvPr/>
        </p:nvSpPr>
        <p:spPr>
          <a:xfrm>
            <a:off x="658368" y="5623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2"/>
                </a:solidFill>
              </a:rPr>
              <a:t>▶ D2-9 에서 학습 과정을 먼저 보고 코드로 확인</a:t>
            </a:r>
            <a:endParaRPr lang="en-US" sz="1150" dirty="0"/>
          </a:p>
        </p:txBody>
      </p:sp>
      <p:sp>
        <p:nvSpPr>
          <p:cNvPr id="13" name="panel_333"/>
          <p:cNvSpPr/>
          <p:nvPr/>
        </p:nvSpPr>
        <p:spPr>
          <a:xfrm>
            <a:off x="6172200" y="1143000"/>
            <a:ext cx="5577840" cy="5120640"/>
          </a:xfrm>
          <a:prstGeom prst="roundRect">
            <a:avLst>
              <a:gd name="adj" fmla="val 1429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14" name="text_334"/>
          <p:cNvSpPr txBox="1"/>
          <p:nvPr/>
        </p:nvSpPr>
        <p:spPr>
          <a:xfrm>
            <a:off x="6373368" y="12801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오늘 배운 것이 모두 들어간다</a:t>
            </a:r>
            <a:endParaRPr lang="en-US" sz="1300" dirty="0"/>
          </a:p>
        </p:txBody>
      </p:sp>
      <p:sp>
        <p:nvSpPr>
          <p:cNvPr id="15" name="partRow_335"/>
          <p:cNvSpPr/>
          <p:nvPr/>
        </p:nvSpPr>
        <p:spPr>
          <a:xfrm>
            <a:off x="6373368" y="1737360"/>
            <a:ext cx="5175504" cy="512064"/>
          </a:xfrm>
          <a:prstGeom prst="roundRect">
            <a:avLst>
              <a:gd name="adj" fmla="val 10714"/>
            </a:avLst>
          </a:prstGeom>
          <a:solidFill>
            <a:srgbClr val="0B1220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16" name="text_336"/>
          <p:cNvSpPr txBox="1"/>
          <p:nvPr/>
        </p:nvSpPr>
        <p:spPr>
          <a:xfrm>
            <a:off x="6510528" y="1737360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뉴런 하나</a:t>
            </a:r>
            <a:endParaRPr lang="en-US" sz="1300" dirty="0"/>
          </a:p>
        </p:txBody>
      </p:sp>
      <p:sp>
        <p:nvSpPr>
          <p:cNvPr id="17" name="text_337"/>
          <p:cNvSpPr txBox="1"/>
          <p:nvPr/>
        </p:nvSpPr>
        <p:spPr>
          <a:xfrm>
            <a:off x="7909560" y="173736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가설 X @ W + b</a:t>
            </a:r>
            <a:endParaRPr lang="en-US" sz="1150" dirty="0"/>
          </a:p>
        </p:txBody>
      </p:sp>
      <p:sp>
        <p:nvSpPr>
          <p:cNvPr id="18" name="text_338"/>
          <p:cNvSpPr txBox="1"/>
          <p:nvPr/>
        </p:nvSpPr>
        <p:spPr>
          <a:xfrm>
            <a:off x="10607040" y="173736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1교시</a:t>
            </a:r>
            <a:endParaRPr lang="en-US" sz="1100" dirty="0"/>
          </a:p>
        </p:txBody>
      </p:sp>
      <p:sp>
        <p:nvSpPr>
          <p:cNvPr id="19" name="partRow_339"/>
          <p:cNvSpPr/>
          <p:nvPr/>
        </p:nvSpPr>
        <p:spPr>
          <a:xfrm>
            <a:off x="6373368" y="2359152"/>
            <a:ext cx="5175504" cy="512064"/>
          </a:xfrm>
          <a:prstGeom prst="roundRect">
            <a:avLst>
              <a:gd name="adj" fmla="val 10714"/>
            </a:avLst>
          </a:prstGeom>
          <a:solidFill>
            <a:srgbClr val="0B1220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0" name="text_340"/>
          <p:cNvSpPr txBox="1"/>
          <p:nvPr/>
        </p:nvSpPr>
        <p:spPr>
          <a:xfrm>
            <a:off x="6510528" y="2359152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sigmoid</a:t>
            </a:r>
            <a:endParaRPr lang="en-US" sz="1300" dirty="0"/>
          </a:p>
        </p:txBody>
      </p:sp>
      <p:sp>
        <p:nvSpPr>
          <p:cNvPr id="21" name="text_341"/>
          <p:cNvSpPr txBox="1"/>
          <p:nvPr/>
        </p:nvSpPr>
        <p:spPr>
          <a:xfrm>
            <a:off x="7909560" y="2359152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점수 → 확률, 미분 가능</a:t>
            </a:r>
            <a:endParaRPr lang="en-US" sz="1150" dirty="0"/>
          </a:p>
        </p:txBody>
      </p:sp>
      <p:sp>
        <p:nvSpPr>
          <p:cNvPr id="22" name="text_342"/>
          <p:cNvSpPr txBox="1"/>
          <p:nvPr/>
        </p:nvSpPr>
        <p:spPr>
          <a:xfrm>
            <a:off x="10607040" y="2359152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4교시</a:t>
            </a:r>
            <a:endParaRPr lang="en-US" sz="1100" dirty="0"/>
          </a:p>
        </p:txBody>
      </p:sp>
      <p:sp>
        <p:nvSpPr>
          <p:cNvPr id="23" name="partRow_343"/>
          <p:cNvSpPr/>
          <p:nvPr/>
        </p:nvSpPr>
        <p:spPr>
          <a:xfrm>
            <a:off x="6373368" y="2980944"/>
            <a:ext cx="5175504" cy="512064"/>
          </a:xfrm>
          <a:prstGeom prst="roundRect">
            <a:avLst>
              <a:gd name="adj" fmla="val 10714"/>
            </a:avLst>
          </a:prstGeom>
          <a:solidFill>
            <a:srgbClr val="0B1220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4" name="text_344"/>
          <p:cNvSpPr txBox="1"/>
          <p:nvPr/>
        </p:nvSpPr>
        <p:spPr>
          <a:xfrm>
            <a:off x="6510528" y="2980944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BCE 손실</a:t>
            </a:r>
            <a:endParaRPr lang="en-US" sz="1300" dirty="0"/>
          </a:p>
        </p:txBody>
      </p:sp>
      <p:sp>
        <p:nvSpPr>
          <p:cNvPr id="25" name="text_345"/>
          <p:cNvSpPr txBox="1"/>
          <p:nvPr/>
        </p:nvSpPr>
        <p:spPr>
          <a:xfrm>
            <a:off x="7909560" y="2980944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 의 2클래스 버전</a:t>
            </a:r>
            <a:endParaRPr lang="en-US" sz="1150" dirty="0"/>
          </a:p>
        </p:txBody>
      </p:sp>
      <p:sp>
        <p:nvSpPr>
          <p:cNvPr id="26" name="text_346"/>
          <p:cNvSpPr txBox="1"/>
          <p:nvPr/>
        </p:nvSpPr>
        <p:spPr>
          <a:xfrm>
            <a:off x="10607040" y="2980944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6교시</a:t>
            </a:r>
            <a:endParaRPr lang="en-US" sz="1100" dirty="0"/>
          </a:p>
        </p:txBody>
      </p:sp>
      <p:sp>
        <p:nvSpPr>
          <p:cNvPr id="27" name="partRow_347"/>
          <p:cNvSpPr/>
          <p:nvPr/>
        </p:nvSpPr>
        <p:spPr>
          <a:xfrm>
            <a:off x="6373368" y="3602736"/>
            <a:ext cx="5175504" cy="512064"/>
          </a:xfrm>
          <a:prstGeom prst="roundRect">
            <a:avLst>
              <a:gd name="adj" fmla="val 10714"/>
            </a:avLst>
          </a:prstGeom>
          <a:solidFill>
            <a:srgbClr val="0B1220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8" name="text_348"/>
          <p:cNvSpPr txBox="1"/>
          <p:nvPr/>
        </p:nvSpPr>
        <p:spPr>
          <a:xfrm>
            <a:off x="6510528" y="3602736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경사하강</a:t>
            </a:r>
            <a:endParaRPr lang="en-US" sz="1300" dirty="0"/>
          </a:p>
        </p:txBody>
      </p:sp>
      <p:sp>
        <p:nvSpPr>
          <p:cNvPr id="29" name="text_349"/>
          <p:cNvSpPr txBox="1"/>
          <p:nvPr/>
        </p:nvSpPr>
        <p:spPr>
          <a:xfrm>
            <a:off x="7909560" y="3602736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dW = X.T @ (P − T)/N</a:t>
            </a:r>
            <a:endParaRPr lang="en-US" sz="1150" dirty="0"/>
          </a:p>
        </p:txBody>
      </p:sp>
      <p:sp>
        <p:nvSpPr>
          <p:cNvPr id="30" name="text_350"/>
          <p:cNvSpPr txBox="1"/>
          <p:nvPr/>
        </p:nvSpPr>
        <p:spPr>
          <a:xfrm>
            <a:off x="10607040" y="3602736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7교시</a:t>
            </a:r>
            <a:endParaRPr lang="en-US" sz="1100" dirty="0"/>
          </a:p>
        </p:txBody>
      </p:sp>
      <p:sp>
        <p:nvSpPr>
          <p:cNvPr id="31" name="partRow_351"/>
          <p:cNvSpPr/>
          <p:nvPr/>
        </p:nvSpPr>
        <p:spPr>
          <a:xfrm>
            <a:off x="6373368" y="4224528"/>
            <a:ext cx="5175504" cy="512064"/>
          </a:xfrm>
          <a:prstGeom prst="roundRect">
            <a:avLst>
              <a:gd name="adj" fmla="val 10714"/>
            </a:avLst>
          </a:prstGeom>
          <a:solidFill>
            <a:srgbClr val="0B1220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32" name="text_352"/>
          <p:cNvSpPr txBox="1"/>
          <p:nvPr/>
        </p:nvSpPr>
        <p:spPr>
          <a:xfrm>
            <a:off x="6510528" y="4224528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결정 경계</a:t>
            </a:r>
            <a:endParaRPr lang="en-US" sz="1300" dirty="0"/>
          </a:p>
        </p:txBody>
      </p:sp>
      <p:sp>
        <p:nvSpPr>
          <p:cNvPr id="33" name="text_353"/>
          <p:cNvSpPr txBox="1"/>
          <p:nvPr/>
        </p:nvSpPr>
        <p:spPr>
          <a:xfrm>
            <a:off x="7909560" y="4224528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0.5 ⇔ z = 0 → 직선</a:t>
            </a:r>
            <a:endParaRPr lang="en-US" sz="1150" dirty="0"/>
          </a:p>
        </p:txBody>
      </p:sp>
      <p:sp>
        <p:nvSpPr>
          <p:cNvPr id="34" name="text_354"/>
          <p:cNvSpPr txBox="1"/>
          <p:nvPr/>
        </p:nvSpPr>
        <p:spPr>
          <a:xfrm>
            <a:off x="10607040" y="4224528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2교시</a:t>
            </a:r>
            <a:endParaRPr lang="en-US" sz="1100" dirty="0"/>
          </a:p>
        </p:txBody>
      </p:sp>
      <p:sp>
        <p:nvSpPr>
          <p:cNvPr id="35" name="text_355"/>
          <p:cNvSpPr txBox="1"/>
          <p:nvPr/>
        </p:nvSpPr>
        <p:spPr>
          <a:xfrm>
            <a:off x="6373368" y="4983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목표</a:t>
            </a:r>
            <a:endParaRPr lang="en-US" sz="1200" dirty="0"/>
          </a:p>
        </p:txBody>
      </p:sp>
      <p:sp>
        <p:nvSpPr>
          <p:cNvPr id="36" name="text_356"/>
          <p:cNvSpPr txBox="1"/>
          <p:nvPr/>
        </p:nvSpPr>
        <p:spPr>
          <a:xfrm>
            <a:off x="6373368" y="525780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정확도 0.9 이상 (참고: 0.995 까지 나온다)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 ≈ [3.30, 3.41], b ≈ 0.31 · numerical_gradient 는 dW 검증용</a:t>
            </a:r>
            <a:endParaRPr lang="en-US" sz="1200" dirty="0"/>
          </a:p>
        </p:txBody>
      </p:sp>
      <p:sp>
        <p:nvSpPr>
          <p:cNvPr id="38" name="Text 0"/>
          <p:cNvSpPr/>
          <p:nvPr>
            <p:ph idx="100" type="title" hasCustomPrompt="1"/>
          </p:nvPr>
        </p:nvSpPr>
        <p:spPr>
          <a:xfrm>
            <a:off x="457200" y="2743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9" name="Text 0"/>
          <p:cNvSpPr/>
          <p:nvPr>
            <p:ph idx="101" type="body" hasCustomPrompt="1"/>
          </p:nvPr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오늘의 핵심 정리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각 항목 옆 번호는 다시 볼 애니메이션</a:t>
            </a:r>
            <a:endParaRPr lang="en-US" sz="1300" dirty="0"/>
          </a:p>
        </p:txBody>
      </p:sp>
      <p:sp>
        <p:nvSpPr>
          <p:cNvPr id="4" name="panel_357"/>
          <p:cNvSpPr/>
          <p:nvPr/>
        </p:nvSpPr>
        <p:spPr>
          <a:xfrm>
            <a:off x="457200" y="1417320"/>
            <a:ext cx="11274552" cy="512064"/>
          </a:xfrm>
          <a:prstGeom prst="roundRect">
            <a:avLst>
              <a:gd name="adj" fmla="val 14286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5" name="text_358"/>
          <p:cNvSpPr txBox="1"/>
          <p:nvPr/>
        </p:nvSpPr>
        <p:spPr>
          <a:xfrm>
            <a:off x="685800" y="1417320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퍼셉트론</a:t>
            </a:r>
            <a:endParaRPr lang="en-US" sz="1400" dirty="0"/>
          </a:p>
        </p:txBody>
      </p:sp>
      <p:sp>
        <p:nvSpPr>
          <p:cNvPr id="6" name="text_359"/>
          <p:cNvSpPr txBox="1"/>
          <p:nvPr/>
        </p:nvSpPr>
        <p:spPr>
          <a:xfrm>
            <a:off x="2606040" y="1417320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y = step(xW + b) — 가중치는 방향, 편향은 위치</a:t>
            </a:r>
            <a:endParaRPr lang="en-US" sz="1300" dirty="0"/>
          </a:p>
        </p:txBody>
      </p:sp>
      <p:sp>
        <p:nvSpPr>
          <p:cNvPr id="7" name="text_360"/>
          <p:cNvSpPr txBox="1"/>
          <p:nvPr/>
        </p:nvSpPr>
        <p:spPr>
          <a:xfrm>
            <a:off x="10058400" y="1417320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D2-1</a:t>
            </a:r>
            <a:endParaRPr lang="en-US" sz="1200" dirty="0"/>
          </a:p>
        </p:txBody>
      </p:sp>
      <p:sp>
        <p:nvSpPr>
          <p:cNvPr id="8" name="panel_361"/>
          <p:cNvSpPr/>
          <p:nvPr/>
        </p:nvSpPr>
        <p:spPr>
          <a:xfrm>
            <a:off x="457200" y="2020824"/>
            <a:ext cx="11274552" cy="512064"/>
          </a:xfrm>
          <a:prstGeom prst="roundRect">
            <a:avLst>
              <a:gd name="adj" fmla="val 14286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9" name="text_362"/>
          <p:cNvSpPr txBox="1"/>
          <p:nvPr/>
        </p:nvSpPr>
        <p:spPr>
          <a:xfrm>
            <a:off x="685800" y="2020824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학습 규칙</a:t>
            </a:r>
            <a:endParaRPr lang="en-US" sz="1400" dirty="0"/>
          </a:p>
        </p:txBody>
      </p:sp>
      <p:sp>
        <p:nvSpPr>
          <p:cNvPr id="10" name="text_363"/>
          <p:cNvSpPr txBox="1"/>
          <p:nvPr/>
        </p:nvSpPr>
        <p:spPr>
          <a:xfrm>
            <a:off x="2606040" y="2020824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 ← W − η(y − t)x, XOR 은 직선 하나로 불가능</a:t>
            </a:r>
            <a:endParaRPr lang="en-US" sz="1300" dirty="0"/>
          </a:p>
        </p:txBody>
      </p:sp>
      <p:sp>
        <p:nvSpPr>
          <p:cNvPr id="11" name="text_364"/>
          <p:cNvSpPr txBox="1"/>
          <p:nvPr/>
        </p:nvSpPr>
        <p:spPr>
          <a:xfrm>
            <a:off x="10058400" y="2020824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D2-2</a:t>
            </a:r>
            <a:endParaRPr lang="en-US" sz="1200" dirty="0"/>
          </a:p>
        </p:txBody>
      </p:sp>
      <p:sp>
        <p:nvSpPr>
          <p:cNvPr id="12" name="panel_365"/>
          <p:cNvSpPr/>
          <p:nvPr/>
        </p:nvSpPr>
        <p:spPr>
          <a:xfrm>
            <a:off x="457200" y="2624328"/>
            <a:ext cx="11274552" cy="512064"/>
          </a:xfrm>
          <a:prstGeom prst="roundRect">
            <a:avLst>
              <a:gd name="adj" fmla="val 14286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13" name="text_366"/>
          <p:cNvSpPr txBox="1"/>
          <p:nvPr/>
        </p:nvSpPr>
        <p:spPr>
          <a:xfrm>
            <a:off x="685800" y="262432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MLP</a:t>
            </a:r>
            <a:endParaRPr lang="en-US" sz="1400" dirty="0"/>
          </a:p>
        </p:txBody>
      </p:sp>
      <p:sp>
        <p:nvSpPr>
          <p:cNvPr id="14" name="text_367"/>
          <p:cNvSpPr txBox="1"/>
          <p:nvPr/>
        </p:nvSpPr>
        <p:spPr>
          <a:xfrm>
            <a:off x="2606040" y="262432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은닉층 = 공간 변환 → XOR 해결</a:t>
            </a:r>
            <a:endParaRPr lang="en-US" sz="1300" dirty="0"/>
          </a:p>
        </p:txBody>
      </p:sp>
      <p:sp>
        <p:nvSpPr>
          <p:cNvPr id="15" name="text_368"/>
          <p:cNvSpPr txBox="1"/>
          <p:nvPr/>
        </p:nvSpPr>
        <p:spPr>
          <a:xfrm>
            <a:off x="10058400" y="2624328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D2-3</a:t>
            </a:r>
            <a:endParaRPr lang="en-US" sz="1200" dirty="0"/>
          </a:p>
        </p:txBody>
      </p:sp>
      <p:sp>
        <p:nvSpPr>
          <p:cNvPr id="16" name="panel_369"/>
          <p:cNvSpPr/>
          <p:nvPr/>
        </p:nvSpPr>
        <p:spPr>
          <a:xfrm>
            <a:off x="457200" y="3227832"/>
            <a:ext cx="11274552" cy="512064"/>
          </a:xfrm>
          <a:prstGeom prst="roundRect">
            <a:avLst>
              <a:gd name="adj" fmla="val 14286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17" name="text_370"/>
          <p:cNvSpPr txBox="1"/>
          <p:nvPr/>
        </p:nvSpPr>
        <p:spPr>
          <a:xfrm>
            <a:off x="685800" y="3227832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활성화 함수</a:t>
            </a:r>
            <a:endParaRPr lang="en-US" sz="1400" dirty="0"/>
          </a:p>
        </p:txBody>
      </p:sp>
      <p:sp>
        <p:nvSpPr>
          <p:cNvPr id="18" name="text_371"/>
          <p:cNvSpPr txBox="1"/>
          <p:nvPr/>
        </p:nvSpPr>
        <p:spPr>
          <a:xfrm>
            <a:off x="2606040" y="3227832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비선형이어야 층을 쌓는 의미, 은닉층은 ReLU</a:t>
            </a:r>
            <a:endParaRPr lang="en-US" sz="1300" dirty="0"/>
          </a:p>
        </p:txBody>
      </p:sp>
      <p:sp>
        <p:nvSpPr>
          <p:cNvPr id="19" name="text_372"/>
          <p:cNvSpPr txBox="1"/>
          <p:nvPr/>
        </p:nvSpPr>
        <p:spPr>
          <a:xfrm>
            <a:off x="10058400" y="3227832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D2-4</a:t>
            </a:r>
            <a:endParaRPr lang="en-US" sz="1200" dirty="0"/>
          </a:p>
        </p:txBody>
      </p:sp>
      <p:sp>
        <p:nvSpPr>
          <p:cNvPr id="20" name="panel_373"/>
          <p:cNvSpPr/>
          <p:nvPr/>
        </p:nvSpPr>
        <p:spPr>
          <a:xfrm>
            <a:off x="457200" y="3831336"/>
            <a:ext cx="11274552" cy="512064"/>
          </a:xfrm>
          <a:prstGeom prst="roundRect">
            <a:avLst>
              <a:gd name="adj" fmla="val 14286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1" name="text_374"/>
          <p:cNvSpPr txBox="1"/>
          <p:nvPr/>
        </p:nvSpPr>
        <p:spPr>
          <a:xfrm>
            <a:off x="685800" y="3831336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순전파</a:t>
            </a:r>
            <a:endParaRPr lang="en-US" sz="1400" dirty="0"/>
          </a:p>
        </p:txBody>
      </p:sp>
      <p:sp>
        <p:nvSpPr>
          <p:cNvPr id="22" name="text_375"/>
          <p:cNvSpPr txBox="1"/>
          <p:nvPr/>
        </p:nvSpPr>
        <p:spPr>
          <a:xfrm>
            <a:off x="2606040" y="3831336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= X @ W + b → Z = h(A), W = (이전, 이번)</a:t>
            </a:r>
            <a:endParaRPr lang="en-US" sz="1300" dirty="0"/>
          </a:p>
        </p:txBody>
      </p:sp>
      <p:sp>
        <p:nvSpPr>
          <p:cNvPr id="23" name="text_376"/>
          <p:cNvSpPr txBox="1"/>
          <p:nvPr/>
        </p:nvSpPr>
        <p:spPr>
          <a:xfrm>
            <a:off x="10058400" y="3831336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D2-5</a:t>
            </a:r>
            <a:endParaRPr lang="en-US" sz="1200" dirty="0"/>
          </a:p>
        </p:txBody>
      </p:sp>
      <p:sp>
        <p:nvSpPr>
          <p:cNvPr id="24" name="panel_377"/>
          <p:cNvSpPr/>
          <p:nvPr/>
        </p:nvSpPr>
        <p:spPr>
          <a:xfrm>
            <a:off x="457200" y="4434840"/>
            <a:ext cx="11274552" cy="512064"/>
          </a:xfrm>
          <a:prstGeom prst="roundRect">
            <a:avLst>
              <a:gd name="adj" fmla="val 14286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5" name="text_378"/>
          <p:cNvSpPr txBox="1"/>
          <p:nvPr/>
        </p:nvSpPr>
        <p:spPr>
          <a:xfrm>
            <a:off x="685800" y="4434840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softmax</a:t>
            </a:r>
            <a:endParaRPr lang="en-US" sz="1400" dirty="0"/>
          </a:p>
        </p:txBody>
      </p:sp>
      <p:sp>
        <p:nvSpPr>
          <p:cNvPr id="26" name="text_379"/>
          <p:cNvSpPr txBox="1"/>
          <p:nvPr/>
        </p:nvSpPr>
        <p:spPr>
          <a:xfrm>
            <a:off x="2606040" y="4434840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최댓값 빼기 · keepdims, 순서 불변</a:t>
            </a:r>
            <a:endParaRPr lang="en-US" sz="1300" dirty="0"/>
          </a:p>
        </p:txBody>
      </p:sp>
      <p:sp>
        <p:nvSpPr>
          <p:cNvPr id="27" name="text_380"/>
          <p:cNvSpPr txBox="1"/>
          <p:nvPr/>
        </p:nvSpPr>
        <p:spPr>
          <a:xfrm>
            <a:off x="10058400" y="4434840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D2-6</a:t>
            </a:r>
            <a:endParaRPr lang="en-US" sz="1200" dirty="0"/>
          </a:p>
        </p:txBody>
      </p:sp>
      <p:sp>
        <p:nvSpPr>
          <p:cNvPr id="28" name="panel_381"/>
          <p:cNvSpPr/>
          <p:nvPr/>
        </p:nvSpPr>
        <p:spPr>
          <a:xfrm>
            <a:off x="457200" y="5038344"/>
            <a:ext cx="11274552" cy="512064"/>
          </a:xfrm>
          <a:prstGeom prst="roundRect">
            <a:avLst>
              <a:gd name="adj" fmla="val 14286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9" name="text_382"/>
          <p:cNvSpPr txBox="1"/>
          <p:nvPr/>
        </p:nvSpPr>
        <p:spPr>
          <a:xfrm>
            <a:off x="685800" y="5038344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손실</a:t>
            </a:r>
            <a:endParaRPr lang="en-US" sz="1400" dirty="0"/>
          </a:p>
        </p:txBody>
      </p:sp>
      <p:sp>
        <p:nvSpPr>
          <p:cNvPr id="30" name="text_383"/>
          <p:cNvSpPr txBox="1"/>
          <p:nvPr/>
        </p:nvSpPr>
        <p:spPr>
          <a:xfrm>
            <a:off x="2606040" y="5038344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MSE (회귀) · CE = −log(정답 확률) (분류)</a:t>
            </a:r>
            <a:endParaRPr lang="en-US" sz="1300" dirty="0"/>
          </a:p>
        </p:txBody>
      </p:sp>
      <p:sp>
        <p:nvSpPr>
          <p:cNvPr id="31" name="text_384"/>
          <p:cNvSpPr txBox="1"/>
          <p:nvPr/>
        </p:nvSpPr>
        <p:spPr>
          <a:xfrm>
            <a:off x="10058400" y="5038344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D2-7</a:t>
            </a:r>
            <a:endParaRPr lang="en-US" sz="1200" dirty="0"/>
          </a:p>
        </p:txBody>
      </p:sp>
      <p:sp>
        <p:nvSpPr>
          <p:cNvPr id="32" name="panel_385"/>
          <p:cNvSpPr/>
          <p:nvPr/>
        </p:nvSpPr>
        <p:spPr>
          <a:xfrm>
            <a:off x="457200" y="5641848"/>
            <a:ext cx="11274552" cy="512064"/>
          </a:xfrm>
          <a:prstGeom prst="roundRect">
            <a:avLst>
              <a:gd name="adj" fmla="val 14286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33" name="text_386"/>
          <p:cNvSpPr txBox="1"/>
          <p:nvPr/>
        </p:nvSpPr>
        <p:spPr>
          <a:xfrm>
            <a:off x="685800" y="564184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학습</a:t>
            </a:r>
            <a:endParaRPr lang="en-US" sz="1400" dirty="0"/>
          </a:p>
        </p:txBody>
      </p:sp>
      <p:sp>
        <p:nvSpPr>
          <p:cNvPr id="34" name="text_387"/>
          <p:cNvSpPr txBox="1"/>
          <p:nvPr/>
        </p:nvSpPr>
        <p:spPr>
          <a:xfrm>
            <a:off x="2606040" y="564184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기울기 유도 → 수치 미분으로 검증 → 경사하강</a:t>
            </a:r>
            <a:endParaRPr lang="en-US" sz="1300" dirty="0"/>
          </a:p>
        </p:txBody>
      </p:sp>
      <p:sp>
        <p:nvSpPr>
          <p:cNvPr id="35" name="text_388"/>
          <p:cNvSpPr txBox="1"/>
          <p:nvPr/>
        </p:nvSpPr>
        <p:spPr>
          <a:xfrm>
            <a:off x="10058400" y="5641848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D2-8 · D2-9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Day 3 로 가는 다리 — 역전파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오늘 만든 함수가 내일 계층(Layer) 클래스로 다시 태어납니다</a:t>
            </a:r>
            <a:endParaRPr lang="en-US" sz="1300" dirty="0"/>
          </a:p>
        </p:txBody>
      </p:sp>
      <p:sp>
        <p:nvSpPr>
          <p:cNvPr id="4" name="panel_389"/>
          <p:cNvSpPr/>
          <p:nvPr/>
        </p:nvSpPr>
        <p:spPr>
          <a:xfrm>
            <a:off x="457200" y="1463040"/>
            <a:ext cx="11274552" cy="3840480"/>
          </a:xfrm>
          <a:prstGeom prst="roundRect">
            <a:avLst>
              <a:gd name="adj" fmla="val 1905"/>
            </a:avLst>
          </a:prstGeom>
          <a:solidFill>
            <a:srgbClr val="111A2E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5" name="text_390"/>
          <p:cNvSpPr txBox="1"/>
          <p:nvPr/>
        </p:nvSpPr>
        <p:spPr>
          <a:xfrm>
            <a:off x="731520" y="1600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Day 2 (오늘)</a:t>
            </a:r>
            <a:endParaRPr lang="en-US" sz="1300" dirty="0"/>
          </a:p>
        </p:txBody>
      </p:sp>
      <p:sp>
        <p:nvSpPr>
          <p:cNvPr id="6" name="text_391"/>
          <p:cNvSpPr txBox="1"/>
          <p:nvPr/>
        </p:nvSpPr>
        <p:spPr>
          <a:xfrm>
            <a:off x="6446520" y="1600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Day 3 (내일)</a:t>
            </a:r>
            <a:endParaRPr lang="en-US" sz="1300" dirty="0"/>
          </a:p>
        </p:txBody>
      </p:sp>
      <p:sp>
        <p:nvSpPr>
          <p:cNvPr id="7" name="codebg_392"/>
          <p:cNvSpPr/>
          <p:nvPr/>
        </p:nvSpPr>
        <p:spPr>
          <a:xfrm>
            <a:off x="731520" y="2057400"/>
            <a:ext cx="4937760" cy="475488"/>
          </a:xfrm>
          <a:prstGeom prst="roundRect">
            <a:avLst>
              <a:gd name="adj" fmla="val 9615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8" name="code_393"/>
          <p:cNvSpPr txBox="1"/>
          <p:nvPr/>
        </p:nvSpPr>
        <p:spPr>
          <a:xfrm>
            <a:off x="841248" y="2112264"/>
            <a:ext cx="4718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sigmoid · relu</a:t>
            </a:r>
            <a:endParaRPr lang="en-US" sz="1200" dirty="0"/>
          </a:p>
        </p:txBody>
      </p:sp>
      <p:sp>
        <p:nvSpPr>
          <p:cNvPr id="9" name="text_394"/>
          <p:cNvSpPr txBox="1"/>
          <p:nvPr/>
        </p:nvSpPr>
        <p:spPr>
          <a:xfrm>
            <a:off x="5760720" y="205740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text_395"/>
          <p:cNvSpPr txBox="1"/>
          <p:nvPr/>
        </p:nvSpPr>
        <p:spPr>
          <a:xfrm>
            <a:off x="6446520" y="205740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Sigmoid · Relu 계층의 forward / backward</a:t>
            </a:r>
            <a:endParaRPr lang="en-US" sz="1350" dirty="0"/>
          </a:p>
        </p:txBody>
      </p:sp>
      <p:sp>
        <p:nvSpPr>
          <p:cNvPr id="11" name="codebg_396"/>
          <p:cNvSpPr/>
          <p:nvPr/>
        </p:nvSpPr>
        <p:spPr>
          <a:xfrm>
            <a:off x="731520" y="2679192"/>
            <a:ext cx="4937760" cy="475488"/>
          </a:xfrm>
          <a:prstGeom prst="roundRect">
            <a:avLst>
              <a:gd name="adj" fmla="val 9615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12" name="code_397"/>
          <p:cNvSpPr txBox="1"/>
          <p:nvPr/>
        </p:nvSpPr>
        <p:spPr>
          <a:xfrm>
            <a:off x="841248" y="2734056"/>
            <a:ext cx="4718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@ W + b</a:t>
            </a:r>
            <a:endParaRPr lang="en-US" sz="1200" dirty="0"/>
          </a:p>
        </p:txBody>
      </p:sp>
      <p:sp>
        <p:nvSpPr>
          <p:cNvPr id="13" name="text_398"/>
          <p:cNvSpPr txBox="1"/>
          <p:nvPr/>
        </p:nvSpPr>
        <p:spPr>
          <a:xfrm>
            <a:off x="5760720" y="267919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text_399"/>
          <p:cNvSpPr txBox="1"/>
          <p:nvPr/>
        </p:nvSpPr>
        <p:spPr>
          <a:xfrm>
            <a:off x="6446520" y="2679192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Affine 계층 — 행렬곱의 역전파</a:t>
            </a:r>
            <a:endParaRPr lang="en-US" sz="1350" dirty="0"/>
          </a:p>
        </p:txBody>
      </p:sp>
      <p:sp>
        <p:nvSpPr>
          <p:cNvPr id="15" name="codebg_400"/>
          <p:cNvSpPr/>
          <p:nvPr/>
        </p:nvSpPr>
        <p:spPr>
          <a:xfrm>
            <a:off x="731520" y="3300984"/>
            <a:ext cx="4937760" cy="475488"/>
          </a:xfrm>
          <a:prstGeom prst="roundRect">
            <a:avLst>
              <a:gd name="adj" fmla="val 9615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16" name="code_401"/>
          <p:cNvSpPr txBox="1"/>
          <p:nvPr/>
        </p:nvSpPr>
        <p:spPr>
          <a:xfrm>
            <a:off x="841248" y="3355848"/>
            <a:ext cx="4718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softmax + cross_entropy</a:t>
            </a:r>
            <a:endParaRPr lang="en-US" sz="1200" dirty="0"/>
          </a:p>
        </p:txBody>
      </p:sp>
      <p:sp>
        <p:nvSpPr>
          <p:cNvPr id="17" name="text_402"/>
          <p:cNvSpPr txBox="1"/>
          <p:nvPr/>
        </p:nvSpPr>
        <p:spPr>
          <a:xfrm>
            <a:off x="5760720" y="3300984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text_403"/>
          <p:cNvSpPr txBox="1"/>
          <p:nvPr/>
        </p:nvSpPr>
        <p:spPr>
          <a:xfrm>
            <a:off x="6446520" y="3300984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SoftmaxWithLoss — 기울기 y − t</a:t>
            </a:r>
            <a:endParaRPr lang="en-US" sz="1350" dirty="0"/>
          </a:p>
        </p:txBody>
      </p:sp>
      <p:sp>
        <p:nvSpPr>
          <p:cNvPr id="19" name="codebg_404"/>
          <p:cNvSpPr/>
          <p:nvPr/>
        </p:nvSpPr>
        <p:spPr>
          <a:xfrm>
            <a:off x="731520" y="3922776"/>
            <a:ext cx="4937760" cy="475488"/>
          </a:xfrm>
          <a:prstGeom prst="roundRect">
            <a:avLst>
              <a:gd name="adj" fmla="val 9615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0" name="code_405"/>
          <p:cNvSpPr txBox="1"/>
          <p:nvPr/>
        </p:nvSpPr>
        <p:spPr>
          <a:xfrm>
            <a:off x="841248" y="3977640"/>
            <a:ext cx="4718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numerical_gradient</a:t>
            </a:r>
            <a:endParaRPr lang="en-US" sz="1200" dirty="0"/>
          </a:p>
        </p:txBody>
      </p:sp>
      <p:sp>
        <p:nvSpPr>
          <p:cNvPr id="21" name="text_406"/>
          <p:cNvSpPr txBox="1"/>
          <p:nvPr/>
        </p:nvSpPr>
        <p:spPr>
          <a:xfrm>
            <a:off x="5760720" y="3922776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text_407"/>
          <p:cNvSpPr txBox="1"/>
          <p:nvPr/>
        </p:nvSpPr>
        <p:spPr>
          <a:xfrm>
            <a:off x="6446520" y="3922776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gradient check — 역전파 구현 검증</a:t>
            </a:r>
            <a:endParaRPr lang="en-US" sz="1350" dirty="0"/>
          </a:p>
        </p:txBody>
      </p:sp>
      <p:sp>
        <p:nvSpPr>
          <p:cNvPr id="23" name="codebg_408"/>
          <p:cNvSpPr/>
          <p:nvPr/>
        </p:nvSpPr>
        <p:spPr>
          <a:xfrm>
            <a:off x="731520" y="4544568"/>
            <a:ext cx="4937760" cy="475488"/>
          </a:xfrm>
          <a:prstGeom prst="roundRect">
            <a:avLst>
              <a:gd name="adj" fmla="val 9615"/>
            </a:avLst>
          </a:prstGeom>
          <a:solidFill>
            <a:srgbClr val="0A0F1C"/>
          </a:solidFill>
          <a:ln w="12700">
            <a:solidFill>
              <a:srgbClr val="1F2B45"/>
            </a:solidFill>
            <a:prstDash val="solid"/>
          </a:ln>
        </p:spPr>
      </p:sp>
      <p:sp>
        <p:nvSpPr>
          <p:cNvPr id="24" name="code_409"/>
          <p:cNvSpPr txBox="1"/>
          <p:nvPr/>
        </p:nvSpPr>
        <p:spPr>
          <a:xfrm>
            <a:off x="841248" y="4599432"/>
            <a:ext cx="4718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forward(network, X)</a:t>
            </a:r>
            <a:endParaRPr lang="en-US" sz="1200" dirty="0"/>
          </a:p>
        </p:txBody>
      </p:sp>
      <p:sp>
        <p:nvSpPr>
          <p:cNvPr id="25" name="text_410"/>
          <p:cNvSpPr txBox="1"/>
          <p:nvPr/>
        </p:nvSpPr>
        <p:spPr>
          <a:xfrm>
            <a:off x="5760720" y="4544568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→</a:t>
            </a:r>
            <a:endParaRPr lang="en-US" sz="1800" dirty="0"/>
          </a:p>
        </p:txBody>
      </p:sp>
      <p:sp>
        <p:nvSpPr>
          <p:cNvPr id="26" name="text_411"/>
          <p:cNvSpPr txBox="1"/>
          <p:nvPr/>
        </p:nvSpPr>
        <p:spPr>
          <a:xfrm>
            <a:off x="6446520" y="4544568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MNIST 784-100-10 학습 (정확도 95% 이상)</a:t>
            </a:r>
            <a:endParaRPr lang="en-US" sz="1350" dirty="0"/>
          </a:p>
        </p:txBody>
      </p:sp>
      <p:sp>
        <p:nvSpPr>
          <p:cNvPr id="27" name="text_412"/>
          <p:cNvSpPr txBox="1"/>
          <p:nvPr/>
        </p:nvSpPr>
        <p:spPr>
          <a:xfrm>
            <a:off x="457200" y="55321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계산 그래프 → 연쇄 법칙 → 계층별 역전파 → gradient check → 미니배치 SGD → MNIST</a:t>
            </a:r>
            <a:endParaRPr lang="en-US" sz="1400" dirty="0"/>
          </a:p>
        </p:txBody>
      </p:sp>
      <p:sp>
        <p:nvSpPr>
          <p:cNvPr id="28" name="text_413"/>
          <p:cNvSpPr txBox="1"/>
          <p:nvPr/>
        </p:nvSpPr>
        <p:spPr>
          <a:xfrm>
            <a:off x="457200" y="594360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제출: 강의 노트북 (채점 셀 결과 포함) · 워크시트 오답 정리 캡처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 Campus Dark">
  <a:themeElements>
    <a:clrScheme name="AI Campus Dark">
      <a:dk1>
        <a:srgbClr val="DBE4F0"/>
      </a:dk1>
      <a:lt1>
        <a:srgbClr val="0B1220"/>
      </a:lt1>
      <a:dk2>
        <a:srgbClr val="8A9BB8"/>
      </a:dk2>
      <a:lt2>
        <a:srgbClr val="111A2E"/>
      </a:lt2>
      <a:accent1>
        <a:srgbClr val="F5B942"/>
      </a:accent1>
      <a:accent2>
        <a:srgbClr val="2DD4BF"/>
      </a:accent2>
      <a:accent3>
        <a:srgbClr val="60A5FA"/>
      </a:accent3>
      <a:accent4>
        <a:srgbClr val="4ADE80"/>
      </a:accent4>
      <a:accent5>
        <a:srgbClr val="F87171"/>
      </a:accent5>
      <a:accent6>
        <a:srgbClr val="C084FC"/>
      </a:accent6>
      <a:hlink>
        <a:srgbClr val="60A5FA"/>
      </a:hlink>
      <a:folHlink>
        <a:srgbClr val="C084FC"/>
      </a:folHlink>
    </a:clrScheme>
    <a:fontScheme name="AI Campus Dark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Neural Network Day 2 — 뉴런 · 순전파 · 손실</dc:title>
  <dc:subject>PptxGenJS Presentation</dc:subject>
  <dc:creator>김정인</dc:creator>
  <cp:lastModifiedBy>김정인</cp:lastModifiedBy>
  <cp:revision>1</cp:revision>
  <dcterms:created xsi:type="dcterms:W3CDTF">2026-10-21T01:44:17Z</dcterms:created>
  <dcterms:modified xsi:type="dcterms:W3CDTF">2026-10-21T01:44:17Z</dcterms:modified>
</cp:coreProperties>
</file>