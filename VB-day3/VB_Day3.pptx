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9e9b8ec-3b24-0b56-4500-744217ac05e6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71174a56-904c-09e2-91f8-6bf07f111bbc}">
          <p14:sldIdLst>
            <p14:sldId id="261"/>
          </p14:sldIdLst>
        </p14:section>
        <p14:section name="2교시" id="{0902b064-cd74-3b12-2b67-f50c28afc9e9}">
          <p14:sldIdLst>
            <p14:sldId id="262"/>
          </p14:sldIdLst>
        </p14:section>
        <p14:section name="3교시" id="{2f4c958b-38cd-3943-f0ee-388f951572c1}">
          <p14:sldIdLst>
            <p14:sldId id="263"/>
          </p14:sldIdLst>
        </p14:section>
        <p14:section name="4교시" id="{38807b60-8fa8-7e0d-7986-3e90f20a7a1e}">
          <p14:sldIdLst>
            <p14:sldId id="264"/>
          </p14:sldIdLst>
        </p14:section>
        <p14:section name="5교시" id="{8fc94b14-ae97-b872-2327-caefa5a8cd27}">
          <p14:sldIdLst>
            <p14:sldId id="265"/>
          </p14:sldIdLst>
        </p14:section>
        <p14:section name="6교시" id="{533bade8-fdb0-0ae3-c15b-5bff242cb70f}">
          <p14:sldIdLst>
            <p14:sldId id="266"/>
          </p14:sldIdLst>
        </p14:section>
        <p14:section name="7교시" id="{b2096c58-6cfd-13ab-5b9a-5cb4f5326f0d}">
          <p14:sldIdLst>
            <p14:sldId id="267"/>
          </p14:sldIdLst>
        </p14:section>
        <p14:section name="8교시" id="{08b47e76-f398-62a8-f0a5-e0adc3d9340e}">
          <p14:sldIdLst>
            <p14:sldId id="268"/>
          </p14:sldIdLst>
        </p14:section>
        <p14:section name="정리" id="{b7324da1-5223-c984-b1e6-08e3d56a37c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/>
                <a:ea typeface="Malgun Gothic"/>
              </a:rPr>
              <a:t>Vision 기본 모델 Day 3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Vision 기본 모델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경량 CNN · 전이학습 · Grad-CAM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HYUNDAI AI Insight Campus · 온디바이스 AI · Vision 기본 모델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2026. 10. 29 (목)  09:00–18:00  ·  8교시  ·  Google Colab T4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지연시간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39" y="420624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4206240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MAC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9" y="42062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420624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Depthwise Separable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420624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MobileNetV3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4206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420624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전이학습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799" y="4206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799" y="420624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Grad-CAM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강사: 김정인 · 김구수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수업이 끝나면 여러분은 다음을 할 수 있습니다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정확도 vs 속도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CPU · 스레드 1 · 배치 1 · warm-up 조건으로 지연시간을 재고, 정확도 · 파라미터 · MAC 과 함께 비교한다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연산량 · DS Conv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1×1 bottleneck (약 1/17) 과 Depthwise Separable (약 1/8~1/9) 이 연산을 줄이는 원리를 공식과 코드로 확인한다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MobileNet V1 · V2 · V3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DS Conv → inverted residual · linear bottleneck → SE · h-swish 로 이어지는 경량화 설계를 직접 구현한다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전이학습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ImageNet 사전학습 MobileNetV3 를 feature extraction · fine-tuning 하고, 적은 데이터에서의 효과를 실험으로 본다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5800" y="4937759"/>
            <a:ext cx="384048" cy="384048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Malgun Gothic"/>
                <a:ea typeface="Malgun Gothic"/>
                <a:cs typeface="Malgun Gothic"/>
              </a:rPr>
              <a:t>Grad-CAM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forward hook 과 기울기 hook 으로 Grad-CAM 을 구현해 모델이 이미지의 어디를 보고 판단했는지 확인한다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93775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미니 프로젝트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321807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MobileNetV3 전이학습 (5 epoch, test ≥ 0.85) 과 Day 2 ResNet-20 을 정확도 · MAC · 지연시간으로 비교한다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시간표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8교시 × 50분 · 점심 12:00–13:00 · 오전 연산량 → DS Conv, 오후 MobileNet → 전이학습 → Grad-CAM → 미니 프로젝트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463040"/>
          <a:ext cx="11274552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1463040"/>
                <a:gridCol w="4663440"/>
                <a:gridCol w="1234440"/>
                <a:gridCol w="3273552"/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09:00–09:50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Day 2 복습 퀴즈 · 정확도 vs 속도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퀴즈 + 강의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D3-1 정확도 vs 속도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10:00–10:50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연산량 계산 — 파라미터 · MAC · 메모리 · 1×1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D3-2 연산량 지도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11:00–11:50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Depthwise Separable Convolution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D3-3 Depthwise + Pointwise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13:00–13:50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 V1 · V2 · V3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D3-4 Inverted residual · SE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14:00–14:50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전이학습 — feature extraction vs fine-tuning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D3-5 전이학습 — 동결과 미세조정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15:00–15:50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적은 데이터와 전이학습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D3-6 적은 데이터 실험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16:00–16:50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Grad-CAM — 모델은 어디를 보는가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강의 +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D3-7 Grad-CAM 계산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17:00–17:50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미니 프로젝트 — MobileNetV3 전이학습 vs ResNet-20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실습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DD4B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D3-8 모델 고르기 — 비교표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자료 · 온라인 링크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예측(애니메이션) → 검증(노트북) → 점검(워크시트) — 모두 브라우저에서 바로 열립니다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508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기본 주소 (Day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80136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https://imguru-mooc.github.io/AI_CAMPUS/VB-day3/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4688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468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animation.html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68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애니메이션 8개 (D3-1 ~ D3-8) — #d3-7 처럼 바로가기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01752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017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worksheet.html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017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개념 워크시트 — #t1 ~ #t8 교시 바로가기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6616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661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B942"/>
                </a:solidFill>
                <a:latin typeface="Consolas"/>
                <a:ea typeface="Consolas"/>
                <a:cs typeface="Consolas"/>
              </a:rPr>
              <a:t>VB_Day3_lecture.ipynb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강의 노트북 — 1~8교시 문제 + 미니 프로젝트 (Colab · T4 GPU)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114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14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VB_Day3.pdf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1148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 슬라이드 PDF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6634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Consolas"/>
                <a:ea typeface="Consolas"/>
                <a:cs typeface="Consolas"/>
              </a:rPr>
              <a:t>resnet20_cifar10.pt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6634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Day 2 강사 ResNet-20 가중치 (VB-day2/data) — 노트북이 1교시에 내려받음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21208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212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Day 2 복습 퀴즈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2120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 시작 — 강사가 Google Forms 링크 공유 (20문항 · 15분)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7900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노트북은 "파일 → Drive에 사본 저장" 후 작업 · 런타임 → 런타임 유형 변경 → T4 GPU · 하드웨어 없이 데이터만으로 진행합니다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큰 그림 — ResNet-50 에서 MobileNetV3 까지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같은 ImageNet 분류인데 연산량은 72배 차이 — 정확도와 MAC(속도)을 함께 보세요 (224×224 입력)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5087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ResNet-50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93852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1938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top-1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17627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25,557,032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176272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76.1%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633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4,089,184,256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0175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bottleneck 블록 · 102.2 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224028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8536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15087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C084FC"/>
                </a:solidFill>
                <a:latin typeface="Malgun Gothic"/>
                <a:ea typeface="Malgun Gothic"/>
                <a:cs typeface="Malgun Gothic"/>
              </a:rPr>
              <a:t>ResNet-18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6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193852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1938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top-1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217627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  <a:latin typeface="Consolas"/>
                <a:ea typeface="Consolas"/>
                <a:cs typeface="Consolas"/>
              </a:rPr>
              <a:t>11,689,512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2176272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69.8%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2633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1,814,073,344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1416" y="30175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basic 블록 · Day 2 의 큰 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0416" y="2240280"/>
            <a:ext cx="2194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2" y="14173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150876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MobileNetV3-Small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63072" y="150876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193852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params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31552" y="1938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top-1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217627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2,542,856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2" y="2176272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000" b="1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67.7%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2633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MAC  </a:t>
            </a:r>
            <a:r>
              <a:rPr sz="1300" b="0">
                <a:solidFill>
                  <a:srgbClr val="DBE4F0"/>
                </a:solidFill>
                <a:latin typeface="Consolas"/>
                <a:ea typeface="Consolas"/>
                <a:cs typeface="Consolas"/>
              </a:rPr>
              <a:t>56,510,400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30175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DS Conv · SE · h-swish (1/72)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703320"/>
            <a:ext cx="7086600" cy="256032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6928" y="3794760"/>
            <a:ext cx="6867144" cy="2377440"/>
          </a:xfrm>
          <a:prstGeom prst="roundRect">
            <a:avLst>
              <a:gd name="adj" fmla="val 307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1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08" y="3849624"/>
            <a:ext cx="4859382" cy="226771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726679" y="3703320"/>
            <a:ext cx="4005072" cy="256032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9560" y="379476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오늘의 데이터 — CIFAR-10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416052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원래 계획한 '현장 안전 이미지셋' 대신 Day 2 와 같은 CIFAR-10</a:t>
            </a:r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처음부터 학습한 ResNet-20 과 공정하게 비교</a:t>
            </a:r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MobileNet 입력은 Resize 96 + ImageNet 정규화</a:t>
            </a:r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코드는 ImageFolder 로 그대로 교체 가능 (6교시)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2 복습 퀴즈 · 정확도 vs 속도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09:00–09:50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09:00–09:15 Vision Day 2 복습 퀴즈 (20문항)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온디바이스 = 정확도 + 속도 + 메모리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측정 규칙: CPU · 스레드 1 · 배치 1 · warm-up 3회 버림 · 여러 번 평균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30 FPS = 한 장 33 ms 이내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1-1  Day 2 ResNet-20 가중치 test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1-2  latency_ms 함수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1-3  네 모델 비교표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D3-1 정확도 vs 속도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1-1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1700784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resnet20_cifar10.pt (Day 2, 20 epoch) 내려받아 load_state_dict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test 0.8587 (실행 예 · Day 2 사전 실행 0.8587)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2359152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latency_ms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359152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414016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deepcopy → cpu() → eval() · torch.set_num_threads(1)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no_grad · warm-up 3회 버림 · perf_counter 로 reps=30 평균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스레드 수 원복 → ms 반환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329184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1-3 비교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291840"/>
            <a:ext cx="5349240" cy="1325880"/>
          </a:xfrm>
          <a:prstGeom prst="roundRect">
            <a:avLst>
              <a:gd name="adj" fmla="val 4137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3346704"/>
            <a:ext cx="5129784" cy="1216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   params       MAC             CPU ms (실행 예)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ResNet-20 (32)        272,474      40,813,184      2.87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ResNet-18 (224)       11,689,512   1,814,073,344   70.4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ResNet-50 (224)       25,557,032   4,089,184,256   134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MobileNetV3-S (224)   2,542,856    56,510,400      8.75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72744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ImageNet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top-1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4727448"/>
            <a:ext cx="5349240" cy="384048"/>
          </a:xfrm>
          <a:prstGeom prst="roundRect">
            <a:avLst>
              <a:gd name="adj" fmla="val 14285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782312"/>
            <a:ext cx="51297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ResNet-18 69.8% · ResNet-50 76.1% · MobileNetV3-S 67.7%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ResNet-50 MAC = MobileNetV3-Small 의 약 72배, 정확도 차이는 8.4%p. 지연시간은 장치 · 라이브러리 · 스레드 수에 따라 달라지므로 같은 규칙으로 재서 비교한다.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연산량 계산 — 파라미터 · MAC · 메모리 · 1×1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10:00–10:50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84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 메모리 = params × 4 B (float32)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활성화 메모리 = Conv · Linear 출력 원소 합 × 4 B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MAC = 곱-누산 횟수 — 속도의 대략적 지표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1×1 conv = 위치마다 채널만 섞는 압축기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5354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2-1  model_cost 함수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2-2  basic vs bottleneck 블록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D3-2 연산량 지도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164592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2-1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model_cost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645920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1700784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forward hook 으로 Conv · Linear 출력 out.numel() 합산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params · macs · param_MB · act_MB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ResNet-50 (224): param_MB = 25,557,032 × 4 B = 102.2 MB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2578608"/>
            <a:ext cx="1097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578608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2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028" y="2651760"/>
            <a:ext cx="3621024" cy="131673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47488" y="4151376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2-2 계산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(256 채널)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151376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4206240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basic       3×3 256→256 ×2 = 2·9·256² = 1,179,648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bottleneck  1×1 16,384 + 3×3 36,864 + 1×1 16,384 = 69,632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1,179,648 / 69,632 = 16.9 ≈ 17배  (bias 없음 · BN 제외)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비싼 3×3 을 채널이 적은 곳(64)에서 하고 1×1 로 줄였다 늘린다. MobileNet 도 1×1 conv 가 핵심 부품 — 3교시 pointwise 가 바로 1×1 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Depthwise Separable Convolution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11:00–11:50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depthwise 3×3 (groups = Cin) — 채널마다 공간만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pointwise 1×1 — 채널만 섞기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연산 비율 = 1/Cout + 1/K² (K=3 → 약 1/9~1/8)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MAC 이 줄어도 실제 속도는 장치에서 잰다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18460"/>
            <a:ext cx="3803904" cy="1143000"/>
          </a:xfrm>
          <a:prstGeom prst="roundRect">
            <a:avLst>
              <a:gd name="adj" fmla="val 6400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3_ds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89" y="2991612"/>
            <a:ext cx="2718261" cy="9966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3-1  DSConv 블록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3-2  가중치 · MAC 비교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3-3  CPU 지연시간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D3-3 Depthwise + Pointwise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1645920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MAC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645920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1700784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일반  Cout · H · W · Cin · 9</a:t>
            </a:r>
          </a:p>
          <a:p>
            <a:pPr algn="l"/>
            <a:r>
              <a:rPr sz="10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DS    Cin · H · W · 9 + Cout · H · W · Cin  → 비율 1/Cout + 1/9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235915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3-1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DSConv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2359152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414016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dw: Conv2d(cin, cin, 3, stride, padding=1, groups=cin, bias=False)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+ BN + ReLU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pw: Conv2d(cin, cout, 1, bias=False) + BN + ReLU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072384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64→128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32×32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072384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127248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가중치  일반 73,728   DS 8,768 (dw 576 + pw 8,192) = 11.9%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MAC     일반 75,497,472   DS 8,978,432 (dw 589,824 + pw 8,388,608)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= 0.1189 = 1/128 + 1/9 · pointwise 가 DS 연산의 93%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005072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3-3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005072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059936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CPU 1스레드 · 입력 64×56×56 · MAC 은 8.4배 차이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일반 5.14 ms  vs  DS 1.26 ms → 4.1배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depthwise 는 계산 대비 메모리 이동이 많다 (메모리 병목) → MAC 8.4배 감소가 그대로 속도 8.4배가 되지 않는다. 지연시간은 실제 장치에서 재야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MobileNet V1 · V2 ·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13:00–13:50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V1 (2017) — DS Conv 쌓기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V2 (2018) — inverted residual · linear bottleneck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V3 (2019) — NAS + SE + h-swish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651760"/>
            <a:ext cx="380390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4_i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04" y="2724912"/>
            <a:ext cx="3419430" cy="12252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4-1  InvertedResidual 블록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4-2  h-swish 구현 · 비교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4-3  mobilenet_v3_small 구조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D3-4 Inverted residual · 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164592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4-1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Inverted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Residual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645920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1700784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1×1 24→144 (×t=6) · ReLU6 → dw 3×3 · ReLU6 → 1×1 144→24 (활성화 없음)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(24,24,s1,t6) 8,832 = 3,456 + 288 + 1,296 + 288 + 3,456 + 48</a:t>
            </a:r>
          </a:p>
          <a:p>
            <a:pPr algn="l"/>
            <a:r>
              <a:rPr sz="9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(16,24,s2) 5,136 — stride 1 &amp; cin == cout 일 때만 지름길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2578608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4-2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h-swish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2578608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633472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h-swish(x) = x · ReLU6(x + 3) / 6   (x ≤ −3 → 0, x ≥ 3 → x)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swish(x) = x · σ(x) 의 근사 · nn.Hardswish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7488" y="3291840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291840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346704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채널별 평균 (squeeze) → FC 두 개 → hard-sigmoid 0~1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→ 채널마다 곱 (excitation) — 중요한 채널을 키운다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005072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4-3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V3-Small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4005072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059936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features 안 InvertedResidual 11개 중 SE 9개 · 마지막 (576, 7, 7)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classifier: Linear(576→1024) · Hardswish · Dropout · Linear(1024→1000)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전체 2,542,856 · 224 입력 56,510,400 MAC (ResNet-50 의 1/72)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ResNet bottleneck = 줄였다 늘리기 (256→64→256, 지름길이 넓은 쪽), V2 = 늘렸다 줄이기 (24→144→24, 지름길이 얇은 쪽) → inverted. 얇은 쪽엔 ReLU 를 빼서 정보 손실을 막는다.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전이학습 — feature extraction vs fine-tuning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14:00–14:50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ImageNet 1,000 클래스 · 128만 장으로 배운 features 재사용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classifier[3] 만 10 클래스로 교체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feature extraction = features 동결 (requires_grad=False)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fine-tuning = 전체를 작은 학습률로 함께 학습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5-1  사전학습 모델 · 분류기 교체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5-2  feature extraction 1 epoch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5-3  fine-tuning vs 처음부터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D3-5 전이학습 — 동결과 미세조정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349240" cy="1051560"/>
          </a:xfrm>
          <a:prstGeom prst="roundRect">
            <a:avLst>
              <a:gd name="adj" fmla="val 6956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5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719072"/>
            <a:ext cx="3017519" cy="90525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47488" y="2807208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5-1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807208"/>
            <a:ext cx="5349240" cy="1005840"/>
          </a:xfrm>
          <a:prstGeom prst="roundRect">
            <a:avLst>
              <a:gd name="adj" fmla="val 545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862072"/>
            <a:ext cx="51297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W = MobileNet_V3_Small_Weights.IMAGENET1K_V1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mnet = mobilenet_v3_small(weights=W)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mnet.classifier[3] = nn.Linear(1024, 10)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전체 1,528,106 = features 927,008 + classifier 601,098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96 입력 MAC 11,057,600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3922776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5-2 · 5-3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922776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3977640"/>
            <a:ext cx="5129784" cy="941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증강 없는 train 50,000장 · Adam 1e-3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방법 (1 epoch)            학습 파라미터   test (실행 예)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feature extraction        601,098 (39%)   0.6607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fine-tuning               1,528,106       0.8273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처음부터 (weights=None)   1,528,106       0.5470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주의: ImageNet 정규화 (mean 0.485 · 0.456 · 0.406) · 입력이 너무 작으면 안 됨 (32 → Resize 96) · 동결해도 BN 의 running 통계는 train() 모드에서 바뀐다.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C084FC"/>
          </a:solidFill>
          <a:ln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적은 데이터와 전이학습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15:00–15:50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클래스당 100장 = 1,000장 균형 샘플 (전체의 2%)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같은 조건: 증강 · Adam 1e-3 · 배치 64 · 10 epoch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데이터가 적을수록 사전학습 효과가 크다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현장 데이터는 ImageFolder 로 그대로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6-1  균형 1,000장 인덱스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6-2  처음부터 vs 사전학습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6-3  클래스별 정확도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D3-6 적은 데이터 실험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6-1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1700784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t = np.array(train_mn.targets)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idx = np.concatenate([np.where(t == c)[0][:100]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   for c in range(10)])</a:t>
            </a:r>
          </a:p>
          <a:p>
            <a:pPr algn="l"/>
            <a:r>
              <a:rPr sz="11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np.bincount(t[idx]) → 클래스마다 100 · 합 1,000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2578608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6-2</a:t>
            </a:r>
          </a:p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(실행 예)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578608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633472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1,000장 · 10 epoch → test 10,000장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처음부터 0.3560   vs   사전학습 0.6561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확인 셀: 차이 &gt; 0.15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3511296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6-3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511296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3566160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클래스별 정확도 = 사전학습 − 처음부터</a:t>
            </a:r>
          </a:p>
          <a:p>
            <a:pPr algn="l"/>
            <a:r>
              <a:rPr sz="9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가장 크게 오른 클래스 (실행 예): frog (+0.59), bird (+0.43), dog (+0.38)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224528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ImageFolder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4224528"/>
            <a:ext cx="5349240" cy="822960"/>
          </a:xfrm>
          <a:prstGeom prst="roundRect">
            <a:avLst>
              <a:gd name="adj" fmla="val 666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279392"/>
            <a:ext cx="512978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safety/train/helmet/*.jpg · safety/train/no_helmet/*.jpg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ds = ImageFolder('safety/train', transform=tf)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ds.classes = 폴더 이름 순서 = 레이블 번호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처음부터 학습하면 1,000장으로 에지 · 질감부터 배워야 한다. 사전학습 features 는 이미 에지 · 질감 · 부품을 안다 → 현장 데이터가 적을 때 첫 선택은 사전학습 + fine-tuning.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F5B942"/>
          </a:solidFill>
          <a:ln>
            <a:solidFill>
              <a:srgbClr val="F5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Grad-CAM — 모델은 어디를 보는가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16:00–16:50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600200"/>
            <a:ext cx="3840480" cy="2459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마지막 conv 출력 A^k 와 기울기 ∂y^c/∂A^k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α_k = 기울기의 공간 평균 (GAP)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CAM = ReLU(Σ α_k A^k) → 0~1 → 업샘플 → 겹쳐 그리기</a:t>
            </a:r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sz="12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오답: 예측 클래스 CAM vs 정답 클래스 CAM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151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노트북 실습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" y="4498848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4988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48970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7-1  GradCAM 클래스 (hook)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4882896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828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7-2  오답에서 CAM 비교</a:t>
            </a:r>
          </a:p>
        </p:txBody>
      </p:sp>
      <p:sp>
        <p:nvSpPr>
          <p:cNvPr id="40" name="Oval 39"/>
          <p:cNvSpPr/>
          <p:nvPr/>
        </p:nvSpPr>
        <p:spPr>
          <a:xfrm>
            <a:off x="685800" y="5266944"/>
            <a:ext cx="292608" cy="292608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669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5780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문제 7-3  MobileNet CAM 크기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7"/>
            </a:avLst>
          </a:prstGeom>
          <a:solidFill>
            <a:srgbClr val="0F2A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애니메이션  D3-7 Grad-CAM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164592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계산 흐름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1645920"/>
            <a:ext cx="5349240" cy="1188720"/>
          </a:xfrm>
          <a:prstGeom prst="roundRect">
            <a:avLst>
              <a:gd name="adj" fmla="val 6153"/>
            </a:avLst>
          </a:prstGeom>
          <a:solidFill>
            <a:srgbClr val="F4F6FA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7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719072"/>
            <a:ext cx="3291840" cy="104241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47488" y="2944368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7-1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944368"/>
            <a:ext cx="5349240" cy="1005840"/>
          </a:xfrm>
          <a:prstGeom prst="roundRect">
            <a:avLst>
              <a:gd name="adj" fmla="val 5454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999232"/>
            <a:ext cx="512978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forward hook: A 저장 + out.register_hook(기울기 저장)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logits[torch.arange(N), cls].sum().backward()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alpha = grads.mean(dim=(2, 3), keepdim=True)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cam = F.relu((alpha * acts).sum(dim=1))   # → 정규화 → 업샘플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4059935"/>
            <a:ext cx="1097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CAM 크기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059935"/>
            <a:ext cx="5349240" cy="603504"/>
          </a:xfrm>
          <a:prstGeom prst="roundRect">
            <a:avLst>
              <a:gd name="adj" fmla="val 909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4114799"/>
            <a:ext cx="51297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ResNet-20 layer3          (32 입력, stride 4)   → 8×8</a:t>
            </a:r>
          </a:p>
          <a:p>
            <a:pPr algn="l"/>
            <a:r>
              <a:rPr sz="11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MobileNetV3-S features[-1] (96 입력, stride 32) → 3×3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체크포인트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562356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ReLU 는 그 클래스 점수를 올리는 위치만 남기기 위해. 다 쓴 hook 은 remove(). 오답에서 배경 · 맥락에 속았는지 본다. 3×3 CAM 은 거칠다 → 위치가 중요하면 탐지 (Day 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미니 프로젝트 — MobileNetV3 전이학습 vs ResNet-20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8A9BB8"/>
                </a:solidFill>
                <a:latin typeface="Consolas"/>
                <a:ea typeface="Consolas"/>
                <a:cs typeface="Consolas"/>
              </a:rPr>
              <a:t>17:00–17:50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26187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강의 노트북 8교시  ·  MobileNetV3-S + AdamW + OneCycleLR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6459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1700784"/>
            <a:ext cx="4901183" cy="1399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EPOCHS = 5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mn_loader = DataLoader(train_mn, batch_size=128,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    shuffle=True)        # 391 step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model = mobilenet_v3_small(weights=W_MNV3S)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model.classifier[3] = nn.Linear(1024, 10)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opt = AdamW(model.parameters(), lr=1e-3, weight_decay=1e-4)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sched = OneCycleLR(opt, max_lr=1e-3, epochs=EPOCHS,</a:t>
            </a:r>
          </a:p>
          <a:p>
            <a:pPr algn="l"/>
            <a:r>
              <a:rPr sz="105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           steps_per_epoch=len(mn_loader))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8368" y="3246120"/>
          <a:ext cx="5120640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3794760"/>
                <a:gridCol w="7772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배점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증강 로더 · 사전학습 모델 · AdamW + OneCycleLR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fine-tuning 5 epoch — test ≥ 0.85 (GPU)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비교표 — params · MAC · CPU 지연시간 · test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오답 8장 Grad-CAM (3×3)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DBE4F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해석 (마크다운)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5B9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+ 10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" y="52852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채점 셀 실행 → 자동 채점 80점 (과제 1~4) + 강사 20점 (과제 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577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train 50,000장 · Resize 96 · 증강 · 391 step/epoch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704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2DD4BF"/>
                </a:solidFill>
                <a:latin typeface="Malgun Gothic"/>
                <a:ea typeface="Malgun Gothic"/>
                <a:cs typeface="Malgun Gothic"/>
              </a:rPr>
              <a:t>▶ D3-8 모델 고르기 — 비교표 — 먼저 보고 코드로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8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73368" y="1298448"/>
            <a:ext cx="5175504" cy="868680"/>
          </a:xfrm>
          <a:prstGeom prst="roundRect">
            <a:avLst>
              <a:gd name="adj" fmla="val 6315"/>
            </a:avLst>
          </a:prstGeom>
          <a:solidFill>
            <a:srgbClr val="0F2A1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13441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목표 test ≥ 0.85 (5 epoch, T4 약 5분 예상)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17556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강사 사전 실행 5 epoch test 0.8842 (실행 예) · T4 약 1분/epoch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286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모델 고르기 — CIFAR-10, 이미지 한 장 기준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373368" y="2606040"/>
          <a:ext cx="5175504" cy="18653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00784"/>
                <a:gridCol w="164592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ResNet-20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MobileNetV3-S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· 입력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처음부터 · 32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전이학습 · 96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params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272,474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1,528,106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40,813,184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11,057,600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CPU ms (실행 예)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2.87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6.18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8A9BB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(실행 예)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0.8587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DBE4F0"/>
                          </a:solidFill>
                          <a:latin typeface="Consolas"/>
                          <a:ea typeface="Consolas"/>
                          <a:cs typeface="Consolas"/>
                        </a:rPr>
                        <a:t>0.8842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1F2B45"/>
                      </a:solidFill>
                    </a:lnL>
                    <a:lnR w="9525">
                      <a:solidFill>
                        <a:srgbClr val="1F2B45"/>
                      </a:solidFill>
                    </a:lnR>
                    <a:lnT w="9525">
                      <a:solidFill>
                        <a:srgbClr val="1F2B45"/>
                      </a:solidFill>
                    </a:lnT>
                    <a:lnB w="9525">
                      <a:solidFill>
                        <a:srgbClr val="1F2B45"/>
                      </a:solidFill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373368" y="457200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크기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파라미터는 MobileNet 이 5.6배, MAC 은 약 1/3.7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해상도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MAC 은 입력 크기 제곱에 비례 — 96→224 ≈ 5.4배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속도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지연시간은 실제 장치에서 측정 (depthwise 메모리 병목)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현장  </a:t>
            </a:r>
            <a:r>
              <a:rPr sz="11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데이터가 적으면 사전학습 경량 모델 + fine-tuning + Grad-CAM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오늘의 핵심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각 항목 옆 번호는 다시 볼 애니메이션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정확도 vs 속도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141732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CPU · 스레드 1 · 배치 1 · warm-up · ResNet-50 MAC 은 MobileNetV3-S 의 72배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02082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연산량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02082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메모리 = params × 4 B · 1×1 bottleneck 69,632 vs basic 1,179,648 (약 1/17)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62432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DS Conv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262432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depthwise (groups=Cin) + pointwise 1×1 · 비율 1/Cout + 1/K² · 속도는 장치에서 측정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MobileNet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227832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V1 DS Conv · V2 inverted residual + linear bottleneck · V3 SE + h-swish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3133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전이학습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831336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classifier[3] → 10 · feature extraction (601,098 학습) vs fine-tuning (전체)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34840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적은 데이터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434840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클래스당 100장 · 10 epoch — 사전학습이 처음부터보다 크게 높다 · ImageFolder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038344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Grad-CAM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5038344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α_k = GAP(∂y^c/∂A^k) · CAM = ReLU(Σ α_k A^k) · ResNet-20 8×8 / MobileNet 3×3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0714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641848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미니 프로젝트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641848"/>
            <a:ext cx="7223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MobileNetV3-S 전이학습 5 epoch — test ≥ 0.85 · params · MAC · 지연시간 비교표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DD4BF"/>
                </a:solidFill>
                <a:latin typeface="Consolas"/>
                <a:ea typeface="Consolas"/>
                <a:cs typeface="Consolas"/>
              </a:rPr>
              <a:t>D3-8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28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4 로 가는 다리 — 객체 탐지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sz="13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분류기는 '무엇이' 만 답합니다. 다음은 '무엇이 어디에' — bbox · IoU · NMS · mAP · YOLO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63040"/>
            <a:ext cx="11274552" cy="4069080"/>
          </a:xfrm>
          <a:prstGeom prst="roundRect">
            <a:avLst>
              <a:gd name="adj" fmla="val 1797"/>
            </a:avLst>
          </a:prstGeom>
          <a:solidFill>
            <a:srgbClr val="111A2E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Malgun Gothic"/>
                <a:ea typeface="Malgun Gothic"/>
                <a:cs typeface="Malgun Gothic"/>
              </a:rPr>
              <a:t>Day 3 (오늘)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Day 4 (11/2 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0116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206654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분류: 이미지 → 클래스 1개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0116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탐지: 물체마다 클래스 + bbox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57860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2633472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Grad-CAM 3×3 — 위치가 거칠다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578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위치는 탐지로 — bbox 를 직접 예측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14553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3200400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accuracy (맞음 / 틀림)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14553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1455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IoU · mAP — 얼마나 겹치는가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1246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767328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softmax 로 클래스 하나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371246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7124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NMS — 겹치는 박스 정리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2793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34255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MobileNetV3 전이학습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279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279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DBE4F0"/>
                </a:solidFill>
                <a:latin typeface="Malgun Gothic"/>
                <a:ea typeface="Malgun Gothic"/>
                <a:cs typeface="Malgun Gothic"/>
              </a:rPr>
              <a:t>YOLO — 사전학습 탐지기로 사람 찾고 세기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84632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0F1C"/>
          </a:solidFill>
          <a:ln w="12700">
            <a:solidFill>
              <a:srgbClr val="1F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4901184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latency_ms · model_cost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846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그대로 사용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  <a:latin typeface="Malgun Gothic"/>
                <a:ea typeface="Malgun Gothic"/>
                <a:cs typeface="Malgun Gothic"/>
              </a:rPr>
              <a:t>bbox → IoU → NMS → mAP → YOLO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9BB8"/>
                </a:solidFill>
                <a:latin typeface="Malgun Gothic"/>
                <a:ea typeface="Malgun Gothic"/>
                <a:cs typeface="Malgun Gothic"/>
              </a:rPr>
              <a:t>이후: Day 5 (11/3 화) 세그 · 포즈 · ONNX → ONNX · TensorRT (11/4~) → Quantization · Pruning (11/16~)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4 — 학습 기법</dc:title>
  <dc:subject>PptxGenJS Presentation</dc:subject>
  <dc:creator>김정인</dc:creator>
  <cp:lastModifiedBy>김정인</cp:lastModifiedBy>
  <cp:revision>1</cp:revision>
  <dcterms:created xsi:type="dcterms:W3CDTF">2026-10-22T03:27:24Z</dcterms:created>
  <dcterms:modified xsi:type="dcterms:W3CDTF">2026-10-22T03:27:24Z</dcterms:modified>
</cp:coreProperties>
</file>