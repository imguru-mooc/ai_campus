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9e9b8ec-3b24-0b56-4500-744217ac05e6}">
          <p14:sldIdLst>
            <p14:sldId id="256"/>
            <p14:sldId id="257"/>
            <p14:sldId id="258"/>
            <p14:sldId id="259"/>
            <p14:sldId id="260"/>
          </p14:sldIdLst>
        </p14:section>
        <p14:section name="1교시" id="{71174a56-904c-09e2-91f8-6bf07f111bbc}">
          <p14:sldIdLst>
            <p14:sldId id="261"/>
          </p14:sldIdLst>
        </p14:section>
        <p14:section name="2교시" id="{0902b064-cd74-3b12-2b67-f50c28afc9e9}">
          <p14:sldIdLst>
            <p14:sldId id="262"/>
          </p14:sldIdLst>
        </p14:section>
        <p14:section name="3교시" id="{2f4c958b-38cd-3943-f0ee-388f951572c1}">
          <p14:sldIdLst>
            <p14:sldId id="263"/>
          </p14:sldIdLst>
        </p14:section>
        <p14:section name="4교시" id="{38807b60-8fa8-7e0d-7986-3e90f20a7a1e}">
          <p14:sldIdLst>
            <p14:sldId id="264"/>
          </p14:sldIdLst>
        </p14:section>
        <p14:section name="5교시" id="{8fc94b14-ae97-b872-2327-caefa5a8cd27}">
          <p14:sldIdLst>
            <p14:sldId id="265"/>
          </p14:sldIdLst>
        </p14:section>
        <p14:section name="6교시" id="{533bade8-fdb0-0ae3-c15b-5bff242cb70f}">
          <p14:sldIdLst>
            <p14:sldId id="266"/>
          </p14:sldIdLst>
        </p14:section>
        <p14:section name="7교시" id="{b2096c58-6cfd-13ab-5b9a-5cb4f5326f0d}">
          <p14:sldIdLst>
            <p14:sldId id="267"/>
          </p14:sldIdLst>
        </p14:section>
        <p14:section name="8교시" id="{08b47e76-f398-62a8-f0a5-e0adc3d9340e}">
          <p14:sldIdLst>
            <p14:sldId id="268"/>
          </p14:sldIdLst>
        </p14:section>
        <p14:section name="정리" id="{b7324da1-5223-c984-b1e6-08e3d56a37ca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3 에서 역전파로 '학습이 된다' 까지 왔다. 오늘은 더 빠르게(optimizer), 안정적으로(초기화 · BN), 덜 외우게(규제) 학습시키는 기술. 09:00 Day 3 복습 퀴즈로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복습 퀴즈 오답이 많은 문항(Affine shape, gradient check 버그, 제자리 갱신)은 해당 Day 3 애니메이션으로 2~3분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경로 비교 lr: SGD 0.95, Momentum 0.1, AdaGrad 1.5, RMSProp 0.1, Adam 0.3. 끝점: SGD (−0.350, 0.085) · Momentum (0.896, 0.088) · AdaGrad (−0.120, 0.000) · RMSProp (−0.697, 0.000) · Adam (0.136, 0.318). 마지막 100 iteration 평균 손실 0.227 / 0.074 / 0.059 / 0.046 / 0.046. f 값 하나로 순위를 매기지 말고 경로 모양을 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를 0 으로 두면 dW1 = 0, dW2 = 0 이라 아예 학습되지 않는다. MNIST 비교는 4층 은닉 · SGD 0.01.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출력 확인: x = rng(4).normal(3, 2, (5, 4)), γ = [1, 2, 0.5, 1.5], β = [0, 1, −1, 0.5] → 열 평균 = β, 표준편차 = γ. 다른 std: 1.0 noBN 0.097/0.098(발산) vs BN 0.483/0.347, 0.1 0.483/0.435 vs 0.878/0.692, He 0.850/0.772 vs 0.969/0.726.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trial 마다 모델 seed = trial, 셔플 seed = trial. 같은 rng 로 lr, λ 순서로 뽑는다.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Sequential 의 params() 는 계층 배열 객체를 그대로 모은다 → 옵티마이저 제자리 갱신이 계층에 바로 반영. load_params 도 p[...] = data[k] 로 제자리 복사. gradient check: W 1e-8, γ · β · 출력층 1e-10 대, BN 앞 b 는 2e-4 지만 참 기울기가 0 이라 상대 오차가 무의미(절댓값 1e-16 수준). Drive 에 mynn.py 와 가중치를 저장해 두라고 꼭 안내 — Day 5 에서 import.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_TITLE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_CONTENT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Neural Network Day 4 · HYUNDAI AI Insight Campus 온디바이스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NN-day4/" TargetMode="External"/><Relationship Id="rId2" Type="http://schemas.openxmlformats.org/officeDocument/2006/relationships/hyperlink" Target="https://imguru-mooc.github.io/AI_CAMPUS/NN-day4/animation.html" TargetMode="External"/><Relationship Id="rId3" Type="http://schemas.openxmlformats.org/officeDocument/2006/relationships/hyperlink" Target="https://imguru-mooc.github.io/AI_CAMPUS/NN-day4/worksheet.html" TargetMode="External"/><Relationship Id="rId4" Type="http://schemas.openxmlformats.org/officeDocument/2006/relationships/hyperlink" Target="https://imguru-mooc.github.io/AI_CAMPUS/NN-day4/NN_Day4_lecture.ipynb" TargetMode="External"/><Relationship Id="rId5" Type="http://schemas.openxmlformats.org/officeDocument/2006/relationships/hyperlink" Target="https://imguru-mooc.github.io/AI_CAMPUS/NN-day4/NN_Day4.pdf" TargetMode="External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/>
          <p:nvPr/>
        </p:nvSpPr>
        <p:spPr>
          <a:xfrm>
            <a:off x="685800" y="1005840"/>
            <a:ext cx="109728" cy="2926080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3" name="text_1"/>
          <p:cNvSpPr txBox="1"/>
          <p:nvPr/>
        </p:nvSpPr>
        <p:spPr>
          <a:xfrm>
            <a:off x="1051560" y="1005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Neural Network Day 4</a:t>
            </a:r>
            <a:endParaRPr lang="en-US" sz="4600" dirty="0"/>
          </a:p>
        </p:txBody>
      </p:sp>
      <p:sp>
        <p:nvSpPr>
          <p:cNvPr id="4" name="text_2"/>
          <p:cNvSpPr txBox="1"/>
          <p:nvPr/>
        </p:nvSpPr>
        <p:spPr>
          <a:xfrm>
            <a:off x="1051560" y="1920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학습 기법 (training techniques)</a:t>
            </a:r>
            <a:endParaRPr lang="en-US" sz="2600" dirty="0"/>
          </a:p>
        </p:txBody>
      </p:sp>
      <p:sp>
        <p:nvSpPr>
          <p:cNvPr id="5" name="text_3"/>
          <p:cNvSpPr txBox="1"/>
          <p:nvPr/>
        </p:nvSpPr>
        <p:spPr>
          <a:xfrm>
            <a:off x="1051560" y="2743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HYUNDAI AI Insight Campus · 온디바이스 AI · Neural Network 4/5</a:t>
            </a:r>
            <a:endParaRPr lang="en-US" sz="1500" dirty="0"/>
          </a:p>
        </p:txBody>
      </p:sp>
      <p:sp>
        <p:nvSpPr>
          <p:cNvPr id="6" name="text_4"/>
          <p:cNvSpPr txBox="1"/>
          <p:nvPr/>
        </p:nvSpPr>
        <p:spPr>
          <a:xfrm>
            <a:off x="105156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 10. 23 (금)  09:00–18:00  ·  8교시  ·  Google Colab</a:t>
            </a:r>
            <a:endParaRPr lang="en-US" sz="1300" dirty="0"/>
          </a:p>
        </p:txBody>
      </p:sp>
      <p:sp>
        <p:nvSpPr>
          <p:cNvPr id="7" name="tag_5"/>
          <p:cNvSpPr/>
          <p:nvPr/>
        </p:nvSpPr>
        <p:spPr>
          <a:xfrm>
            <a:off x="1051560" y="42062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_6"/>
          <p:cNvSpPr txBox="1"/>
          <p:nvPr/>
        </p:nvSpPr>
        <p:spPr>
          <a:xfrm>
            <a:off x="1051560" y="4206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Optimizer</a:t>
            </a:r>
            <a:endParaRPr lang="en-US" sz="1100" dirty="0"/>
          </a:p>
        </p:txBody>
      </p:sp>
      <p:sp>
        <p:nvSpPr>
          <p:cNvPr id="9" name="tag_7"/>
          <p:cNvSpPr/>
          <p:nvPr/>
        </p:nvSpPr>
        <p:spPr>
          <a:xfrm>
            <a:off x="256032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_8"/>
          <p:cNvSpPr txBox="1"/>
          <p:nvPr/>
        </p:nvSpPr>
        <p:spPr>
          <a:xfrm>
            <a:off x="256032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Xavier · He</a:t>
            </a:r>
            <a:endParaRPr lang="en-US" sz="1100" dirty="0"/>
          </a:p>
        </p:txBody>
      </p:sp>
      <p:sp>
        <p:nvSpPr>
          <p:cNvPr id="11" name="tag_9"/>
          <p:cNvSpPr/>
          <p:nvPr/>
        </p:nvSpPr>
        <p:spPr>
          <a:xfrm>
            <a:off x="416052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2" name="text_10"/>
          <p:cNvSpPr txBox="1"/>
          <p:nvPr/>
        </p:nvSpPr>
        <p:spPr>
          <a:xfrm>
            <a:off x="416052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Batch Norm</a:t>
            </a:r>
            <a:endParaRPr lang="en-US" sz="1100" dirty="0"/>
          </a:p>
        </p:txBody>
      </p:sp>
      <p:sp>
        <p:nvSpPr>
          <p:cNvPr id="13" name="tag_11"/>
          <p:cNvSpPr/>
          <p:nvPr/>
        </p:nvSpPr>
        <p:spPr>
          <a:xfrm>
            <a:off x="576072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4" name="text_12"/>
          <p:cNvSpPr txBox="1"/>
          <p:nvPr/>
        </p:nvSpPr>
        <p:spPr>
          <a:xfrm>
            <a:off x="576072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Overfitting</a:t>
            </a:r>
            <a:endParaRPr lang="en-US" sz="1100" dirty="0"/>
          </a:p>
        </p:txBody>
      </p:sp>
      <p:sp>
        <p:nvSpPr>
          <p:cNvPr id="15" name="tag_13"/>
          <p:cNvSpPr/>
          <p:nvPr/>
        </p:nvSpPr>
        <p:spPr>
          <a:xfrm>
            <a:off x="7360920" y="420624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_14"/>
          <p:cNvSpPr txBox="1"/>
          <p:nvPr/>
        </p:nvSpPr>
        <p:spPr>
          <a:xfrm>
            <a:off x="7360920" y="4206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Weight decay · Dropout</a:t>
            </a:r>
            <a:endParaRPr lang="en-US" sz="1100" dirty="0"/>
          </a:p>
        </p:txBody>
      </p:sp>
      <p:sp>
        <p:nvSpPr>
          <p:cNvPr id="17" name="tag_15"/>
          <p:cNvSpPr/>
          <p:nvPr/>
        </p:nvSpPr>
        <p:spPr>
          <a:xfrm>
            <a:off x="9692640" y="42062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_16"/>
          <p:cNvSpPr txBox="1"/>
          <p:nvPr/>
        </p:nvSpPr>
        <p:spPr>
          <a:xfrm>
            <a:off x="9692640" y="4206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mynn.py</a:t>
            </a:r>
            <a:endParaRPr lang="en-US" sz="1100" dirty="0"/>
          </a:p>
        </p:txBody>
      </p:sp>
      <p:sp>
        <p:nvSpPr>
          <p:cNvPr id="19" name="text_17"/>
          <p:cNvSpPr txBox="1"/>
          <p:nvPr/>
        </p:nvSpPr>
        <p:spPr>
          <a:xfrm>
            <a:off x="105156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강사: 김정인 · 김구수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오늘의 학습 목표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수업이 끝나면 여러분은 다음을 할 수 있습니다</a:t>
            </a:r>
            <a:endParaRPr lang="en-US" sz="1300" dirty="0"/>
          </a:p>
        </p:txBody>
      </p:sp>
      <p:sp>
        <p:nvSpPr>
          <p:cNvPr id="4" name="panel_18"/>
          <p:cNvSpPr/>
          <p:nvPr/>
        </p:nvSpPr>
        <p:spPr>
          <a:xfrm>
            <a:off x="457200" y="14630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5" name="badge_19"/>
          <p:cNvSpPr/>
          <p:nvPr/>
        </p:nvSpPr>
        <p:spPr>
          <a:xfrm>
            <a:off x="685800" y="17373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Num_20"/>
          <p:cNvSpPr txBox="1"/>
          <p:nvPr/>
        </p:nvSpPr>
        <p:spPr>
          <a:xfrm>
            <a:off x="685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_21"/>
          <p:cNvSpPr txBox="1"/>
          <p:nvPr/>
        </p:nvSpPr>
        <p:spPr>
          <a:xfrm>
            <a:off x="1234440" y="1691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Optimizer</a:t>
            </a:r>
            <a:endParaRPr lang="en-US" sz="1700" dirty="0"/>
          </a:p>
        </p:txBody>
      </p:sp>
      <p:sp>
        <p:nvSpPr>
          <p:cNvPr id="8" name="text_22"/>
          <p:cNvSpPr txBox="1"/>
          <p:nvPr/>
        </p:nvSpPr>
        <p:spPr>
          <a:xfrm>
            <a:off x="1234440" y="21214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SGD 가 지그재그하는 이유를 설명하고 Momentum · AdaGrad · RMSProp · Adam 을 구현한다</a:t>
            </a:r>
            <a:endParaRPr lang="en-US" sz="1250" dirty="0"/>
          </a:p>
        </p:txBody>
      </p:sp>
      <p:sp>
        <p:nvSpPr>
          <p:cNvPr id="9" name="panel_23"/>
          <p:cNvSpPr/>
          <p:nvPr/>
        </p:nvSpPr>
        <p:spPr>
          <a:xfrm>
            <a:off x="6172200" y="14630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0" name="badge_24"/>
          <p:cNvSpPr/>
          <p:nvPr/>
        </p:nvSpPr>
        <p:spPr>
          <a:xfrm>
            <a:off x="6400800" y="17373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25"/>
          <p:cNvSpPr txBox="1"/>
          <p:nvPr/>
        </p:nvSpPr>
        <p:spPr>
          <a:xfrm>
            <a:off x="6400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_26"/>
          <p:cNvSpPr txBox="1"/>
          <p:nvPr/>
        </p:nvSpPr>
        <p:spPr>
          <a:xfrm>
            <a:off x="6949440" y="1691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가중치 초기화</a:t>
            </a:r>
            <a:endParaRPr lang="en-US" sz="1700" dirty="0"/>
          </a:p>
        </p:txBody>
      </p:sp>
      <p:sp>
        <p:nvSpPr>
          <p:cNvPr id="13" name="text_27"/>
          <p:cNvSpPr txBox="1"/>
          <p:nvPr/>
        </p:nvSpPr>
        <p:spPr>
          <a:xfrm>
            <a:off x="6949440" y="21214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활성화 분포를 그려 보고 sigmoid 에는 Xavier, ReLU 에는 He 를 고른다</a:t>
            </a:r>
            <a:endParaRPr lang="en-US" sz="1250" dirty="0"/>
          </a:p>
        </p:txBody>
      </p:sp>
      <p:sp>
        <p:nvSpPr>
          <p:cNvPr id="14" name="panel_28"/>
          <p:cNvSpPr/>
          <p:nvPr/>
        </p:nvSpPr>
        <p:spPr>
          <a:xfrm>
            <a:off x="457200" y="30632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5" name="badge_29"/>
          <p:cNvSpPr/>
          <p:nvPr/>
        </p:nvSpPr>
        <p:spPr>
          <a:xfrm>
            <a:off x="685800" y="333756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badgeNum_30"/>
          <p:cNvSpPr txBox="1"/>
          <p:nvPr/>
        </p:nvSpPr>
        <p:spPr>
          <a:xfrm>
            <a:off x="6858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_31"/>
          <p:cNvSpPr txBox="1"/>
          <p:nvPr/>
        </p:nvSpPr>
        <p:spPr>
          <a:xfrm>
            <a:off x="1234440" y="3291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Batch Normalization</a:t>
            </a:r>
            <a:endParaRPr lang="en-US" sz="1700" dirty="0"/>
          </a:p>
        </p:txBody>
      </p:sp>
      <p:sp>
        <p:nvSpPr>
          <p:cNvPr id="18" name="text_32"/>
          <p:cNvSpPr txBox="1"/>
          <p:nvPr/>
        </p:nvSpPr>
        <p:spPr>
          <a:xfrm>
            <a:off x="1234440" y="37216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BatchNorm forward / backward 를 구현하고 gradient check 로 검증한다</a:t>
            </a:r>
            <a:endParaRPr lang="en-US" sz="1250" dirty="0"/>
          </a:p>
        </p:txBody>
      </p:sp>
      <p:sp>
        <p:nvSpPr>
          <p:cNvPr id="19" name="panel_33"/>
          <p:cNvSpPr/>
          <p:nvPr/>
        </p:nvSpPr>
        <p:spPr>
          <a:xfrm>
            <a:off x="6172200" y="30632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0" name="badge_34"/>
          <p:cNvSpPr/>
          <p:nvPr/>
        </p:nvSpPr>
        <p:spPr>
          <a:xfrm>
            <a:off x="6400800" y="333756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badgeNum_35"/>
          <p:cNvSpPr txBox="1"/>
          <p:nvPr/>
        </p:nvSpPr>
        <p:spPr>
          <a:xfrm>
            <a:off x="64008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_36"/>
          <p:cNvSpPr txBox="1"/>
          <p:nvPr/>
        </p:nvSpPr>
        <p:spPr>
          <a:xfrm>
            <a:off x="6949440" y="3291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Overfitting · 규제</a:t>
            </a:r>
            <a:endParaRPr lang="en-US" sz="1700" dirty="0"/>
          </a:p>
        </p:txBody>
      </p:sp>
      <p:sp>
        <p:nvSpPr>
          <p:cNvPr id="23" name="text_37"/>
          <p:cNvSpPr txBox="1"/>
          <p:nvPr/>
        </p:nvSpPr>
        <p:spPr>
          <a:xfrm>
            <a:off x="6949440" y="37216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train / test 간극을 측정하고 weight decay · Dropout 으로 줄인다</a:t>
            </a:r>
            <a:endParaRPr lang="en-US" sz="1250" dirty="0"/>
          </a:p>
        </p:txBody>
      </p:sp>
      <p:sp>
        <p:nvSpPr>
          <p:cNvPr id="24" name="panel_38"/>
          <p:cNvSpPr/>
          <p:nvPr/>
        </p:nvSpPr>
        <p:spPr>
          <a:xfrm>
            <a:off x="457200" y="46634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badge_39"/>
          <p:cNvSpPr/>
          <p:nvPr/>
        </p:nvSpPr>
        <p:spPr>
          <a:xfrm>
            <a:off x="685800" y="493776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badgeNum_40"/>
          <p:cNvSpPr txBox="1"/>
          <p:nvPr/>
        </p:nvSpPr>
        <p:spPr>
          <a:xfrm>
            <a:off x="6858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_41"/>
          <p:cNvSpPr txBox="1"/>
          <p:nvPr/>
        </p:nvSpPr>
        <p:spPr>
          <a:xfrm>
            <a:off x="1234440" y="4892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Hyperparameter 탐색</a:t>
            </a:r>
            <a:endParaRPr lang="en-US" sz="1700" dirty="0"/>
          </a:p>
        </p:txBody>
      </p:sp>
      <p:sp>
        <p:nvSpPr>
          <p:cNvPr id="28" name="text_42"/>
          <p:cNvSpPr txBox="1"/>
          <p:nvPr/>
        </p:nvSpPr>
        <p:spPr>
          <a:xfrm>
            <a:off x="1234440" y="5321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validation 을 분리하고 로그 스케일 랜덤 탐색으로 lr · λ 를 고른다</a:t>
            </a:r>
            <a:endParaRPr lang="en-US" sz="1250" dirty="0"/>
          </a:p>
        </p:txBody>
      </p:sp>
      <p:sp>
        <p:nvSpPr>
          <p:cNvPr id="29" name="panel_43"/>
          <p:cNvSpPr/>
          <p:nvPr/>
        </p:nvSpPr>
        <p:spPr>
          <a:xfrm>
            <a:off x="6172200" y="46634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0" name="badge_44"/>
          <p:cNvSpPr/>
          <p:nvPr/>
        </p:nvSpPr>
        <p:spPr>
          <a:xfrm>
            <a:off x="6400800" y="4937760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badgeNum_45"/>
          <p:cNvSpPr txBox="1"/>
          <p:nvPr/>
        </p:nvSpPr>
        <p:spPr>
          <a:xfrm>
            <a:off x="64008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text_46"/>
          <p:cNvSpPr txBox="1"/>
          <p:nvPr/>
        </p:nvSpPr>
        <p:spPr>
          <a:xfrm>
            <a:off x="6949440" y="4892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미니 프레임워크</a:t>
            </a:r>
            <a:endParaRPr lang="en-US" sz="1700" dirty="0"/>
          </a:p>
        </p:txBody>
      </p:sp>
      <p:sp>
        <p:nvSpPr>
          <p:cNvPr id="33" name="text_47"/>
          <p:cNvSpPr txBox="1"/>
          <p:nvPr/>
        </p:nvSpPr>
        <p:spPr>
          <a:xfrm>
            <a:off x="6949440" y="5321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mynn.py (Sequential · Trainer) 로 5층 MLP 를 학습해 test ≥ 0.97 을 낸다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시간표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8교시 × 50분 · 점심 12:00–13:00 · 오전 최적화 · 초기화, 오후 BN → 과적합 → 규제 → 탐색 → 프레임워크</a:t>
            </a:r>
            <a:endParaRPr lang="en-US" sz="1300" dirty="0"/>
          </a:p>
        </p:txBody>
      </p:sp>
      <p:graphicFrame>
        <p:nvGraphicFramePr>
          <p:cNvPr id="4" name="tim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4937760"/>
                <a:gridCol w="1280160"/>
                <a:gridCol w="27706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교시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시간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주제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형태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애니메이션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09:00–09:50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3 복습 퀴즈 · SGD 의 약점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 + 강의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D4-1 SGD 지그재그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10:00–10:50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Optimizer — Momentum · AdaGrad · RMSProp · Adam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D4-2 옵티마이저 경주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11:00–11:50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 초기화 — 대칭 문제 · Xavier · He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D4-3 초기화 · 활성화 분포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13:00–13:50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Batch Normalization — forward / backward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D4-4 Batch Normalization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14:00–14:50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Overfitting — train / test 간극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D4-5 과적합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15:00–15:50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규제 — weight decay · Dropout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D4-6 weight decay · Dropout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16:00–16:50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Hyperparameter 탐색 — validation · 랜덤 탐색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D4-7 하이퍼파라미터 탐색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17:00–17:50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 프로젝트 — mynn.py 미니 프레임워크 (test ≥ 0.97)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D4-8 미니 프레임워크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오늘의 자료 · 온라인 링크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예측(애니메이션) → 검증(노트북) → 점검(워크시트) — 모두 브라우저에서 바로 열립니다</a:t>
            </a:r>
            <a:endParaRPr lang="en-US" sz="1300" dirty="0"/>
          </a:p>
        </p:txBody>
      </p:sp>
      <p:sp>
        <p:nvSpPr>
          <p:cNvPr id="4" name="panel_48"/>
          <p:cNvSpPr/>
          <p:nvPr/>
        </p:nvSpPr>
        <p:spPr>
          <a:xfrm>
            <a:off x="457200" y="1463040"/>
            <a:ext cx="11274552" cy="1005840"/>
          </a:xfrm>
          <a:prstGeom prst="roundRect">
            <a:avLst>
              <a:gd name="adj" fmla="val 7273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5" name="text_49"/>
          <p:cNvSpPr txBox="1"/>
          <p:nvPr/>
        </p:nvSpPr>
        <p:spPr>
          <a:xfrm>
            <a:off x="68580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기본 주소 (Day 4)</a:t>
            </a:r>
            <a:endParaRPr lang="en-US" sz="1200" dirty="0"/>
          </a:p>
        </p:txBody>
      </p:sp>
      <p:sp>
        <p:nvSpPr>
          <p:cNvPr id="6" name="text_50"/>
          <p:cNvSpPr txBox="1"/>
          <p:nvPr/>
        </p:nvSpPr>
        <p:spPr>
          <a:xfrm>
            <a:off x="685800" y="1874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https://imguru-mooc.github.io/AI_CAMPUS/NN-day4/</a:t>
            </a:r>
            <a:endParaRPr lang="en-US" sz="1800" dirty="0"/>
          </a:p>
        </p:txBody>
      </p:sp>
      <p:sp>
        <p:nvSpPr>
          <p:cNvPr id="7" name="panel_51"/>
          <p:cNvSpPr/>
          <p:nvPr/>
        </p:nvSpPr>
        <p:spPr>
          <a:xfrm>
            <a:off x="457200" y="265176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8" name="text_52"/>
          <p:cNvSpPr txBox="1"/>
          <p:nvPr/>
        </p:nvSpPr>
        <p:spPr>
          <a:xfrm>
            <a:off x="685800" y="2651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animation.html</a:t>
            </a:r>
            <a:endParaRPr lang="en-US" sz="1400" dirty="0"/>
          </a:p>
        </p:txBody>
      </p:sp>
      <p:sp>
        <p:nvSpPr>
          <p:cNvPr id="9" name="text_53"/>
          <p:cNvSpPr txBox="1"/>
          <p:nvPr/>
        </p:nvSpPr>
        <p:spPr>
          <a:xfrm>
            <a:off x="4663440" y="2651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애니메이션 8개 (D4-1 ~ D4-8) — #d4-4 처럼 바로가기</a:t>
            </a:r>
            <a:endParaRPr lang="en-US" sz="1300" dirty="0"/>
          </a:p>
        </p:txBody>
      </p:sp>
      <p:sp>
        <p:nvSpPr>
          <p:cNvPr id="10" name="panel_54"/>
          <p:cNvSpPr/>
          <p:nvPr/>
        </p:nvSpPr>
        <p:spPr>
          <a:xfrm>
            <a:off x="457200" y="3310128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1" name="text_55"/>
          <p:cNvSpPr txBox="1"/>
          <p:nvPr/>
        </p:nvSpPr>
        <p:spPr>
          <a:xfrm>
            <a:off x="685800" y="33101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400" dirty="0"/>
          </a:p>
        </p:txBody>
      </p:sp>
      <p:sp>
        <p:nvSpPr>
          <p:cNvPr id="12" name="text_56"/>
          <p:cNvSpPr txBox="1"/>
          <p:nvPr/>
        </p:nvSpPr>
        <p:spPr>
          <a:xfrm>
            <a:off x="4663440" y="33101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개념 워크시트 — #t1 ~ #t8 교시 바로가기</a:t>
            </a:r>
            <a:endParaRPr lang="en-US" sz="1300" dirty="0"/>
          </a:p>
        </p:txBody>
      </p:sp>
      <p:sp>
        <p:nvSpPr>
          <p:cNvPr id="13" name="panel_57"/>
          <p:cNvSpPr/>
          <p:nvPr/>
        </p:nvSpPr>
        <p:spPr>
          <a:xfrm>
            <a:off x="457200" y="3968496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4" name="text_58"/>
          <p:cNvSpPr txBox="1"/>
          <p:nvPr/>
        </p:nvSpPr>
        <p:spPr>
          <a:xfrm>
            <a:off x="685800" y="39684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NN_Day4_lecture.ipynb</a:t>
            </a:r>
            <a:endParaRPr lang="en-US" sz="1400" dirty="0"/>
          </a:p>
        </p:txBody>
      </p:sp>
      <p:sp>
        <p:nvSpPr>
          <p:cNvPr id="15" name="text_59"/>
          <p:cNvSpPr txBox="1"/>
          <p:nvPr/>
        </p:nvSpPr>
        <p:spPr>
          <a:xfrm>
            <a:off x="4663440" y="3968496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강의 노트북 — 1~8교시 문제 + mynn.py 미니 프로젝트 (Colab 에서 열기)</a:t>
            </a:r>
            <a:endParaRPr lang="en-US" sz="1300" dirty="0"/>
          </a:p>
        </p:txBody>
      </p:sp>
      <p:sp>
        <p:nvSpPr>
          <p:cNvPr id="16" name="panel_60"/>
          <p:cNvSpPr/>
          <p:nvPr/>
        </p:nvSpPr>
        <p:spPr>
          <a:xfrm>
            <a:off x="457200" y="4626864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7" name="text_61"/>
          <p:cNvSpPr txBox="1"/>
          <p:nvPr/>
        </p:nvSpPr>
        <p:spPr>
          <a:xfrm>
            <a:off x="685800" y="462686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NN_Day4.pdf</a:t>
            </a:r>
            <a:endParaRPr lang="en-US" sz="1400" dirty="0"/>
          </a:p>
        </p:txBody>
      </p:sp>
      <p:sp>
        <p:nvSpPr>
          <p:cNvPr id="18" name="text_62"/>
          <p:cNvSpPr txBox="1"/>
          <p:nvPr/>
        </p:nvSpPr>
        <p:spPr>
          <a:xfrm>
            <a:off x="4663440" y="4626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오늘 슬라이드 PDF</a:t>
            </a:r>
            <a:endParaRPr lang="en-US" sz="1300" dirty="0"/>
          </a:p>
        </p:txBody>
      </p:sp>
      <p:sp>
        <p:nvSpPr>
          <p:cNvPr id="19" name="panel_63"/>
          <p:cNvSpPr/>
          <p:nvPr/>
        </p:nvSpPr>
        <p:spPr>
          <a:xfrm>
            <a:off x="457200" y="5285232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0" name="text_64"/>
          <p:cNvSpPr txBox="1"/>
          <p:nvPr/>
        </p:nvSpPr>
        <p:spPr>
          <a:xfrm>
            <a:off x="685800" y="52852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 복습 퀴즈</a:t>
            </a:r>
            <a:endParaRPr lang="en-US" sz="1400" dirty="0"/>
          </a:p>
        </p:txBody>
      </p:sp>
      <p:sp>
        <p:nvSpPr>
          <p:cNvPr id="21" name="text_65"/>
          <p:cNvSpPr txBox="1"/>
          <p:nvPr/>
        </p:nvSpPr>
        <p:spPr>
          <a:xfrm>
            <a:off x="4663440" y="528523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09:00 시작 — 강사가 Google Forms 링크 공유 (20문항 · 15분)</a:t>
            </a:r>
            <a:endParaRPr lang="en-US" sz="1300" dirty="0"/>
          </a:p>
        </p:txBody>
      </p:sp>
      <p:sp>
        <p:nvSpPr>
          <p:cNvPr id="22" name="text_66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노트북은 "파일 → Drive에 사본 저장" 후 작업 · 8교시 mynn.py 는 Drive 에 저장해 Day 5 에서 import 합니다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오늘의 큰 그림 — 같은 MNIST, 더 잘 학습시키기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Day 3 에서 "학습이 된다" 를 확인했습니다. 오늘은 같은 데이터로 더 빠르게, 더 안정적으로, 덜 외우게</a:t>
            </a:r>
            <a:endParaRPr lang="en-US" sz="1300" dirty="0"/>
          </a:p>
        </p:txBody>
      </p:sp>
      <p:sp>
        <p:nvSpPr>
          <p:cNvPr id="4" name="panel_67"/>
          <p:cNvSpPr/>
          <p:nvPr/>
        </p:nvSpPr>
        <p:spPr>
          <a:xfrm>
            <a:off x="457200" y="146304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111A2E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5" name="text_68"/>
          <p:cNvSpPr txBox="1"/>
          <p:nvPr/>
        </p:nvSpPr>
        <p:spPr>
          <a:xfrm>
            <a:off x="6858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Day 3 (어제)</a:t>
            </a:r>
            <a:endParaRPr lang="en-US" sz="1500" dirty="0"/>
          </a:p>
        </p:txBody>
      </p:sp>
      <p:sp>
        <p:nvSpPr>
          <p:cNvPr id="6" name="codebg_69"/>
          <p:cNvSpPr/>
          <p:nvPr/>
        </p:nvSpPr>
        <p:spPr>
          <a:xfrm>
            <a:off x="685800" y="2011680"/>
            <a:ext cx="3200400" cy="960120"/>
          </a:xfrm>
          <a:prstGeom prst="roundRect">
            <a:avLst>
              <a:gd name="adj" fmla="val 4762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code_70"/>
          <p:cNvSpPr txBox="1"/>
          <p:nvPr/>
        </p:nvSpPr>
        <p:spPr>
          <a:xfrm>
            <a:off x="795528" y="2066544"/>
            <a:ext cx="29809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784-100-10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 0.01 · SGD lr 0.1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epoch</a:t>
            </a:r>
            <a:endParaRPr lang="en-US" sz="1300" dirty="0"/>
          </a:p>
        </p:txBody>
      </p:sp>
      <p:sp>
        <p:nvSpPr>
          <p:cNvPr id="8" name="text_71"/>
          <p:cNvSpPr txBox="1"/>
          <p:nvPr/>
        </p:nvSpPr>
        <p:spPr>
          <a:xfrm>
            <a:off x="68580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0.9694</a:t>
            </a:r>
            <a:endParaRPr lang="en-US" sz="2400" dirty="0"/>
          </a:p>
        </p:txBody>
      </p:sp>
      <p:sp>
        <p:nvSpPr>
          <p:cNvPr id="9" name="panel_72"/>
          <p:cNvSpPr/>
          <p:nvPr/>
        </p:nvSpPr>
        <p:spPr>
          <a:xfrm>
            <a:off x="4270248" y="146304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0" name="text_73"/>
          <p:cNvSpPr txBox="1"/>
          <p:nvPr/>
        </p:nvSpPr>
        <p:spPr>
          <a:xfrm>
            <a:off x="4498848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오늘 더하는 것</a:t>
            </a:r>
            <a:endParaRPr lang="en-US" sz="1500" dirty="0"/>
          </a:p>
        </p:txBody>
      </p:sp>
      <p:sp>
        <p:nvSpPr>
          <p:cNvPr id="11" name="text_74"/>
          <p:cNvSpPr txBox="1"/>
          <p:nvPr/>
        </p:nvSpPr>
        <p:spPr>
          <a:xfrm>
            <a:off x="4498848" y="20574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3"/>
                </a:solidFill>
              </a:rPr>
              <a:t>더 빠르게</a:t>
            </a:r>
            <a:endParaRPr lang="en-US" sz="1350" dirty="0"/>
          </a:p>
        </p:txBody>
      </p:sp>
      <p:sp>
        <p:nvSpPr>
          <p:cNvPr id="12" name="text_75"/>
          <p:cNvSpPr txBox="1"/>
          <p:nvPr/>
        </p:nvSpPr>
        <p:spPr>
          <a:xfrm>
            <a:off x="585216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Optimizer (Adam)</a:t>
            </a:r>
            <a:endParaRPr lang="en-US" sz="1200" dirty="0"/>
          </a:p>
        </p:txBody>
      </p:sp>
      <p:sp>
        <p:nvSpPr>
          <p:cNvPr id="13" name="text_76"/>
          <p:cNvSpPr txBox="1"/>
          <p:nvPr/>
        </p:nvSpPr>
        <p:spPr>
          <a:xfrm>
            <a:off x="4498848" y="2606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6"/>
                </a:solidFill>
              </a:rPr>
              <a:t>더 안정적으로</a:t>
            </a:r>
            <a:endParaRPr lang="en-US" sz="1350" dirty="0"/>
          </a:p>
        </p:txBody>
      </p:sp>
      <p:sp>
        <p:nvSpPr>
          <p:cNvPr id="14" name="text_77"/>
          <p:cNvSpPr txBox="1"/>
          <p:nvPr/>
        </p:nvSpPr>
        <p:spPr>
          <a:xfrm>
            <a:off x="585216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 초기화 · Batch Norm</a:t>
            </a:r>
            <a:endParaRPr lang="en-US" sz="1200" dirty="0"/>
          </a:p>
        </p:txBody>
      </p:sp>
      <p:sp>
        <p:nvSpPr>
          <p:cNvPr id="15" name="text_78"/>
          <p:cNvSpPr txBox="1"/>
          <p:nvPr/>
        </p:nvSpPr>
        <p:spPr>
          <a:xfrm>
            <a:off x="4498848" y="3154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4"/>
                </a:solidFill>
              </a:rPr>
              <a:t>덜 외우게</a:t>
            </a:r>
            <a:endParaRPr lang="en-US" sz="1350" dirty="0"/>
          </a:p>
        </p:txBody>
      </p:sp>
      <p:sp>
        <p:nvSpPr>
          <p:cNvPr id="16" name="text_79"/>
          <p:cNvSpPr txBox="1"/>
          <p:nvPr/>
        </p:nvSpPr>
        <p:spPr>
          <a:xfrm>
            <a:off x="585216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weight decay · Dropout</a:t>
            </a:r>
            <a:endParaRPr lang="en-US" sz="1200" dirty="0"/>
          </a:p>
        </p:txBody>
      </p:sp>
      <p:sp>
        <p:nvSpPr>
          <p:cNvPr id="17" name="panel_80"/>
          <p:cNvSpPr/>
          <p:nvPr/>
        </p:nvSpPr>
        <p:spPr>
          <a:xfrm>
            <a:off x="8083296" y="146304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111A2E"/>
          </a:solidFill>
          <a:ln w="31750">
            <a:solidFill>
              <a:srgbClr val="4ADE80"/>
            </a:solidFill>
            <a:prstDash val="solid"/>
          </a:ln>
        </p:spPr>
      </p:sp>
      <p:sp>
        <p:nvSpPr>
          <p:cNvPr id="18" name="text_81"/>
          <p:cNvSpPr txBox="1"/>
          <p:nvPr/>
        </p:nvSpPr>
        <p:spPr>
          <a:xfrm>
            <a:off x="8311896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Day 4 (오늘)</a:t>
            </a:r>
            <a:endParaRPr lang="en-US" sz="1500" dirty="0"/>
          </a:p>
        </p:txBody>
      </p:sp>
      <p:sp>
        <p:nvSpPr>
          <p:cNvPr id="19" name="codebg_82"/>
          <p:cNvSpPr/>
          <p:nvPr/>
        </p:nvSpPr>
        <p:spPr>
          <a:xfrm>
            <a:off x="8311896" y="2011680"/>
            <a:ext cx="3200400" cy="960120"/>
          </a:xfrm>
          <a:prstGeom prst="roundRect">
            <a:avLst>
              <a:gd name="adj" fmla="val 4762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0" name="code_83"/>
          <p:cNvSpPr txBox="1"/>
          <p:nvPr/>
        </p:nvSpPr>
        <p:spPr>
          <a:xfrm>
            <a:off x="8421624" y="2066544"/>
            <a:ext cx="29809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784-100×4-10 + BN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 · Adam lr 0.001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epoch</a:t>
            </a:r>
            <a:endParaRPr lang="en-US" sz="1300" dirty="0"/>
          </a:p>
        </p:txBody>
      </p:sp>
      <p:sp>
        <p:nvSpPr>
          <p:cNvPr id="21" name="text_84"/>
          <p:cNvSpPr txBox="1"/>
          <p:nvPr/>
        </p:nvSpPr>
        <p:spPr>
          <a:xfrm>
            <a:off x="8311896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0.9757</a:t>
            </a:r>
            <a:endParaRPr lang="en-US" sz="2400" dirty="0"/>
          </a:p>
        </p:txBody>
      </p:sp>
      <p:sp>
        <p:nvSpPr>
          <p:cNvPr id="22" name="text_85"/>
          <p:cNvSpPr txBox="1"/>
          <p:nvPr/>
        </p:nvSpPr>
        <p:spPr>
          <a:xfrm>
            <a:off x="4087368" y="23774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_86"/>
          <p:cNvSpPr txBox="1"/>
          <p:nvPr/>
        </p:nvSpPr>
        <p:spPr>
          <a:xfrm>
            <a:off x="7900416" y="23774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panel_87"/>
          <p:cNvSpPr/>
          <p:nvPr/>
        </p:nvSpPr>
        <p:spPr>
          <a:xfrm>
            <a:off x="457200" y="4023360"/>
            <a:ext cx="11274552" cy="2194560"/>
          </a:xfrm>
          <a:prstGeom prst="roundRect">
            <a:avLst>
              <a:gd name="adj" fmla="val 3333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text_88"/>
          <p:cNvSpPr txBox="1"/>
          <p:nvPr/>
        </p:nvSpPr>
        <p:spPr>
          <a:xfrm>
            <a:off x="685800" y="41605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오늘의 흐름 — Day 3 끝에 남긴 숙제에서 출발</a:t>
            </a:r>
            <a:endParaRPr lang="en-US" sz="1300" dirty="0"/>
          </a:p>
        </p:txBody>
      </p:sp>
      <p:sp>
        <p:nvSpPr>
          <p:cNvPr id="26" name="flow_89"/>
          <p:cNvSpPr/>
          <p:nvPr/>
        </p:nvSpPr>
        <p:spPr>
          <a:xfrm>
            <a:off x="685800" y="461772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7" name="text_90"/>
          <p:cNvSpPr txBox="1"/>
          <p:nvPr/>
        </p:nvSpPr>
        <p:spPr>
          <a:xfrm>
            <a:off x="685800" y="4663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SGD 지그재그</a:t>
            </a:r>
            <a:endParaRPr lang="en-US" sz="1400" dirty="0"/>
          </a:p>
        </p:txBody>
      </p:sp>
      <p:sp>
        <p:nvSpPr>
          <p:cNvPr id="28" name="text_91"/>
          <p:cNvSpPr txBox="1"/>
          <p:nvPr/>
        </p:nvSpPr>
        <p:spPr>
          <a:xfrm>
            <a:off x="685800" y="5029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1–2교시</a:t>
            </a:r>
            <a:endParaRPr lang="en-US" sz="1100" dirty="0"/>
          </a:p>
        </p:txBody>
      </p:sp>
      <p:sp>
        <p:nvSpPr>
          <p:cNvPr id="29" name="text_92"/>
          <p:cNvSpPr txBox="1"/>
          <p:nvPr/>
        </p:nvSpPr>
        <p:spPr>
          <a:xfrm>
            <a:off x="2560320" y="480060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flow_93"/>
          <p:cNvSpPr/>
          <p:nvPr/>
        </p:nvSpPr>
        <p:spPr>
          <a:xfrm>
            <a:off x="2907792" y="461772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text_94"/>
          <p:cNvSpPr txBox="1"/>
          <p:nvPr/>
        </p:nvSpPr>
        <p:spPr>
          <a:xfrm>
            <a:off x="2907792" y="4663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초기화 · BN</a:t>
            </a:r>
            <a:endParaRPr lang="en-US" sz="1400" dirty="0"/>
          </a:p>
        </p:txBody>
      </p:sp>
      <p:sp>
        <p:nvSpPr>
          <p:cNvPr id="32" name="text_95"/>
          <p:cNvSpPr txBox="1"/>
          <p:nvPr/>
        </p:nvSpPr>
        <p:spPr>
          <a:xfrm>
            <a:off x="2907792" y="5029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3–4교시</a:t>
            </a:r>
            <a:endParaRPr lang="en-US" sz="1100" dirty="0"/>
          </a:p>
        </p:txBody>
      </p:sp>
      <p:sp>
        <p:nvSpPr>
          <p:cNvPr id="33" name="text_96"/>
          <p:cNvSpPr txBox="1"/>
          <p:nvPr/>
        </p:nvSpPr>
        <p:spPr>
          <a:xfrm>
            <a:off x="4782312" y="480060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flow_97"/>
          <p:cNvSpPr/>
          <p:nvPr/>
        </p:nvSpPr>
        <p:spPr>
          <a:xfrm>
            <a:off x="5129784" y="461772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5" name="text_98"/>
          <p:cNvSpPr txBox="1"/>
          <p:nvPr/>
        </p:nvSpPr>
        <p:spPr>
          <a:xfrm>
            <a:off x="5129784" y="4663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과적합 · 규제</a:t>
            </a:r>
            <a:endParaRPr lang="en-US" sz="1400" dirty="0"/>
          </a:p>
        </p:txBody>
      </p:sp>
      <p:sp>
        <p:nvSpPr>
          <p:cNvPr id="36" name="text_99"/>
          <p:cNvSpPr txBox="1"/>
          <p:nvPr/>
        </p:nvSpPr>
        <p:spPr>
          <a:xfrm>
            <a:off x="5129784" y="5029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5–6교시</a:t>
            </a:r>
            <a:endParaRPr lang="en-US" sz="1100" dirty="0"/>
          </a:p>
        </p:txBody>
      </p:sp>
      <p:sp>
        <p:nvSpPr>
          <p:cNvPr id="37" name="text_100"/>
          <p:cNvSpPr txBox="1"/>
          <p:nvPr/>
        </p:nvSpPr>
        <p:spPr>
          <a:xfrm>
            <a:off x="7004304" y="480060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flow_101"/>
          <p:cNvSpPr/>
          <p:nvPr/>
        </p:nvSpPr>
        <p:spPr>
          <a:xfrm>
            <a:off x="7351776" y="461772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9" name="text_102"/>
          <p:cNvSpPr txBox="1"/>
          <p:nvPr/>
        </p:nvSpPr>
        <p:spPr>
          <a:xfrm>
            <a:off x="7351776" y="4663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탐색</a:t>
            </a:r>
            <a:endParaRPr lang="en-US" sz="1400" dirty="0"/>
          </a:p>
        </p:txBody>
      </p:sp>
      <p:sp>
        <p:nvSpPr>
          <p:cNvPr id="40" name="text_103"/>
          <p:cNvSpPr txBox="1"/>
          <p:nvPr/>
        </p:nvSpPr>
        <p:spPr>
          <a:xfrm>
            <a:off x="7351776" y="5029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7교시</a:t>
            </a:r>
            <a:endParaRPr lang="en-US" sz="1100" dirty="0"/>
          </a:p>
        </p:txBody>
      </p:sp>
      <p:sp>
        <p:nvSpPr>
          <p:cNvPr id="41" name="text_104"/>
          <p:cNvSpPr txBox="1"/>
          <p:nvPr/>
        </p:nvSpPr>
        <p:spPr>
          <a:xfrm>
            <a:off x="9226296" y="480060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</a:t>
            </a:r>
            <a:endParaRPr lang="en-US" sz="1600" dirty="0"/>
          </a:p>
        </p:txBody>
      </p:sp>
      <p:sp>
        <p:nvSpPr>
          <p:cNvPr id="42" name="flow_105"/>
          <p:cNvSpPr/>
          <p:nvPr/>
        </p:nvSpPr>
        <p:spPr>
          <a:xfrm>
            <a:off x="9573768" y="461772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43" name="text_106"/>
          <p:cNvSpPr txBox="1"/>
          <p:nvPr/>
        </p:nvSpPr>
        <p:spPr>
          <a:xfrm>
            <a:off x="9573768" y="4663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mynn.py</a:t>
            </a:r>
            <a:endParaRPr lang="en-US" sz="1400" dirty="0"/>
          </a:p>
        </p:txBody>
      </p:sp>
      <p:sp>
        <p:nvSpPr>
          <p:cNvPr id="44" name="text_107"/>
          <p:cNvSpPr txBox="1"/>
          <p:nvPr/>
        </p:nvSpPr>
        <p:spPr>
          <a:xfrm>
            <a:off x="9573768" y="5029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8교시</a:t>
            </a:r>
            <a:endParaRPr lang="en-US" sz="1100" dirty="0"/>
          </a:p>
        </p:txBody>
      </p:sp>
      <p:sp>
        <p:nvSpPr>
          <p:cNvPr id="45" name="text_108"/>
          <p:cNvSpPr txBox="1"/>
          <p:nvPr/>
        </p:nvSpPr>
        <p:spPr>
          <a:xfrm>
            <a:off x="685800" y="5577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"나선 손실 곡선이 흔들렸고 MNIST 도 10 epoch" → 오늘 끝에는 5 epoch 에 0.9757, 그리고 Day 5 CNN 이 쓸 mynn.py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109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adgeNum_110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4" name="text_111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Day 3 복습 퀴즈 · SGD 의 약점</a:t>
            </a:r>
            <a:endParaRPr lang="en-US" sz="2600" dirty="0"/>
          </a:p>
        </p:txBody>
      </p:sp>
      <p:sp>
        <p:nvSpPr>
          <p:cNvPr id="5" name="text_112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09:00–09:50</a:t>
            </a:r>
            <a:endParaRPr lang="en-US" sz="1200" dirty="0"/>
          </a:p>
        </p:txBody>
      </p:sp>
      <p:sp>
        <p:nvSpPr>
          <p:cNvPr id="6" name="panel_113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114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115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09:00–09:15 Day 3 복습 퀴즈 (20문항)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비등방성 함수: y 방향이 20배 가파름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lr 크면 y 지그재그, 작으면 x 가 느림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y 방향 안정 조건: lr &lt; 1</a:t>
            </a:r>
            <a:endParaRPr lang="en-US" sz="1250" dirty="0"/>
          </a:p>
        </p:txBody>
      </p:sp>
      <p:sp>
        <p:nvSpPr>
          <p:cNvPr id="9" name="text_116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117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118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119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1-1  grad_f</a:t>
            </a:r>
            <a:endParaRPr lang="en-US" sz="1150" dirty="0"/>
          </a:p>
        </p:txBody>
      </p:sp>
      <p:sp>
        <p:nvSpPr>
          <p:cNvPr id="13" name="badge_120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121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122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1-2  SGD 경로 (run_optimizer)</a:t>
            </a:r>
            <a:endParaRPr lang="en-US" sz="1150" dirty="0"/>
          </a:p>
        </p:txBody>
      </p:sp>
      <p:sp>
        <p:nvSpPr>
          <p:cNvPr id="16" name="badge_123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124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125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1-3  학습률 비교</a:t>
            </a:r>
            <a:endParaRPr lang="en-US" sz="1150" dirty="0"/>
          </a:p>
        </p:txBody>
      </p:sp>
      <p:sp>
        <p:nvSpPr>
          <p:cNvPr id="19" name="animTag_126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127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D4-1 SGD 지그재그</a:t>
            </a:r>
            <a:endParaRPr lang="en-US" sz="1100" dirty="0"/>
          </a:p>
        </p:txBody>
      </p:sp>
      <p:sp>
        <p:nvSpPr>
          <p:cNvPr id="21" name="panel_128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129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130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함수</a:t>
            </a:r>
            <a:endParaRPr lang="en-US" sz="1250" dirty="0"/>
          </a:p>
        </p:txBody>
      </p:sp>
      <p:sp>
        <p:nvSpPr>
          <p:cNvPr id="24" name="codebg_131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132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f(x, y) = x²/20 + y²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 = (x/10, 2y),  시작 (−7, 2), 30 step</a:t>
            </a:r>
            <a:endParaRPr lang="en-US" sz="1300" dirty="0"/>
          </a:p>
        </p:txBody>
      </p:sp>
      <p:sp>
        <p:nvSpPr>
          <p:cNvPr id="26" name="text_133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SGD lr 0.95</a:t>
            </a:r>
            <a:endParaRPr lang="en-US" sz="1250" dirty="0"/>
          </a:p>
        </p:txBody>
      </p:sp>
      <p:sp>
        <p:nvSpPr>
          <p:cNvPr id="27" name="codebg_134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135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← y − 0.95·2y = −0.9·y  (매 step 부호가 바뀜)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끝 (−0.350, 0.085) — 지그재그</a:t>
            </a:r>
            <a:endParaRPr lang="en-US" sz="1300" dirty="0"/>
          </a:p>
        </p:txBody>
      </p:sp>
      <p:sp>
        <p:nvSpPr>
          <p:cNvPr id="29" name="text_136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lr 비교</a:t>
            </a:r>
            <a:endParaRPr lang="en-US" sz="1250" dirty="0"/>
          </a:p>
        </p:txBody>
      </p:sp>
      <p:sp>
        <p:nvSpPr>
          <p:cNvPr id="30" name="codebg_137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138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0.1  → (−5.178, 0.002)  x 가 느림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1.0  → y 가 ±2 에서 영원히 진동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1.05 → 발산 (y = 34.9)</a:t>
            </a:r>
            <a:endParaRPr lang="en-US" sz="1250" dirty="0"/>
          </a:p>
        </p:txBody>
      </p:sp>
      <p:sp>
        <p:nvSpPr>
          <p:cNvPr id="32" name="text_139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안정 조건</a:t>
            </a:r>
            <a:endParaRPr lang="en-US" sz="1250" dirty="0"/>
          </a:p>
        </p:txBody>
      </p:sp>
      <p:sp>
        <p:nvSpPr>
          <p:cNvPr id="33" name="codebg_140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141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← (1 − 2·lr)·y → |1 − 2·lr| &lt; 1 → lr &lt; 1</a:t>
            </a:r>
            <a:endParaRPr lang="en-US" sz="1300" dirty="0"/>
          </a:p>
        </p:txBody>
      </p:sp>
      <p:sp>
        <p:nvSpPr>
          <p:cNvPr id="35" name="text_142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6" name="text_143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x 는 완만해서 큰 lr 이 필요하고 y 는 가팔라서 lr &lt; 1 이어야 한다 — 학습률 하나로 두 방향을 다 만족시킬 수 없다.</a:t>
            </a:r>
            <a:endParaRPr lang="en-US" sz="1150" dirty="0"/>
          </a:p>
        </p:txBody>
      </p:sp>
      <p:sp>
        <p:nvSpPr>
          <p:cNvPr id="38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9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144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badgeNum_145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4" name="text_146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Optimizer 구현</a:t>
            </a:r>
            <a:endParaRPr lang="en-US" sz="2600" dirty="0"/>
          </a:p>
        </p:txBody>
      </p:sp>
      <p:sp>
        <p:nvSpPr>
          <p:cNvPr id="5" name="text_147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10:00–10:50</a:t>
            </a:r>
            <a:endParaRPr lang="en-US" sz="1200" dirty="0"/>
          </a:p>
        </p:txBody>
      </p:sp>
      <p:sp>
        <p:nvSpPr>
          <p:cNvPr id="6" name="panel_148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149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150"/>
          <p:cNvSpPr txBox="1"/>
          <p:nvPr/>
        </p:nvSpPr>
        <p:spPr>
          <a:xfrm>
            <a:off x="658368" y="160020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모두 update(params, grads) — 제자리 갱신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상태(v, h, m)는 첫 update 때 np.zeros_like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Momentum = 속도 누적, AdaGrad · RMSProp = 축마다 lr 조절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Adam = Momentum + RMSProp + 편향 보정</a:t>
            </a:r>
            <a:endParaRPr lang="en-US" sz="1250" dirty="0"/>
          </a:p>
        </p:txBody>
      </p:sp>
      <p:sp>
        <p:nvSpPr>
          <p:cNvPr id="9" name="text_151"/>
          <p:cNvSpPr txBox="1"/>
          <p:nvPr/>
        </p:nvSpPr>
        <p:spPr>
          <a:xfrm>
            <a:off x="658368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152"/>
          <p:cNvSpPr/>
          <p:nvPr/>
        </p:nvSpPr>
        <p:spPr>
          <a:xfrm>
            <a:off x="685800" y="365760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153"/>
          <p:cNvSpPr txBox="1"/>
          <p:nvPr/>
        </p:nvSpPr>
        <p:spPr>
          <a:xfrm>
            <a:off x="68580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154"/>
          <p:cNvSpPr txBox="1"/>
          <p:nvPr/>
        </p:nvSpPr>
        <p:spPr>
          <a:xfrm>
            <a:off x="1078992" y="3657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문제 2-1  Momentum</a:t>
            </a:r>
            <a:endParaRPr lang="en-US" sz="1100" dirty="0"/>
          </a:p>
        </p:txBody>
      </p:sp>
      <p:sp>
        <p:nvSpPr>
          <p:cNvPr id="13" name="badge_155"/>
          <p:cNvSpPr/>
          <p:nvPr/>
        </p:nvSpPr>
        <p:spPr>
          <a:xfrm>
            <a:off x="685800" y="3995928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156"/>
          <p:cNvSpPr txBox="1"/>
          <p:nvPr/>
        </p:nvSpPr>
        <p:spPr>
          <a:xfrm>
            <a:off x="685800" y="3995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157"/>
          <p:cNvSpPr txBox="1"/>
          <p:nvPr/>
        </p:nvSpPr>
        <p:spPr>
          <a:xfrm>
            <a:off x="1078992" y="3995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문제 2-2  AdaGrad</a:t>
            </a:r>
            <a:endParaRPr lang="en-US" sz="1100" dirty="0"/>
          </a:p>
        </p:txBody>
      </p:sp>
      <p:sp>
        <p:nvSpPr>
          <p:cNvPr id="16" name="badge_158"/>
          <p:cNvSpPr/>
          <p:nvPr/>
        </p:nvSpPr>
        <p:spPr>
          <a:xfrm>
            <a:off x="685800" y="4334256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159"/>
          <p:cNvSpPr txBox="1"/>
          <p:nvPr/>
        </p:nvSpPr>
        <p:spPr>
          <a:xfrm>
            <a:off x="685800" y="4334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160"/>
          <p:cNvSpPr txBox="1"/>
          <p:nvPr/>
        </p:nvSpPr>
        <p:spPr>
          <a:xfrm>
            <a:off x="1078992" y="4334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문제 2-3  RMSProp</a:t>
            </a:r>
            <a:endParaRPr lang="en-US" sz="1100" dirty="0"/>
          </a:p>
        </p:txBody>
      </p:sp>
      <p:sp>
        <p:nvSpPr>
          <p:cNvPr id="19" name="badge_161"/>
          <p:cNvSpPr/>
          <p:nvPr/>
        </p:nvSpPr>
        <p:spPr>
          <a:xfrm>
            <a:off x="685800" y="4672584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badgeNum_162"/>
          <p:cNvSpPr txBox="1"/>
          <p:nvPr/>
        </p:nvSpPr>
        <p:spPr>
          <a:xfrm>
            <a:off x="685800" y="4672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_163"/>
          <p:cNvSpPr txBox="1"/>
          <p:nvPr/>
        </p:nvSpPr>
        <p:spPr>
          <a:xfrm>
            <a:off x="1078992" y="4672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문제 2-4  Adam</a:t>
            </a:r>
            <a:endParaRPr lang="en-US" sz="1100" dirty="0"/>
          </a:p>
        </p:txBody>
      </p:sp>
      <p:sp>
        <p:nvSpPr>
          <p:cNvPr id="22" name="badge_164"/>
          <p:cNvSpPr/>
          <p:nvPr/>
        </p:nvSpPr>
        <p:spPr>
          <a:xfrm>
            <a:off x="685800" y="501091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badgeNum_165"/>
          <p:cNvSpPr txBox="1"/>
          <p:nvPr/>
        </p:nvSpPr>
        <p:spPr>
          <a:xfrm>
            <a:off x="685800" y="5010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_166"/>
          <p:cNvSpPr txBox="1"/>
          <p:nvPr/>
        </p:nvSpPr>
        <p:spPr>
          <a:xfrm>
            <a:off x="1078992" y="5010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문제 2-5  경로 비교</a:t>
            </a:r>
            <a:endParaRPr lang="en-US" sz="1100" dirty="0"/>
          </a:p>
        </p:txBody>
      </p:sp>
      <p:sp>
        <p:nvSpPr>
          <p:cNvPr id="25" name="badge_167"/>
          <p:cNvSpPr/>
          <p:nvPr/>
        </p:nvSpPr>
        <p:spPr>
          <a:xfrm>
            <a:off x="685800" y="534924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badgeNum_168"/>
          <p:cNvSpPr txBox="1"/>
          <p:nvPr/>
        </p:nvSpPr>
        <p:spPr>
          <a:xfrm>
            <a:off x="685800" y="5349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_169"/>
          <p:cNvSpPr txBox="1"/>
          <p:nvPr/>
        </p:nvSpPr>
        <p:spPr>
          <a:xfrm>
            <a:off x="1078992" y="5349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문제 2-6  MNIST 비교</a:t>
            </a:r>
            <a:endParaRPr lang="en-US" sz="1100" dirty="0"/>
          </a:p>
        </p:txBody>
      </p:sp>
      <p:sp>
        <p:nvSpPr>
          <p:cNvPr id="28" name="animTag_170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text_171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D4-2 옵티마이저 경주</a:t>
            </a:r>
            <a:endParaRPr lang="en-US" sz="1100" dirty="0"/>
          </a:p>
        </p:txBody>
      </p:sp>
      <p:sp>
        <p:nvSpPr>
          <p:cNvPr id="30" name="panel_172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text_173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32" name="text_174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Momentum</a:t>
            </a:r>
            <a:endParaRPr lang="en-US" sz="1250" dirty="0"/>
          </a:p>
        </p:txBody>
      </p:sp>
      <p:sp>
        <p:nvSpPr>
          <p:cNvPr id="33" name="codebg_175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176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← αv − η·∂L/∂W     (α = 0.9)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← W + v</a:t>
            </a:r>
            <a:endParaRPr lang="en-US" sz="1300" dirty="0"/>
          </a:p>
        </p:txBody>
      </p:sp>
      <p:sp>
        <p:nvSpPr>
          <p:cNvPr id="35" name="text_177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AdaGrad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RMSProp</a:t>
            </a:r>
            <a:endParaRPr lang="en-US" sz="1250" dirty="0"/>
          </a:p>
        </p:txBody>
      </p:sp>
      <p:sp>
        <p:nvSpPr>
          <p:cNvPr id="36" name="codebg_178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7" name="code_179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AdaGrad: h ← h + g²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RMSProp: h ← ρh + (1 − ρ)g²   (ρ = 0.99)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← W − η·g / (√h + 1e-7)</a:t>
            </a:r>
            <a:endParaRPr lang="en-US" sz="1250" dirty="0"/>
          </a:p>
        </p:txBody>
      </p:sp>
      <p:sp>
        <p:nvSpPr>
          <p:cNvPr id="38" name="text_180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Adam</a:t>
            </a:r>
            <a:endParaRPr lang="en-US" sz="1250" dirty="0"/>
          </a:p>
        </p:txBody>
      </p:sp>
      <p:sp>
        <p:nvSpPr>
          <p:cNvPr id="39" name="codebg_181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40" name="code_182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← β1·m + (1 − β1)g,  v ← β2·v + (1 − β2)g²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m̂ = m/(1 − β1ᵗ),  v̂ = v/(1 − β2ᵗ)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← W − η·m̂ / (√v̂ + 1e-7)   (β1 0.9, β2 0.999)</a:t>
            </a:r>
            <a:endParaRPr lang="en-US" sz="1150" dirty="0"/>
          </a:p>
        </p:txBody>
      </p:sp>
      <p:sp>
        <p:nvSpPr>
          <p:cNvPr id="41" name="text_183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30 step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끝 f 값</a:t>
            </a:r>
            <a:endParaRPr lang="en-US" sz="1250" dirty="0"/>
          </a:p>
        </p:txBody>
      </p:sp>
      <p:sp>
        <p:nvSpPr>
          <p:cNvPr id="42" name="codebg_184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43" name="code_185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AdaGrad 0.00072 · SGD 0.0133 · RMSProp 0.0243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Momentum 0.0479 · Adam 0.102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가 작다 ≠ 좋은 optimizer — 경로 모양을 본다</a:t>
            </a:r>
            <a:endParaRPr lang="en-US" sz="1250" dirty="0"/>
          </a:p>
        </p:txBody>
      </p:sp>
      <p:sp>
        <p:nvSpPr>
          <p:cNvPr id="44" name="text_186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45" name="text_187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MNIST 784-100×4-10 · He · batch 128 · 2000 iter → test SGD(0.01) 0.9378 · Momentum(0.01) 0.9644 · AdaGrad(0.01) 0.9726 · RMSProp(0.001) 0.9745 · Adam(0.001) 0.9740</a:t>
            </a:r>
            <a:endParaRPr lang="en-US" sz="1150" dirty="0"/>
          </a:p>
        </p:txBody>
      </p:sp>
      <p:sp>
        <p:nvSpPr>
          <p:cNvPr id="47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8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188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badgeNum_189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4" name="text_190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가중치 초기화</a:t>
            </a:r>
            <a:endParaRPr lang="en-US" sz="2600" dirty="0"/>
          </a:p>
        </p:txBody>
      </p:sp>
      <p:sp>
        <p:nvSpPr>
          <p:cNvPr id="5" name="text_191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11:00–11:50</a:t>
            </a:r>
            <a:endParaRPr lang="en-US" sz="1200" dirty="0"/>
          </a:p>
        </p:txBody>
      </p:sp>
      <p:sp>
        <p:nvSpPr>
          <p:cNvPr id="6" name="panel_192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193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194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W 를 모두 같은 값으로 두면 대칭이 깨지지 않는다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std 가 크면 sigmoid 포화 → 기울기 소실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std 가 작으면 활성값이 한 점에 몰림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sigmoid · tanh 는 Xavier, ReLU 는 He</a:t>
            </a:r>
            <a:endParaRPr lang="en-US" sz="1250" dirty="0"/>
          </a:p>
        </p:txBody>
      </p:sp>
      <p:sp>
        <p:nvSpPr>
          <p:cNvPr id="9" name="text_195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196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197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198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3-1  init_scale (Xavier · He)</a:t>
            </a:r>
            <a:endParaRPr lang="en-US" sz="1150" dirty="0"/>
          </a:p>
        </p:txBody>
      </p:sp>
      <p:sp>
        <p:nvSpPr>
          <p:cNvPr id="13" name="badge_199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200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201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3-2  활성화 히스토그램</a:t>
            </a:r>
            <a:endParaRPr lang="en-US" sz="1150" dirty="0"/>
          </a:p>
        </p:txBody>
      </p:sp>
      <p:sp>
        <p:nvSpPr>
          <p:cNvPr id="16" name="badge_202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203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204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3-3  MNIST 초기화 비교</a:t>
            </a:r>
            <a:endParaRPr lang="en-US" sz="1150" dirty="0"/>
          </a:p>
        </p:txBody>
      </p:sp>
      <p:sp>
        <p:nvSpPr>
          <p:cNvPr id="19" name="animTag_205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206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D4-3 가중치 초기화 · 활성화 분포</a:t>
            </a:r>
            <a:endParaRPr lang="en-US" sz="1100" dirty="0"/>
          </a:p>
        </p:txBody>
      </p:sp>
      <p:sp>
        <p:nvSpPr>
          <p:cNvPr id="21" name="panel_207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208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209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대칭 문제</a:t>
            </a:r>
            <a:endParaRPr lang="en-US" sz="1250" dirty="0"/>
          </a:p>
        </p:txBody>
      </p:sp>
      <p:sp>
        <p:nvSpPr>
          <p:cNvPr id="24" name="codebg_210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211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784-10-10, W 전부 0.01, SGD 0.1, 300 iter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W1 의 모든 열이 똑같음, test 0.2714</a:t>
            </a:r>
            <a:endParaRPr lang="en-US" sz="1300" dirty="0"/>
          </a:p>
        </p:txBody>
      </p:sp>
      <p:sp>
        <p:nvSpPr>
          <p:cNvPr id="26" name="text_212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init_scale</a:t>
            </a:r>
            <a:endParaRPr lang="en-US" sz="1250" dirty="0"/>
          </a:p>
        </p:txBody>
      </p:sp>
      <p:sp>
        <p:nvSpPr>
          <p:cNvPr id="27" name="codebg_213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214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Xavier: std = √(1/n_in)   (sigmoid · tanh)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He:     std = √(2/n_in)   (ReLU)</a:t>
            </a:r>
            <a:endParaRPr lang="en-US" sz="1300" dirty="0"/>
          </a:p>
        </p:txBody>
      </p:sp>
      <p:sp>
        <p:nvSpPr>
          <p:cNvPr id="29" name="text_215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ReLU 5층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활성값 std</a:t>
            </a:r>
            <a:endParaRPr lang="en-US" sz="1250" dirty="0"/>
          </a:p>
        </p:txBody>
      </p:sp>
      <p:sp>
        <p:nvSpPr>
          <p:cNvPr id="30" name="codebg_216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217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 0.01: 0.058 → 0.0041 → 0.0003 → 0.0000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Xavier:   0.583 → 0.412 → 0.303 → 0.220 → 0.177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He:       0.82 → 0.82 → 0.86 → 0.88 → 1.00</a:t>
            </a:r>
            <a:endParaRPr lang="en-US" sz="1250" dirty="0"/>
          </a:p>
        </p:txBody>
      </p:sp>
      <p:sp>
        <p:nvSpPr>
          <p:cNvPr id="32" name="text_218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MNIST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2000 iter</a:t>
            </a:r>
            <a:endParaRPr lang="en-US" sz="1250" dirty="0"/>
          </a:p>
        </p:txBody>
      </p:sp>
      <p:sp>
        <p:nvSpPr>
          <p:cNvPr id="33" name="codebg_219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220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 0.01 → 손실 2.301 그대로, test 0.1135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Xavier → 0.9179   ·   He → 0.9378</a:t>
            </a:r>
            <a:endParaRPr lang="en-US" sz="1300" dirty="0"/>
          </a:p>
        </p:txBody>
      </p:sp>
      <p:sp>
        <p:nvSpPr>
          <p:cNvPr id="35" name="text_221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6" name="text_222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sigmoid std 1 → 0 · 1 근처 비율 0.82/0.75/0.72/0.74/0.76 (기울기 소실), std 0.01 → 모두 0.5 근처 (표현력 제한), Xavier 는 고르게 퍼진다.</a:t>
            </a:r>
            <a:endParaRPr lang="en-US" sz="1150" dirty="0"/>
          </a:p>
        </p:txBody>
      </p:sp>
      <p:sp>
        <p:nvSpPr>
          <p:cNvPr id="38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9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223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badgeNum_224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4" name="text_225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Batch Normalization</a:t>
            </a:r>
            <a:endParaRPr lang="en-US" sz="2600" dirty="0"/>
          </a:p>
        </p:txBody>
      </p:sp>
      <p:sp>
        <p:nvSpPr>
          <p:cNvPr id="5" name="text_226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13:00–13:50</a:t>
            </a:r>
            <a:endParaRPr lang="en-US" sz="1200" dirty="0"/>
          </a:p>
        </p:txBody>
      </p:sp>
      <p:sp>
        <p:nvSpPr>
          <p:cNvPr id="6" name="panel_227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228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229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미니배치마다 평균 0 · 분산 1 로 정규화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γ, β 로 다시 늘이고 옮긴다 (학습 파라미터)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학습 땐 배치 통계, 추론 땐 running 값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초기화에 덜 민감, 학습이 빨라진다</a:t>
            </a:r>
            <a:endParaRPr lang="en-US" sz="1250" dirty="0"/>
          </a:p>
        </p:txBody>
      </p:sp>
      <p:sp>
        <p:nvSpPr>
          <p:cNvPr id="9" name="text_230"/>
          <p:cNvSpPr txBox="1"/>
          <p:nvPr/>
        </p:nvSpPr>
        <p:spPr>
          <a:xfrm>
            <a:off x="658368" y="3493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231"/>
          <p:cNvSpPr/>
          <p:nvPr/>
        </p:nvSpPr>
        <p:spPr>
          <a:xfrm>
            <a:off x="685800" y="384048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232"/>
          <p:cNvSpPr txBox="1"/>
          <p:nvPr/>
        </p:nvSpPr>
        <p:spPr>
          <a:xfrm>
            <a:off x="68580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233"/>
          <p:cNvSpPr txBox="1"/>
          <p:nvPr/>
        </p:nvSpPr>
        <p:spPr>
          <a:xfrm>
            <a:off x="1078992" y="3840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4-1  BatchNorm.forward</a:t>
            </a:r>
            <a:endParaRPr lang="en-US" sz="1150" dirty="0"/>
          </a:p>
        </p:txBody>
      </p:sp>
      <p:sp>
        <p:nvSpPr>
          <p:cNvPr id="13" name="badge_234"/>
          <p:cNvSpPr/>
          <p:nvPr/>
        </p:nvSpPr>
        <p:spPr>
          <a:xfrm>
            <a:off x="685800" y="4261104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235"/>
          <p:cNvSpPr txBox="1"/>
          <p:nvPr/>
        </p:nvSpPr>
        <p:spPr>
          <a:xfrm>
            <a:off x="68580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236"/>
          <p:cNvSpPr txBox="1"/>
          <p:nvPr/>
        </p:nvSpPr>
        <p:spPr>
          <a:xfrm>
            <a:off x="1078992" y="426110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4-2  BatchNorm.backward</a:t>
            </a:r>
            <a:endParaRPr lang="en-US" sz="1150" dirty="0"/>
          </a:p>
        </p:txBody>
      </p:sp>
      <p:sp>
        <p:nvSpPr>
          <p:cNvPr id="16" name="badge_237"/>
          <p:cNvSpPr/>
          <p:nvPr/>
        </p:nvSpPr>
        <p:spPr>
          <a:xfrm>
            <a:off x="685800" y="468172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238"/>
          <p:cNvSpPr txBox="1"/>
          <p:nvPr/>
        </p:nvSpPr>
        <p:spPr>
          <a:xfrm>
            <a:off x="68580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239"/>
          <p:cNvSpPr txBox="1"/>
          <p:nvPr/>
        </p:nvSpPr>
        <p:spPr>
          <a:xfrm>
            <a:off x="1078992" y="46817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4-3  gradient check</a:t>
            </a:r>
            <a:endParaRPr lang="en-US" sz="1150" dirty="0"/>
          </a:p>
        </p:txBody>
      </p:sp>
      <p:sp>
        <p:nvSpPr>
          <p:cNvPr id="19" name="badge_240"/>
          <p:cNvSpPr/>
          <p:nvPr/>
        </p:nvSpPr>
        <p:spPr>
          <a:xfrm>
            <a:off x="685800" y="5102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badgeNum_241"/>
          <p:cNvSpPr txBox="1"/>
          <p:nvPr/>
        </p:nvSpPr>
        <p:spPr>
          <a:xfrm>
            <a:off x="685800" y="5102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_242"/>
          <p:cNvSpPr txBox="1"/>
          <p:nvPr/>
        </p:nvSpPr>
        <p:spPr>
          <a:xfrm>
            <a:off x="1078992" y="5102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4-4  BN 유무 비교</a:t>
            </a:r>
            <a:endParaRPr lang="en-US" sz="1150" dirty="0"/>
          </a:p>
        </p:txBody>
      </p:sp>
      <p:sp>
        <p:nvSpPr>
          <p:cNvPr id="22" name="animTag_243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_244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D4-4 Batch Normalization</a:t>
            </a:r>
            <a:endParaRPr lang="en-US" sz="1100" dirty="0"/>
          </a:p>
        </p:txBody>
      </p:sp>
      <p:sp>
        <p:nvSpPr>
          <p:cNvPr id="24" name="panel_245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text_246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6" name="text_247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forward</a:t>
            </a:r>
            <a:endParaRPr lang="en-US" sz="1250" dirty="0"/>
          </a:p>
        </p:txBody>
      </p:sp>
      <p:sp>
        <p:nvSpPr>
          <p:cNvPr id="27" name="codebg_248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249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 = x.mean(axis=0); var = x.var(axis=0)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xhat = (x − mu) / np.sqrt(var + 1e-7)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gamma * xhat + beta</a:t>
            </a:r>
            <a:endParaRPr lang="en-US" sz="1250" dirty="0"/>
          </a:p>
        </p:txBody>
      </p:sp>
      <p:sp>
        <p:nvSpPr>
          <p:cNvPr id="29" name="text_250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backward</a:t>
            </a:r>
            <a:endParaRPr lang="en-US" sz="1250" dirty="0"/>
          </a:p>
        </p:txBody>
      </p:sp>
      <p:sp>
        <p:nvSpPr>
          <p:cNvPr id="30" name="codebg_251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252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dxhat = gamma * dout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dgamma = Σ(xhat·dout),  dbeta = Σdout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 = (N·dxhat − Σdxhat − xhat·Σ(dxhat·xhat)) / (N·std)</a:t>
            </a:r>
            <a:endParaRPr lang="en-US" sz="1050" dirty="0"/>
          </a:p>
        </p:txBody>
      </p:sp>
      <p:sp>
        <p:nvSpPr>
          <p:cNvPr id="32" name="text_253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검증</a:t>
            </a:r>
            <a:endParaRPr lang="en-US" sz="1250" dirty="0"/>
          </a:p>
        </p:txBody>
      </p:sp>
      <p:sp>
        <p:nvSpPr>
          <p:cNvPr id="33" name="codebg_254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255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 check: dx 3.8e-10 · dγ 9.1e-13 · dβ 6.8e-14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 의 열 합 = 0 → BN 앞 Affine 의 db = 0</a:t>
            </a:r>
            <a:endParaRPr lang="en-US" sz="1150" dirty="0"/>
          </a:p>
        </p:txBody>
      </p:sp>
      <p:sp>
        <p:nvSpPr>
          <p:cNvPr id="35" name="text_256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BN 효과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std 0.01</a:t>
            </a:r>
            <a:endParaRPr lang="en-US" sz="1250" dirty="0"/>
          </a:p>
        </p:txBody>
      </p:sp>
      <p:sp>
        <p:nvSpPr>
          <p:cNvPr id="36" name="codebg_257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7" name="code_258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1000장 · 784-100×5-10 · SGD 0.01 · 20 epoch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noBN train/test 0.117/0.103 → BN 1.000/0.878</a:t>
            </a:r>
            <a:endParaRPr lang="en-US" sz="1300" dirty="0"/>
          </a:p>
        </p:txBody>
      </p:sp>
      <p:sp>
        <p:nvSpPr>
          <p:cNvPr id="38" name="text_259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9" name="text_260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running_mean = 0.9·running_mean + 0.1·μ — N(5, 2²) 배치 100개를 50번 넣으면 5.03 / 3.83. 추론은 train_flg=False.</a:t>
            </a:r>
            <a:endParaRPr lang="en-US" sz="1150" dirty="0"/>
          </a:p>
        </p:txBody>
      </p:sp>
      <p:sp>
        <p:nvSpPr>
          <p:cNvPr id="41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2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261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badgeNum_262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4" name="text_263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Overfitting (과적합)</a:t>
            </a:r>
            <a:endParaRPr lang="en-US" sz="2600" dirty="0"/>
          </a:p>
        </p:txBody>
      </p:sp>
      <p:sp>
        <p:nvSpPr>
          <p:cNvPr id="5" name="text_264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14:00–14:50</a:t>
            </a:r>
            <a:endParaRPr lang="en-US" sz="1200" dirty="0"/>
          </a:p>
        </p:txBody>
      </p:sp>
      <p:sp>
        <p:nvSpPr>
          <p:cNvPr id="6" name="panel_265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266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267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train 은 오르는데 test 는 멈춘다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test 손실은 오히려 증가 (틀린 답을 과신)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원인: 데이터는 적고 모델은 크다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처방 1순위: 데이터를 늘린다</a:t>
            </a:r>
            <a:endParaRPr lang="en-US" sz="1250" dirty="0"/>
          </a:p>
        </p:txBody>
      </p:sp>
      <p:sp>
        <p:nvSpPr>
          <p:cNvPr id="9" name="text_268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269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270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271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5-1  train/test 간극 계산</a:t>
            </a:r>
            <a:endParaRPr lang="en-US" sz="1150" dirty="0"/>
          </a:p>
        </p:txBody>
      </p:sp>
      <p:sp>
        <p:nvSpPr>
          <p:cNvPr id="13" name="badge_272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273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274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5-2  데이터 크기 실험</a:t>
            </a:r>
            <a:endParaRPr lang="en-US" sz="1150" dirty="0"/>
          </a:p>
        </p:txBody>
      </p:sp>
      <p:sp>
        <p:nvSpPr>
          <p:cNvPr id="16" name="badge_275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276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277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5-3  곡선 그리기</a:t>
            </a:r>
            <a:endParaRPr lang="en-US" sz="1150" dirty="0"/>
          </a:p>
        </p:txBody>
      </p:sp>
      <p:sp>
        <p:nvSpPr>
          <p:cNvPr id="19" name="animTag_278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279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D4-5 과적합</a:t>
            </a:r>
            <a:endParaRPr lang="en-US" sz="1100" dirty="0"/>
          </a:p>
        </p:txBody>
      </p:sp>
      <p:sp>
        <p:nvSpPr>
          <p:cNvPr id="21" name="panel_280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281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282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실험</a:t>
            </a:r>
            <a:endParaRPr lang="en-US" sz="1250" dirty="0"/>
          </a:p>
        </p:txBody>
      </p:sp>
      <p:sp>
        <p:nvSpPr>
          <p:cNvPr id="24" name="codebg_283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284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학습 300장 · 784-100×6-10 (He) · SGD 0.1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 100 · 200 epoch · 10 epoch 마다 평가</a:t>
            </a:r>
            <a:endParaRPr lang="en-US" sz="1300" dirty="0"/>
          </a:p>
        </p:txBody>
      </p:sp>
      <p:sp>
        <p:nvSpPr>
          <p:cNvPr id="26" name="text_285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결과</a:t>
            </a:r>
            <a:endParaRPr lang="en-US" sz="1250" dirty="0"/>
          </a:p>
        </p:txBody>
      </p:sp>
      <p:sp>
        <p:nvSpPr>
          <p:cNvPr id="27" name="codebg_286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287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1.000 / test 0.786 → 간극 0.214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손실 25 epoch 0.79 → 200 epoch 1.12 (증가)</a:t>
            </a:r>
            <a:endParaRPr lang="en-US" sz="1300" dirty="0"/>
          </a:p>
        </p:txBody>
      </p:sp>
      <p:sp>
        <p:nvSpPr>
          <p:cNvPr id="29" name="text_288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데이터 ↑</a:t>
            </a:r>
            <a:endParaRPr lang="en-US" sz="1250" dirty="0"/>
          </a:p>
        </p:txBody>
      </p:sp>
      <p:sp>
        <p:nvSpPr>
          <p:cNvPr id="30" name="codebg_289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290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3000장 (같은 600 iteration = 20 epoch)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1.000 / 0.926</a:t>
            </a:r>
            <a:endParaRPr lang="en-US" sz="1300" dirty="0"/>
          </a:p>
        </p:txBody>
      </p:sp>
      <p:sp>
        <p:nvSpPr>
          <p:cNvPr id="32" name="text_291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모델 ↓</a:t>
            </a:r>
            <a:endParaRPr lang="en-US" sz="1250" dirty="0"/>
          </a:p>
        </p:txBody>
      </p:sp>
      <p:sp>
        <p:nvSpPr>
          <p:cNvPr id="33" name="codebg_292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293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784-100-10 (300장, 200 epoch)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1.000 / 0.802</a:t>
            </a:r>
            <a:endParaRPr lang="en-US" sz="1300" dirty="0"/>
          </a:p>
        </p:txBody>
      </p:sp>
      <p:sp>
        <p:nvSpPr>
          <p:cNvPr id="35" name="text_294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6" name="text_295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정확도만 보면 놓친다 — test 손실이 다시 오르기 시작하면 과적합. 데이터를 못 늘릴 때는 6교시 규제로.</a:t>
            </a:r>
            <a:endParaRPr lang="en-US" sz="1150" dirty="0"/>
          </a:p>
        </p:txBody>
      </p:sp>
      <p:sp>
        <p:nvSpPr>
          <p:cNvPr id="37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8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296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" name="badgeNum_297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4" name="text_298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규제 — weight decay · Dropout</a:t>
            </a:r>
            <a:endParaRPr lang="en-US" sz="2600" dirty="0"/>
          </a:p>
        </p:txBody>
      </p:sp>
      <p:sp>
        <p:nvSpPr>
          <p:cNvPr id="5" name="text_299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15:00–15:50</a:t>
            </a:r>
            <a:endParaRPr lang="en-US" sz="1200" dirty="0"/>
          </a:p>
        </p:txBody>
      </p:sp>
      <p:sp>
        <p:nvSpPr>
          <p:cNvPr id="6" name="panel_300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301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302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weight decay (L2): 큰 가중치에 벌점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편향 · γ · β 는 벌점에서 제외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Dropout: 학습 때 뉴런 일부를 무작위로 끔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추론 때는 모두 켜고 (1 − ratio) 배</a:t>
            </a:r>
            <a:endParaRPr lang="en-US" sz="1250" dirty="0"/>
          </a:p>
        </p:txBody>
      </p:sp>
      <p:sp>
        <p:nvSpPr>
          <p:cNvPr id="9" name="text_303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304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305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306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6-1  l2_penalty</a:t>
            </a:r>
            <a:endParaRPr lang="en-US" sz="1150" dirty="0"/>
          </a:p>
        </p:txBody>
      </p:sp>
      <p:sp>
        <p:nvSpPr>
          <p:cNvPr id="13" name="badge_307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308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309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6-2  Dropout</a:t>
            </a:r>
            <a:endParaRPr lang="en-US" sz="1150" dirty="0"/>
          </a:p>
        </p:txBody>
      </p:sp>
      <p:sp>
        <p:nvSpPr>
          <p:cNvPr id="16" name="badge_310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311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312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6-3  세 가지 비교</a:t>
            </a:r>
            <a:endParaRPr lang="en-US" sz="1150" dirty="0"/>
          </a:p>
        </p:txBody>
      </p:sp>
      <p:sp>
        <p:nvSpPr>
          <p:cNvPr id="19" name="animTag_313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314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D4-6 규제 — weight decay · Dropout</a:t>
            </a:r>
            <a:endParaRPr lang="en-US" sz="1100" dirty="0"/>
          </a:p>
        </p:txBody>
      </p:sp>
      <p:sp>
        <p:nvSpPr>
          <p:cNvPr id="21" name="panel_315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316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317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weight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decay</a:t>
            </a:r>
            <a:endParaRPr lang="en-US" sz="1250" dirty="0"/>
          </a:p>
        </p:txBody>
      </p:sp>
      <p:sp>
        <p:nvSpPr>
          <p:cNvPr id="24" name="codebg_318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319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+= 0.5 * lam * Σ np.sum(W**2)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   += lam * W</a:t>
            </a:r>
            <a:endParaRPr lang="en-US" sz="1300" dirty="0"/>
          </a:p>
        </p:txBody>
      </p:sp>
      <p:sp>
        <p:nvSpPr>
          <p:cNvPr id="26" name="text_320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Dropout</a:t>
            </a:r>
            <a:endParaRPr lang="en-US" sz="1250" dirty="0"/>
          </a:p>
        </p:txBody>
      </p:sp>
      <p:sp>
        <p:nvSpPr>
          <p:cNvPr id="27" name="codebg_321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322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train: mask = rng.random(x.shape) &gt; ratio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out = x * mask;  backward: dout * mask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추론:  out = x * (1 − ratio)</a:t>
            </a:r>
            <a:endParaRPr lang="en-US" sz="1250" dirty="0"/>
          </a:p>
        </p:txBody>
      </p:sp>
      <p:sp>
        <p:nvSpPr>
          <p:cNvPr id="29" name="text_323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결과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(5교시 설정)</a:t>
            </a:r>
            <a:endParaRPr lang="en-US" sz="1250" dirty="0"/>
          </a:p>
        </p:txBody>
      </p:sp>
      <p:sp>
        <p:nvSpPr>
          <p:cNvPr id="30" name="codebg_324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325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규제 없음    1.000 / 0.786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0.01       1.000 / 0.810  test 손실 0.74 → 0.65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 0.2  1.000 / 0.800  (25 epoch train 0.53)</a:t>
            </a:r>
            <a:endParaRPr lang="en-US" sz="1250" dirty="0"/>
          </a:p>
        </p:txBody>
      </p:sp>
      <p:sp>
        <p:nvSpPr>
          <p:cNvPr id="32" name="text_326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너무 강하면</a:t>
            </a:r>
            <a:endParaRPr lang="en-US" sz="1250" dirty="0"/>
          </a:p>
        </p:txBody>
      </p:sp>
      <p:sp>
        <p:nvSpPr>
          <p:cNvPr id="33" name="codebg_327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328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0.1 → 0.767 / 0.641 (과소적합)</a:t>
            </a:r>
            <a:endParaRPr lang="en-US" sz="1300" dirty="0"/>
          </a:p>
        </p:txBody>
      </p:sp>
      <p:sp>
        <p:nvSpPr>
          <p:cNvPr id="35" name="text_329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6" name="text_330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규제는 train 점수를 조금 내주고 test 를 올린다. λ · ratio 도 직접 골라야 하는 값 → 7교시 hyperparameter 탐색.</a:t>
            </a:r>
            <a:endParaRPr lang="en-US" sz="1150" dirty="0"/>
          </a:p>
        </p:txBody>
      </p:sp>
      <p:sp>
        <p:nvSpPr>
          <p:cNvPr id="37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8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331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adgeNum_332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4" name="text_333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Hyperparameter 탐색</a:t>
            </a:r>
            <a:endParaRPr lang="en-US" sz="2600" dirty="0"/>
          </a:p>
        </p:txBody>
      </p:sp>
      <p:sp>
        <p:nvSpPr>
          <p:cNvPr id="5" name="text_334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16:00–16:50</a:t>
            </a:r>
            <a:endParaRPr lang="en-US" sz="1200" dirty="0"/>
          </a:p>
        </p:txBody>
      </p:sp>
      <p:sp>
        <p:nvSpPr>
          <p:cNvPr id="6" name="panel_335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336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337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train / validation / test 분리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test 로 고르면 test 에 과적합된다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로그 스케일 랜덤 탐색 &gt; 그리드 탐색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넓게 → 좁게 범위를 줄여 가며 반복</a:t>
            </a:r>
            <a:endParaRPr lang="en-US" sz="1250" dirty="0"/>
          </a:p>
        </p:txBody>
      </p:sp>
      <p:sp>
        <p:nvSpPr>
          <p:cNvPr id="9" name="text_338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339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340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341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7-1  validation 분리</a:t>
            </a:r>
            <a:endParaRPr lang="en-US" sz="1150" dirty="0"/>
          </a:p>
        </p:txBody>
      </p:sp>
      <p:sp>
        <p:nvSpPr>
          <p:cNvPr id="13" name="badge_342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343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344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7-2  로그 스케일 샘플링</a:t>
            </a:r>
            <a:endParaRPr lang="en-US" sz="1150" dirty="0"/>
          </a:p>
        </p:txBody>
      </p:sp>
      <p:sp>
        <p:nvSpPr>
          <p:cNvPr id="16" name="badge_345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346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347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7-3  탐색 루프 · 산점도</a:t>
            </a:r>
            <a:endParaRPr lang="en-US" sz="1150" dirty="0"/>
          </a:p>
        </p:txBody>
      </p:sp>
      <p:sp>
        <p:nvSpPr>
          <p:cNvPr id="19" name="animTag_348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349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D4-7 하이퍼파라미터 탐색</a:t>
            </a:r>
            <a:endParaRPr lang="en-US" sz="1100" dirty="0"/>
          </a:p>
        </p:txBody>
      </p:sp>
      <p:sp>
        <p:nvSpPr>
          <p:cNvPr id="21" name="panel_350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351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352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validation</a:t>
            </a:r>
            <a:endParaRPr lang="en-US" sz="1250" dirty="0"/>
          </a:p>
        </p:txBody>
      </p:sp>
      <p:sp>
        <p:nvSpPr>
          <p:cNvPr id="24" name="codebg_353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354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 = default_rng(0); p = rng.permutation(1000)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= p[:200];  train = p[200:]</a:t>
            </a:r>
            <a:endParaRPr lang="en-US" sz="1300" dirty="0"/>
          </a:p>
        </p:txBody>
      </p:sp>
      <p:sp>
        <p:nvSpPr>
          <p:cNvPr id="26" name="text_355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샘플링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(30 회)</a:t>
            </a:r>
            <a:endParaRPr lang="en-US" sz="1250" dirty="0"/>
          </a:p>
        </p:txBody>
      </p:sp>
      <p:sp>
        <p:nvSpPr>
          <p:cNvPr id="27" name="codebg_356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357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 = 10 ** rng.uniform(-4, 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 = 10 ** rng.uniform(-6, -1)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784-100-100-10 · SGD · 20 epoch · batch 100</a:t>
            </a:r>
            <a:endParaRPr lang="en-US" sz="1250" dirty="0"/>
          </a:p>
        </p:txBody>
      </p:sp>
      <p:sp>
        <p:nvSpPr>
          <p:cNvPr id="29" name="text_358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상위 3</a:t>
            </a:r>
            <a:endParaRPr lang="en-US" sz="1250" dirty="0"/>
          </a:p>
        </p:txBody>
      </p:sp>
      <p:sp>
        <p:nvSpPr>
          <p:cNvPr id="30" name="codebg_359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360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0.885  lr 0.242  λ 4.8e-6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0.875  lr 0.240  λ 4.1e-5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0.870  lr 0.588  λ 1.0e-2</a:t>
            </a:r>
            <a:endParaRPr lang="en-US" sz="1250" dirty="0"/>
          </a:p>
        </p:txBody>
      </p:sp>
      <p:sp>
        <p:nvSpPr>
          <p:cNvPr id="32" name="text_361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결론</a:t>
            </a:r>
            <a:endParaRPr lang="en-US" sz="1250" dirty="0"/>
          </a:p>
        </p:txBody>
      </p:sp>
      <p:sp>
        <p:nvSpPr>
          <p:cNvPr id="33" name="codebg_362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363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0.1 ~ 0.6 이 좋고 λ 는 영향이 작다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다음: lr = 10 ** U(−1.3, −0.2) 로 좁혀 다시</a:t>
            </a:r>
            <a:endParaRPr lang="en-US" sz="1300" dirty="0"/>
          </a:p>
        </p:txBody>
      </p:sp>
      <p:sp>
        <p:nvSpPr>
          <p:cNvPr id="35" name="text_364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6" name="text_365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하위는 lr 3e-4 ~ 6e-4 근처 val 0.08 ~ 0.14 (학습이 안 됨). 30 회 탐색 약 11 초 — 고르는 데는 validation, 보고는 test 한 번.</a:t>
            </a:r>
            <a:endParaRPr lang="en-US" sz="1150" dirty="0"/>
          </a:p>
        </p:txBody>
      </p:sp>
      <p:sp>
        <p:nvSpPr>
          <p:cNvPr id="38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9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366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badgeNum_367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4" name="text_368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미니 프로젝트 — mynn.py 미니 프레임워크</a:t>
            </a:r>
            <a:endParaRPr lang="en-US" sz="2600" dirty="0"/>
          </a:p>
        </p:txBody>
      </p:sp>
      <p:sp>
        <p:nvSpPr>
          <p:cNvPr id="5" name="text_369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17:00–17:50</a:t>
            </a:r>
            <a:endParaRPr lang="en-US" sz="1200" dirty="0"/>
          </a:p>
        </p:txBody>
      </p:sp>
      <p:sp>
        <p:nvSpPr>
          <p:cNvPr id="6" name="panel_370"/>
          <p:cNvSpPr/>
          <p:nvPr/>
        </p:nvSpPr>
        <p:spPr>
          <a:xfrm>
            <a:off x="457200" y="1143000"/>
            <a:ext cx="55321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371"/>
          <p:cNvSpPr txBox="1"/>
          <p:nvPr/>
        </p:nvSpPr>
        <p:spPr>
          <a:xfrm>
            <a:off x="658368" y="1280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강의 노트북 8교시  ·  %%writefile → import mynn</a:t>
            </a:r>
            <a:endParaRPr lang="en-US" sz="1300" dirty="0"/>
          </a:p>
        </p:txBody>
      </p:sp>
      <p:sp>
        <p:nvSpPr>
          <p:cNvPr id="8" name="codebg_372"/>
          <p:cNvSpPr/>
          <p:nvPr/>
        </p:nvSpPr>
        <p:spPr>
          <a:xfrm>
            <a:off x="658368" y="1691640"/>
            <a:ext cx="5120640" cy="1325880"/>
          </a:xfrm>
          <a:prstGeom prst="roundRect">
            <a:avLst>
              <a:gd name="adj" fmla="val 344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9" name="code_373"/>
          <p:cNvSpPr txBox="1"/>
          <p:nvPr/>
        </p:nvSpPr>
        <p:spPr>
          <a:xfrm>
            <a:off x="768096" y="1746504"/>
            <a:ext cx="49011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계층: Affine · Relu · Sigmoid · BatchNorm · Dropout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옵티마이저 5종: SGD · Momentum · AdaGrad · RMSProp · Adam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Sequential(layers, weight_decay_lambda)   # 키 "i.W"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Trainer(model, optimizer, batch_size, seed).fit(...)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save_params / load_params</a:t>
            </a:r>
            <a:endParaRPr lang="en-US" sz="1050" dirty="0"/>
          </a:p>
        </p:txBody>
      </p:sp>
      <p:graphicFrame>
        <p:nvGraphicFramePr>
          <p:cNvPr id="14" name="task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154680"/>
          <a:ext cx="51206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822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</a:rPr>
                        <a:t>과제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</a:rPr>
                        <a:t>배점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Sequential — params · grads · loss · gradient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Trainer.fit — 셔플 · 미니배치 · history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5층 MLP 구성 · 학습 — test ≥ 0.97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저장 · 다시 불러와 같은 정확도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결과 해석 (강사 채점)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11" name="text_374"/>
          <p:cNvSpPr txBox="1"/>
          <p:nvPr/>
        </p:nvSpPr>
        <p:spPr>
          <a:xfrm>
            <a:off x="658368" y="54406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채점 셀 실행 → 자동 채점 90점 + 해석 10점</a:t>
            </a:r>
            <a:endParaRPr lang="en-US" sz="1200" dirty="0"/>
          </a:p>
        </p:txBody>
      </p:sp>
      <p:sp>
        <p:nvSpPr>
          <p:cNvPr id="12" name="text_375"/>
          <p:cNvSpPr txBox="1"/>
          <p:nvPr/>
        </p:nvSpPr>
        <p:spPr>
          <a:xfrm>
            <a:off x="658368" y="5760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▶ D4-8 에서 계층 조립 · 학습 흐름을 먼저 보고 코드로 확인</a:t>
            </a:r>
            <a:endParaRPr lang="en-US" sz="1150" dirty="0"/>
          </a:p>
        </p:txBody>
      </p:sp>
      <p:sp>
        <p:nvSpPr>
          <p:cNvPr id="13" name="panel_376"/>
          <p:cNvSpPr/>
          <p:nvPr/>
        </p:nvSpPr>
        <p:spPr>
          <a:xfrm>
            <a:off x="6172200" y="1143000"/>
            <a:ext cx="557784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4" name="text_377"/>
          <p:cNvSpPr txBox="1"/>
          <p:nvPr/>
        </p:nvSpPr>
        <p:spPr>
          <a:xfrm>
            <a:off x="6373368" y="1280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기준 모델 — 오늘 배운 것이 모두 들어간다</a:t>
            </a:r>
            <a:endParaRPr lang="en-US" sz="1300" dirty="0"/>
          </a:p>
        </p:txBody>
      </p:sp>
      <p:sp>
        <p:nvSpPr>
          <p:cNvPr id="15" name="codebg_378"/>
          <p:cNvSpPr/>
          <p:nvPr/>
        </p:nvSpPr>
        <p:spPr>
          <a:xfrm>
            <a:off x="6373368" y="1691640"/>
            <a:ext cx="5175504" cy="960120"/>
          </a:xfrm>
          <a:prstGeom prst="roundRect">
            <a:avLst>
              <a:gd name="adj" fmla="val 4762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6" name="code_379"/>
          <p:cNvSpPr txBox="1"/>
          <p:nvPr/>
        </p:nvSpPr>
        <p:spPr>
          <a:xfrm>
            <a:off x="6483096" y="1746504"/>
            <a:ext cx="49560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Affine(784, 100, seed=1) → BatchNorm(100) → Relu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Affine(100, 100) → BN → Relu   × 3 (seed 2~4)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Affine(100, 10, seed=5) → SoftmaxWithLoss</a:t>
            </a:r>
            <a:endParaRPr lang="en-US" sz="1200" dirty="0"/>
          </a:p>
        </p:txBody>
      </p:sp>
      <p:sp>
        <p:nvSpPr>
          <p:cNvPr id="17" name="text_380"/>
          <p:cNvSpPr txBox="1"/>
          <p:nvPr/>
        </p:nvSpPr>
        <p:spPr>
          <a:xfrm>
            <a:off x="6373368" y="2743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파라미터 </a:t>
            </a:r>
            <a:pPr indent="0" marL="0">
              <a:buNone/>
            </a:pPr>
            <a:r>
              <a:rPr lang="en-US" sz="1200" b="1" dirty="0">
                <a:solidFill>
                  <a:srgbClr val="F5B942"/>
                </a:solidFill>
              </a:rPr>
              <a:t>110,610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(BN γ · β 800 포함) · 학습 전 손실 2.49</a:t>
            </a:r>
            <a:endParaRPr lang="en-US" sz="1200" dirty="0"/>
          </a:p>
        </p:txBody>
      </p:sp>
      <p:sp>
        <p:nvSpPr>
          <p:cNvPr id="18" name="text_381"/>
          <p:cNvSpPr txBox="1"/>
          <p:nvPr/>
        </p:nvSpPr>
        <p:spPr>
          <a:xfrm>
            <a:off x="6373368" y="30906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Trainer(model, Adam(lr=0.001), batch_size=100, seed=0)</a:t>
            </a:r>
            <a:endParaRPr lang="en-US" sz="1150" dirty="0"/>
          </a:p>
        </p:txBody>
      </p:sp>
      <p:graphicFrame>
        <p:nvGraphicFramePr>
          <p:cNvPr id="27" name="his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73368" y="3456432"/>
          <a:ext cx="5175504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280160"/>
                <a:gridCol w="1700784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9BB8"/>
                          </a:solidFill>
                        </a:rPr>
                        <a:t>epoch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9BB8"/>
                          </a:solidFill>
                        </a:rPr>
                        <a:t>loss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9BB8"/>
                          </a:solidFill>
                        </a:rPr>
                        <a:t>train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9BB8"/>
                          </a:solidFill>
                        </a:rPr>
                        <a:t>val (= test)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0.2917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0.9731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0.9636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0.1062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0.9847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0.9709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0.0751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0.9864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0.9734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0.0577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0.9912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0.9750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0.0474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0.9920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0.9757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20" name="text_382"/>
          <p:cNvSpPr txBox="1"/>
          <p:nvPr/>
        </p:nvSpPr>
        <p:spPr>
          <a:xfrm>
            <a:off x="6373368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목표 · 참고 결과 (5 epoch)</a:t>
            </a:r>
            <a:endParaRPr lang="en-US" sz="1200" dirty="0"/>
          </a:p>
        </p:txBody>
      </p:sp>
      <p:sp>
        <p:nvSpPr>
          <p:cNvPr id="21" name="text_383"/>
          <p:cNvSpPr txBox="1"/>
          <p:nvPr/>
        </p:nvSpPr>
        <p:spPr>
          <a:xfrm>
            <a:off x="6373368" y="55321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목표 test ≥ 0.97  ·  기준 5 epoch 0.9757 (서버 약 15 초)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Day 3 0.9694 (10 epoch) → Day 4 0.9757 (5 epoch)</a:t>
            </a:r>
            <a:endParaRPr lang="en-US" sz="1200" dirty="0"/>
          </a:p>
        </p:txBody>
      </p:sp>
      <p:sp>
        <p:nvSpPr>
          <p:cNvPr id="23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4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오늘의 핵심 정리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각 항목 옆 번호는 다시 볼 애니메이션</a:t>
            </a:r>
            <a:endParaRPr lang="en-US" sz="1300" dirty="0"/>
          </a:p>
        </p:txBody>
      </p:sp>
      <p:sp>
        <p:nvSpPr>
          <p:cNvPr id="4" name="panel_384"/>
          <p:cNvSpPr/>
          <p:nvPr/>
        </p:nvSpPr>
        <p:spPr>
          <a:xfrm>
            <a:off x="457200" y="1417320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5" name="text_385"/>
          <p:cNvSpPr txBox="1"/>
          <p:nvPr/>
        </p:nvSpPr>
        <p:spPr>
          <a:xfrm>
            <a:off x="685800" y="14173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SGD 의 약점</a:t>
            </a:r>
            <a:endParaRPr lang="en-US" sz="1400" dirty="0"/>
          </a:p>
        </p:txBody>
      </p:sp>
      <p:sp>
        <p:nvSpPr>
          <p:cNvPr id="6" name="text_386"/>
          <p:cNvSpPr txBox="1"/>
          <p:nvPr/>
        </p:nvSpPr>
        <p:spPr>
          <a:xfrm>
            <a:off x="2834640" y="141732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가파른 방향은 지그재그, 완만한 방향은 느림 — y 방향 안정 조건 lr &lt; 1</a:t>
            </a:r>
            <a:endParaRPr lang="en-US" sz="1300" dirty="0"/>
          </a:p>
        </p:txBody>
      </p:sp>
      <p:sp>
        <p:nvSpPr>
          <p:cNvPr id="7" name="text_387"/>
          <p:cNvSpPr txBox="1"/>
          <p:nvPr/>
        </p:nvSpPr>
        <p:spPr>
          <a:xfrm>
            <a:off x="10058400" y="141732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D4-1</a:t>
            </a:r>
            <a:endParaRPr lang="en-US" sz="1200" dirty="0"/>
          </a:p>
        </p:txBody>
      </p:sp>
      <p:sp>
        <p:nvSpPr>
          <p:cNvPr id="8" name="panel_388"/>
          <p:cNvSpPr/>
          <p:nvPr/>
        </p:nvSpPr>
        <p:spPr>
          <a:xfrm>
            <a:off x="457200" y="2020824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9" name="text_389"/>
          <p:cNvSpPr txBox="1"/>
          <p:nvPr/>
        </p:nvSpPr>
        <p:spPr>
          <a:xfrm>
            <a:off x="685800" y="202082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Optimizer</a:t>
            </a:r>
            <a:endParaRPr lang="en-US" sz="1400" dirty="0"/>
          </a:p>
        </p:txBody>
      </p:sp>
      <p:sp>
        <p:nvSpPr>
          <p:cNvPr id="10" name="text_390"/>
          <p:cNvSpPr txBox="1"/>
          <p:nvPr/>
        </p:nvSpPr>
        <p:spPr>
          <a:xfrm>
            <a:off x="2834640" y="202082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Momentum · AdaGrad · RMSProp · Adam — 모두 update(params, grads) 제자리 갱신</a:t>
            </a:r>
            <a:endParaRPr lang="en-US" sz="1300" dirty="0"/>
          </a:p>
        </p:txBody>
      </p:sp>
      <p:sp>
        <p:nvSpPr>
          <p:cNvPr id="11" name="text_391"/>
          <p:cNvSpPr txBox="1"/>
          <p:nvPr/>
        </p:nvSpPr>
        <p:spPr>
          <a:xfrm>
            <a:off x="10058400" y="202082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D4-2</a:t>
            </a:r>
            <a:endParaRPr lang="en-US" sz="1200" dirty="0"/>
          </a:p>
        </p:txBody>
      </p:sp>
      <p:sp>
        <p:nvSpPr>
          <p:cNvPr id="12" name="panel_392"/>
          <p:cNvSpPr/>
          <p:nvPr/>
        </p:nvSpPr>
        <p:spPr>
          <a:xfrm>
            <a:off x="457200" y="2624328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3" name="text_393"/>
          <p:cNvSpPr txBox="1"/>
          <p:nvPr/>
        </p:nvSpPr>
        <p:spPr>
          <a:xfrm>
            <a:off x="685800" y="262432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초기화</a:t>
            </a:r>
            <a:endParaRPr lang="en-US" sz="1400" dirty="0"/>
          </a:p>
        </p:txBody>
      </p:sp>
      <p:sp>
        <p:nvSpPr>
          <p:cNvPr id="14" name="text_394"/>
          <p:cNvSpPr txBox="1"/>
          <p:nvPr/>
        </p:nvSpPr>
        <p:spPr>
          <a:xfrm>
            <a:off x="2834640" y="262432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같은 값이면 대칭, sigmoid · tanh 는 Xavier √(1/n), ReLU 는 He √(2/n)</a:t>
            </a:r>
            <a:endParaRPr lang="en-US" sz="1300" dirty="0"/>
          </a:p>
        </p:txBody>
      </p:sp>
      <p:sp>
        <p:nvSpPr>
          <p:cNvPr id="15" name="text_395"/>
          <p:cNvSpPr txBox="1"/>
          <p:nvPr/>
        </p:nvSpPr>
        <p:spPr>
          <a:xfrm>
            <a:off x="10058400" y="262432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D4-3</a:t>
            </a:r>
            <a:endParaRPr lang="en-US" sz="1200" dirty="0"/>
          </a:p>
        </p:txBody>
      </p:sp>
      <p:sp>
        <p:nvSpPr>
          <p:cNvPr id="16" name="panel_396"/>
          <p:cNvSpPr/>
          <p:nvPr/>
        </p:nvSpPr>
        <p:spPr>
          <a:xfrm>
            <a:off x="457200" y="3227832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7" name="text_397"/>
          <p:cNvSpPr txBox="1"/>
          <p:nvPr/>
        </p:nvSpPr>
        <p:spPr>
          <a:xfrm>
            <a:off x="685800" y="322783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Batch Norm</a:t>
            </a:r>
            <a:endParaRPr lang="en-US" sz="1400" dirty="0"/>
          </a:p>
        </p:txBody>
      </p:sp>
      <p:sp>
        <p:nvSpPr>
          <p:cNvPr id="18" name="text_398"/>
          <p:cNvSpPr txBox="1"/>
          <p:nvPr/>
        </p:nvSpPr>
        <p:spPr>
          <a:xfrm>
            <a:off x="2834640" y="322783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배치 평균 0 · 분산 1 → γ, β · 추론은 running 값 (std 0.01 에서도 학습)</a:t>
            </a:r>
            <a:endParaRPr lang="en-US" sz="1300" dirty="0"/>
          </a:p>
        </p:txBody>
      </p:sp>
      <p:sp>
        <p:nvSpPr>
          <p:cNvPr id="19" name="text_399"/>
          <p:cNvSpPr txBox="1"/>
          <p:nvPr/>
        </p:nvSpPr>
        <p:spPr>
          <a:xfrm>
            <a:off x="10058400" y="322783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D4-4</a:t>
            </a:r>
            <a:endParaRPr lang="en-US" sz="1200" dirty="0"/>
          </a:p>
        </p:txBody>
      </p:sp>
      <p:sp>
        <p:nvSpPr>
          <p:cNvPr id="20" name="panel_400"/>
          <p:cNvSpPr/>
          <p:nvPr/>
        </p:nvSpPr>
        <p:spPr>
          <a:xfrm>
            <a:off x="457200" y="3831336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1" name="text_401"/>
          <p:cNvSpPr txBox="1"/>
          <p:nvPr/>
        </p:nvSpPr>
        <p:spPr>
          <a:xfrm>
            <a:off x="685800" y="383133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Overfitting</a:t>
            </a:r>
            <a:endParaRPr lang="en-US" sz="1400" dirty="0"/>
          </a:p>
        </p:txBody>
      </p:sp>
      <p:sp>
        <p:nvSpPr>
          <p:cNvPr id="22" name="text_402"/>
          <p:cNvSpPr txBox="1"/>
          <p:nvPr/>
        </p:nvSpPr>
        <p:spPr>
          <a:xfrm>
            <a:off x="2834640" y="383133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train 1.000 / test 0.786 — test 손실 증가가 신호, 데이터 ↑ 가 1순위</a:t>
            </a:r>
            <a:endParaRPr lang="en-US" sz="1300" dirty="0"/>
          </a:p>
        </p:txBody>
      </p:sp>
      <p:sp>
        <p:nvSpPr>
          <p:cNvPr id="23" name="text_403"/>
          <p:cNvSpPr txBox="1"/>
          <p:nvPr/>
        </p:nvSpPr>
        <p:spPr>
          <a:xfrm>
            <a:off x="10058400" y="38313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D4-5</a:t>
            </a:r>
            <a:endParaRPr lang="en-US" sz="1200" dirty="0"/>
          </a:p>
        </p:txBody>
      </p:sp>
      <p:sp>
        <p:nvSpPr>
          <p:cNvPr id="24" name="panel_404"/>
          <p:cNvSpPr/>
          <p:nvPr/>
        </p:nvSpPr>
        <p:spPr>
          <a:xfrm>
            <a:off x="457200" y="4434840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text_405"/>
          <p:cNvSpPr txBox="1"/>
          <p:nvPr/>
        </p:nvSpPr>
        <p:spPr>
          <a:xfrm>
            <a:off x="685800" y="443484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규제</a:t>
            </a:r>
            <a:endParaRPr lang="en-US" sz="1400" dirty="0"/>
          </a:p>
        </p:txBody>
      </p:sp>
      <p:sp>
        <p:nvSpPr>
          <p:cNvPr id="26" name="text_406"/>
          <p:cNvSpPr txBox="1"/>
          <p:nvPr/>
        </p:nvSpPr>
        <p:spPr>
          <a:xfrm>
            <a:off x="2834640" y="443484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weight decay ½λΣW² (+λW) · Dropout (추론 × (1 − ratio)) → test 0.810 / 0.800</a:t>
            </a:r>
            <a:endParaRPr lang="en-US" sz="1300" dirty="0"/>
          </a:p>
        </p:txBody>
      </p:sp>
      <p:sp>
        <p:nvSpPr>
          <p:cNvPr id="27" name="text_407"/>
          <p:cNvSpPr txBox="1"/>
          <p:nvPr/>
        </p:nvSpPr>
        <p:spPr>
          <a:xfrm>
            <a:off x="10058400" y="443484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D4-6</a:t>
            </a:r>
            <a:endParaRPr lang="en-US" sz="1200" dirty="0"/>
          </a:p>
        </p:txBody>
      </p:sp>
      <p:sp>
        <p:nvSpPr>
          <p:cNvPr id="28" name="panel_408"/>
          <p:cNvSpPr/>
          <p:nvPr/>
        </p:nvSpPr>
        <p:spPr>
          <a:xfrm>
            <a:off x="457200" y="5038344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9" name="text_409"/>
          <p:cNvSpPr txBox="1"/>
          <p:nvPr/>
        </p:nvSpPr>
        <p:spPr>
          <a:xfrm>
            <a:off x="685800" y="503834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Hyperparameter</a:t>
            </a:r>
            <a:endParaRPr lang="en-US" sz="1400" dirty="0"/>
          </a:p>
        </p:txBody>
      </p:sp>
      <p:sp>
        <p:nvSpPr>
          <p:cNvPr id="30" name="text_410"/>
          <p:cNvSpPr txBox="1"/>
          <p:nvPr/>
        </p:nvSpPr>
        <p:spPr>
          <a:xfrm>
            <a:off x="2834640" y="503834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validation 으로 고르고, 로그 스케일 랜덤 탐색 → 범위를 좁혀 반복</a:t>
            </a:r>
            <a:endParaRPr lang="en-US" sz="1300" dirty="0"/>
          </a:p>
        </p:txBody>
      </p:sp>
      <p:sp>
        <p:nvSpPr>
          <p:cNvPr id="31" name="text_411"/>
          <p:cNvSpPr txBox="1"/>
          <p:nvPr/>
        </p:nvSpPr>
        <p:spPr>
          <a:xfrm>
            <a:off x="10058400" y="50383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D4-7</a:t>
            </a:r>
            <a:endParaRPr lang="en-US" sz="1200" dirty="0"/>
          </a:p>
        </p:txBody>
      </p:sp>
      <p:sp>
        <p:nvSpPr>
          <p:cNvPr id="32" name="panel_412"/>
          <p:cNvSpPr/>
          <p:nvPr/>
        </p:nvSpPr>
        <p:spPr>
          <a:xfrm>
            <a:off x="457200" y="5641848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3" name="text_413"/>
          <p:cNvSpPr txBox="1"/>
          <p:nvPr/>
        </p:nvSpPr>
        <p:spPr>
          <a:xfrm>
            <a:off x="685800" y="564184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mynn.py</a:t>
            </a:r>
            <a:endParaRPr lang="en-US" sz="1400" dirty="0"/>
          </a:p>
        </p:txBody>
      </p:sp>
      <p:sp>
        <p:nvSpPr>
          <p:cNvPr id="34" name="text_414"/>
          <p:cNvSpPr txBox="1"/>
          <p:nvPr/>
        </p:nvSpPr>
        <p:spPr>
          <a:xfrm>
            <a:off x="2834640" y="56418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Sequential · Trainer → 5층 + He + BN + Adam, 5 epoch test 0.9757</a:t>
            </a:r>
            <a:endParaRPr lang="en-US" sz="1300" dirty="0"/>
          </a:p>
        </p:txBody>
      </p:sp>
      <p:sp>
        <p:nvSpPr>
          <p:cNvPr id="35" name="text_415"/>
          <p:cNvSpPr txBox="1"/>
          <p:nvPr/>
        </p:nvSpPr>
        <p:spPr>
          <a:xfrm>
            <a:off x="10058400" y="564184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Day 5 로 가는 다리 — CNN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오늘 만든 mynn.py 를 import 해서, 이미지의 모양을 살리는 합성곱 신경망을 학습시킵니다</a:t>
            </a:r>
            <a:endParaRPr lang="en-US" sz="1300" dirty="0"/>
          </a:p>
        </p:txBody>
      </p:sp>
      <p:sp>
        <p:nvSpPr>
          <p:cNvPr id="4" name="panel_416"/>
          <p:cNvSpPr/>
          <p:nvPr/>
        </p:nvSpPr>
        <p:spPr>
          <a:xfrm>
            <a:off x="457200" y="1463040"/>
            <a:ext cx="11274552" cy="4069080"/>
          </a:xfrm>
          <a:prstGeom prst="roundRect">
            <a:avLst>
              <a:gd name="adj" fmla="val 1798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5" name="text_417"/>
          <p:cNvSpPr txBox="1"/>
          <p:nvPr/>
        </p:nvSpPr>
        <p:spPr>
          <a:xfrm>
            <a:off x="7315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Day 4 (오늘)</a:t>
            </a:r>
            <a:endParaRPr lang="en-US" sz="1300" dirty="0"/>
          </a:p>
        </p:txBody>
      </p:sp>
      <p:sp>
        <p:nvSpPr>
          <p:cNvPr id="6" name="text_418"/>
          <p:cNvSpPr txBox="1"/>
          <p:nvPr/>
        </p:nvSpPr>
        <p:spPr>
          <a:xfrm>
            <a:off x="64465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5 (다음 시간)</a:t>
            </a:r>
            <a:endParaRPr lang="en-US" sz="1300" dirty="0"/>
          </a:p>
        </p:txBody>
      </p:sp>
      <p:sp>
        <p:nvSpPr>
          <p:cNvPr id="7" name="codebg_419"/>
          <p:cNvSpPr/>
          <p:nvPr/>
        </p:nvSpPr>
        <p:spPr>
          <a:xfrm>
            <a:off x="731520" y="201168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8" name="code_420"/>
          <p:cNvSpPr txBox="1"/>
          <p:nvPr/>
        </p:nvSpPr>
        <p:spPr>
          <a:xfrm>
            <a:off x="841248" y="2066544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Affine: 784 픽셀을 한 줄로 펼침</a:t>
            </a:r>
            <a:endParaRPr lang="en-US" sz="1200" dirty="0"/>
          </a:p>
        </p:txBody>
      </p:sp>
      <p:sp>
        <p:nvSpPr>
          <p:cNvPr id="9" name="text_421"/>
          <p:cNvSpPr txBox="1"/>
          <p:nvPr/>
        </p:nvSpPr>
        <p:spPr>
          <a:xfrm>
            <a:off x="576072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text_422"/>
          <p:cNvSpPr txBox="1"/>
          <p:nvPr/>
        </p:nvSpPr>
        <p:spPr>
          <a:xfrm>
            <a:off x="644652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Convolution: 28×28 모양을 유지</a:t>
            </a:r>
            <a:endParaRPr lang="en-US" sz="1350" dirty="0"/>
          </a:p>
        </p:txBody>
      </p:sp>
      <p:sp>
        <p:nvSpPr>
          <p:cNvPr id="11" name="codebg_423"/>
          <p:cNvSpPr/>
          <p:nvPr/>
        </p:nvSpPr>
        <p:spPr>
          <a:xfrm>
            <a:off x="731520" y="2578608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2" name="code_424"/>
          <p:cNvSpPr txBox="1"/>
          <p:nvPr/>
        </p:nvSpPr>
        <p:spPr>
          <a:xfrm>
            <a:off x="841248" y="2633472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XW + b (모든 입력 × 모든 가중치)</a:t>
            </a:r>
            <a:endParaRPr lang="en-US" sz="1200" dirty="0"/>
          </a:p>
        </p:txBody>
      </p:sp>
      <p:sp>
        <p:nvSpPr>
          <p:cNvPr id="13" name="text_425"/>
          <p:cNvSpPr txBox="1"/>
          <p:nvPr/>
        </p:nvSpPr>
        <p:spPr>
          <a:xfrm>
            <a:off x="5760720" y="2578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_426"/>
          <p:cNvSpPr txBox="1"/>
          <p:nvPr/>
        </p:nvSpPr>
        <p:spPr>
          <a:xfrm>
            <a:off x="6446520" y="25786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필터 · 패딩 · 스트라이드 — 출력 크기 계산</a:t>
            </a:r>
            <a:endParaRPr lang="en-US" sz="1350" dirty="0"/>
          </a:p>
        </p:txBody>
      </p:sp>
      <p:sp>
        <p:nvSpPr>
          <p:cNvPr id="15" name="codebg_427"/>
          <p:cNvSpPr/>
          <p:nvPr/>
        </p:nvSpPr>
        <p:spPr>
          <a:xfrm>
            <a:off x="731520" y="3145536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6" name="code_428"/>
          <p:cNvSpPr txBox="1"/>
          <p:nvPr/>
        </p:nvSpPr>
        <p:spPr>
          <a:xfrm>
            <a:off x="841248" y="3200400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루프로 짜면 느린 합성곱</a:t>
            </a:r>
            <a:endParaRPr lang="en-US" sz="1200" dirty="0"/>
          </a:p>
        </p:txBody>
      </p:sp>
      <p:sp>
        <p:nvSpPr>
          <p:cNvPr id="17" name="text_429"/>
          <p:cNvSpPr txBox="1"/>
          <p:nvPr/>
        </p:nvSpPr>
        <p:spPr>
          <a:xfrm>
            <a:off x="5760720" y="31455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text_430"/>
          <p:cNvSpPr txBox="1"/>
          <p:nvPr/>
        </p:nvSpPr>
        <p:spPr>
          <a:xfrm>
            <a:off x="6446520" y="314553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im2col 로 행렬 곱 하나로</a:t>
            </a:r>
            <a:endParaRPr lang="en-US" sz="1350" dirty="0"/>
          </a:p>
        </p:txBody>
      </p:sp>
      <p:sp>
        <p:nvSpPr>
          <p:cNvPr id="19" name="codebg_431"/>
          <p:cNvSpPr/>
          <p:nvPr/>
        </p:nvSpPr>
        <p:spPr>
          <a:xfrm>
            <a:off x="731520" y="3712464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0" name="code_432"/>
          <p:cNvSpPr txBox="1"/>
          <p:nvPr/>
        </p:nvSpPr>
        <p:spPr>
          <a:xfrm>
            <a:off x="841248" y="3767328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Affine · Relu forward / backward</a:t>
            </a:r>
            <a:endParaRPr lang="en-US" sz="1200" dirty="0"/>
          </a:p>
        </p:txBody>
      </p:sp>
      <p:sp>
        <p:nvSpPr>
          <p:cNvPr id="21" name="text_433"/>
          <p:cNvSpPr txBox="1"/>
          <p:nvPr/>
        </p:nvSpPr>
        <p:spPr>
          <a:xfrm>
            <a:off x="5760720" y="37124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text_434"/>
          <p:cNvSpPr txBox="1"/>
          <p:nvPr/>
        </p:nvSpPr>
        <p:spPr>
          <a:xfrm>
            <a:off x="6446520" y="37124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Convolution · Pooling forward / backward</a:t>
            </a:r>
            <a:endParaRPr lang="en-US" sz="1350" dirty="0"/>
          </a:p>
        </p:txBody>
      </p:sp>
      <p:sp>
        <p:nvSpPr>
          <p:cNvPr id="23" name="codebg_435"/>
          <p:cNvSpPr/>
          <p:nvPr/>
        </p:nvSpPr>
        <p:spPr>
          <a:xfrm>
            <a:off x="731520" y="4279392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4" name="code_436"/>
          <p:cNvSpPr txBox="1"/>
          <p:nvPr/>
        </p:nvSpPr>
        <p:spPr>
          <a:xfrm>
            <a:off x="841248" y="4334256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mynn.Sequential · Trainer</a:t>
            </a:r>
            <a:endParaRPr lang="en-US" sz="1200" dirty="0"/>
          </a:p>
        </p:txBody>
      </p:sp>
      <p:sp>
        <p:nvSpPr>
          <p:cNvPr id="25" name="text_437"/>
          <p:cNvSpPr txBox="1"/>
          <p:nvPr/>
        </p:nvSpPr>
        <p:spPr>
          <a:xfrm>
            <a:off x="5760720" y="4279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text_438"/>
          <p:cNvSpPr txBox="1"/>
          <p:nvPr/>
        </p:nvSpPr>
        <p:spPr>
          <a:xfrm>
            <a:off x="6446520" y="42793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SimpleConvNet 을 import mynn 으로 MNIST 학습</a:t>
            </a:r>
            <a:endParaRPr lang="en-US" sz="1350" dirty="0"/>
          </a:p>
        </p:txBody>
      </p:sp>
      <p:sp>
        <p:nvSpPr>
          <p:cNvPr id="27" name="codebg_439"/>
          <p:cNvSpPr/>
          <p:nvPr/>
        </p:nvSpPr>
        <p:spPr>
          <a:xfrm>
            <a:off x="731520" y="484632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440"/>
          <p:cNvSpPr txBox="1"/>
          <p:nvPr/>
        </p:nvSpPr>
        <p:spPr>
          <a:xfrm>
            <a:off x="841248" y="4901184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count_params() = 110,610</a:t>
            </a:r>
            <a:endParaRPr lang="en-US" sz="1200" dirty="0"/>
          </a:p>
        </p:txBody>
      </p:sp>
      <p:sp>
        <p:nvSpPr>
          <p:cNvPr id="29" name="text_441"/>
          <p:cNvSpPr txBox="1"/>
          <p:nvPr/>
        </p:nvSpPr>
        <p:spPr>
          <a:xfrm>
            <a:off x="5760720" y="4846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text_442"/>
          <p:cNvSpPr txBox="1"/>
          <p:nvPr/>
        </p:nvSpPr>
        <p:spPr>
          <a:xfrm>
            <a:off x="6446520" y="4846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모델 비용 계산 (파라미터 · 연산량)</a:t>
            </a:r>
            <a:endParaRPr lang="en-US" sz="1350" dirty="0"/>
          </a:p>
        </p:txBody>
      </p:sp>
      <p:sp>
        <p:nvSpPr>
          <p:cNvPr id="31" name="text_443"/>
          <p:cNvSpPr txBox="1"/>
          <p:nvPr/>
        </p:nvSpPr>
        <p:spPr>
          <a:xfrm>
            <a:off x="457200" y="56692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합성곱 · 패딩 · 스트라이드 → im2col → Convolution · Pooling → SimpleConvNet (import mynn) → 모델 비용</a:t>
            </a:r>
            <a:endParaRPr lang="en-US" sz="1400" dirty="0"/>
          </a:p>
        </p:txBody>
      </p:sp>
      <p:sp>
        <p:nvSpPr>
          <p:cNvPr id="32" name="text_444"/>
          <p:cNvSpPr txBox="1"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제출: 강의 노트북 (mynn 채점 셀 결과 포함) · mynn.py 와 가중치를 Drive 에 저장 (Day 5 에서 import)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Campus Dark">
  <a:themeElements>
    <a:clrScheme name="AI Campus Dark">
      <a:dk1>
        <a:srgbClr val="DBE4F0"/>
      </a:dk1>
      <a:lt1>
        <a:srgbClr val="0B1220"/>
      </a:lt1>
      <a:dk2>
        <a:srgbClr val="8A9BB8"/>
      </a:dk2>
      <a:lt2>
        <a:srgbClr val="111A2E"/>
      </a:lt2>
      <a:accent1>
        <a:srgbClr val="F5B942"/>
      </a:accent1>
      <a:accent2>
        <a:srgbClr val="2DD4BF"/>
      </a:accent2>
      <a:accent3>
        <a:srgbClr val="60A5FA"/>
      </a:accent3>
      <a:accent4>
        <a:srgbClr val="4ADE80"/>
      </a:accent4>
      <a:accent5>
        <a:srgbClr val="F87171"/>
      </a:accent5>
      <a:accent6>
        <a:srgbClr val="C084FC"/>
      </a:accent6>
      <a:hlink>
        <a:srgbClr val="60A5FA"/>
      </a:hlink>
      <a:folHlink>
        <a:srgbClr val="C084FC"/>
      </a:folHlink>
    </a:clrScheme>
    <a:fontScheme name="AI Campus Dark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Day 4 — 학습 기법</dc:title>
  <dc:subject>PptxGenJS Presentation</dc:subject>
  <dc:creator>김정인</dc:creator>
  <cp:lastModifiedBy>김정인</cp:lastModifiedBy>
  <cp:revision>1</cp:revision>
  <dcterms:created xsi:type="dcterms:W3CDTF">2026-10-22T03:27:24Z</dcterms:created>
  <dcterms:modified xsi:type="dcterms:W3CDTF">2026-10-22T03:27:24Z</dcterms:modified>
</cp:coreProperties>
</file>