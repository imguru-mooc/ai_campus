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4407b28-ffc5-be1b-a434-4d9d7443979d}">
          <p14:sldIdLst>
            <p14:sldId id="256"/>
            <p14:sldId id="257"/>
            <p14:sldId id="258"/>
            <p14:sldId id="259"/>
            <p14:sldId id="260"/>
          </p14:sldIdLst>
        </p14:section>
        <p14:section name="1교시" id="{e21975b6-3ff5-b03f-9d8e-d732307a50a5}">
          <p14:sldIdLst>
            <p14:sldId id="261"/>
          </p14:sldIdLst>
        </p14:section>
        <p14:section name="2교시" id="{5ab46a54-8332-9830-90b9-c9b404db8882}">
          <p14:sldIdLst>
            <p14:sldId id="262"/>
          </p14:sldIdLst>
        </p14:section>
        <p14:section name="3교시" id="{432f7843-f655-091d-42c1-84cb049fc2e2}">
          <p14:sldIdLst>
            <p14:sldId id="263"/>
          </p14:sldIdLst>
        </p14:section>
        <p14:section name="4교시" id="{c02aa504-b1a4-f8f5-90ee-00509af38f9c}">
          <p14:sldIdLst>
            <p14:sldId id="264"/>
          </p14:sldIdLst>
        </p14:section>
        <p14:section name="5교시" id="{449bbad3-7bc8-7131-b817-7f07c8f72194}">
          <p14:sldIdLst>
            <p14:sldId id="265"/>
          </p14:sldIdLst>
        </p14:section>
        <p14:section name="6교시" id="{ef10be78-7613-0264-4381-04fe77a55991}">
          <p14:sldIdLst>
            <p14:sldId id="266"/>
          </p14:sldIdLst>
        </p14:section>
        <p14:section name="7교시" id="{cef124ce-3558-4400-0f4a-ef850f9e7edf}">
          <p14:sldIdLst>
            <p14:sldId id="267"/>
          </p14:sldIdLst>
        </p14:section>
        <p14:section name="8교시" id="{578adde2-ac67-cabb-b9ad-254f0853081c}">
          <p14:sldIdLst>
            <p14:sldId id="268"/>
          </p14:sldIdLst>
        </p14:section>
        <p14:section name="정리" id="{0f065907-dfd3-2034-85c1-a288de0657f0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Neural Network 5일 과정 첫날. 프레임워크 없이 Python과 NumPy만으로 신경망 원리를 직접 구현하는 과정임을 강조한다.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5일 로드맵 표를 보여 주며 매일 무엇을 만드는지 연결한다. 런타임 재시작 실습을 한 번 직접 시켜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속도 비교 수치는 강사 검증 환경 기준(for 루프 578 ms, @ 3.8 ms). 학생 결과와 비교해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학습률 결과는 정답 노트북 실행 결과와 같다. 0.3 진동과 0.35 발산의 차이를 (1-6η) 로 설명하게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_TITL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_CONTENT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Neural Network Day 1 · HYUNDAI AI Insight Campus 온디바이스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NN-day1/anim/" TargetMode="External"/><Relationship Id="rId2" Type="http://schemas.openxmlformats.org/officeDocument/2006/relationships/hyperlink" Target="https://imguru-mooc.github.io/AI_CAMPUS/NN-day1/anim/index.html" TargetMode="External"/><Relationship Id="rId3" Type="http://schemas.openxmlformats.org/officeDocument/2006/relationships/hyperlink" Target="https://imguru-mooc.github.io/AI_CAMPUS/NN-day1/anim/worksheet.html" TargetMode="External"/><Relationship Id="rId4" Type="http://schemas.openxmlformats.org/officeDocument/2006/relationships/hyperlink" Target="https://colab.research.google.com/github/imguru-mooc/AI_CAMPUS/blob/main/NN-day1/NN_Day1_lecture.ipynb" TargetMode="External"/><Relationship Id="rId5" Type="http://schemas.openxmlformats.org/officeDocument/2006/relationships/hyperlink" Target="https://colab.research.google.com/github/imguru-mooc/AI_CAMPUS/blob/main/NN-day1/NN_Day1_project.ipynb" TargetMode="Externa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/>
          <p:nvPr/>
        </p:nvSpPr>
        <p:spPr>
          <a:xfrm>
            <a:off x="685800" y="1005840"/>
            <a:ext cx="109728" cy="292608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3" name="text_1"/>
          <p:cNvSpPr txBox="1"/>
          <p:nvPr/>
        </p:nvSpPr>
        <p:spPr>
          <a:xfrm>
            <a:off x="1051560" y="1005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Neural Network Day 1</a:t>
            </a:r>
            <a:endParaRPr lang="en-US" sz="4600" dirty="0"/>
          </a:p>
        </p:txBody>
      </p:sp>
      <p:sp>
        <p:nvSpPr>
          <p:cNvPr id="4" name="text_2"/>
          <p:cNvSpPr txBox="1"/>
          <p:nvPr/>
        </p:nvSpPr>
        <p:spPr>
          <a:xfrm>
            <a:off x="1051560" y="1920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Python · NumPy와 AI 수학</a:t>
            </a:r>
            <a:endParaRPr lang="en-US" sz="2600" dirty="0"/>
          </a:p>
        </p:txBody>
      </p:sp>
      <p:sp>
        <p:nvSpPr>
          <p:cNvPr id="5" name="text_3"/>
          <p:cNvSpPr txBox="1"/>
          <p:nvPr/>
        </p:nvSpPr>
        <p:spPr>
          <a:xfrm>
            <a:off x="105156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HYUNDAI AI Insight Campus · 온디바이스 AI · Neural Network 1/5</a:t>
            </a:r>
            <a:endParaRPr lang="en-US" sz="1500" dirty="0"/>
          </a:p>
        </p:txBody>
      </p:sp>
      <p:sp>
        <p:nvSpPr>
          <p:cNvPr id="6" name="text_4"/>
          <p:cNvSpPr txBox="1"/>
          <p:nvPr/>
        </p:nvSpPr>
        <p:spPr>
          <a:xfrm>
            <a:off x="105156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 10. 20 (화)  09:00–18:00  ·  8교시  ·  Google Colab</a:t>
            </a:r>
            <a:endParaRPr lang="en-US" sz="1300" dirty="0"/>
          </a:p>
        </p:txBody>
      </p:sp>
      <p:sp>
        <p:nvSpPr>
          <p:cNvPr id="7" name="tag_5"/>
          <p:cNvSpPr/>
          <p:nvPr/>
        </p:nvSpPr>
        <p:spPr>
          <a:xfrm>
            <a:off x="105156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_6"/>
          <p:cNvSpPr txBox="1"/>
          <p:nvPr/>
        </p:nvSpPr>
        <p:spPr>
          <a:xfrm>
            <a:off x="105156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Python</a:t>
            </a:r>
            <a:endParaRPr lang="en-US" sz="1100" dirty="0"/>
          </a:p>
        </p:txBody>
      </p:sp>
      <p:sp>
        <p:nvSpPr>
          <p:cNvPr id="9" name="tag_7"/>
          <p:cNvSpPr/>
          <p:nvPr/>
        </p:nvSpPr>
        <p:spPr>
          <a:xfrm>
            <a:off x="265176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_8"/>
          <p:cNvSpPr txBox="1"/>
          <p:nvPr/>
        </p:nvSpPr>
        <p:spPr>
          <a:xfrm>
            <a:off x="265176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NumPy</a:t>
            </a:r>
            <a:endParaRPr lang="en-US" sz="1100" dirty="0"/>
          </a:p>
        </p:txBody>
      </p:sp>
      <p:sp>
        <p:nvSpPr>
          <p:cNvPr id="11" name="tag_9"/>
          <p:cNvSpPr/>
          <p:nvPr/>
        </p:nvSpPr>
        <p:spPr>
          <a:xfrm>
            <a:off x="425196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2" name="text_10"/>
          <p:cNvSpPr txBox="1"/>
          <p:nvPr/>
        </p:nvSpPr>
        <p:spPr>
          <a:xfrm>
            <a:off x="425196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선형대수</a:t>
            </a:r>
            <a:endParaRPr lang="en-US" sz="1100" dirty="0"/>
          </a:p>
        </p:txBody>
      </p:sp>
      <p:sp>
        <p:nvSpPr>
          <p:cNvPr id="13" name="tag_11"/>
          <p:cNvSpPr/>
          <p:nvPr/>
        </p:nvSpPr>
        <p:spPr>
          <a:xfrm>
            <a:off x="585216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_12"/>
          <p:cNvSpPr txBox="1"/>
          <p:nvPr/>
        </p:nvSpPr>
        <p:spPr>
          <a:xfrm>
            <a:off x="585216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미분 · 기울기</a:t>
            </a:r>
            <a:endParaRPr lang="en-US" sz="1100" dirty="0"/>
          </a:p>
        </p:txBody>
      </p:sp>
      <p:sp>
        <p:nvSpPr>
          <p:cNvPr id="15" name="tag_13"/>
          <p:cNvSpPr/>
          <p:nvPr/>
        </p:nvSpPr>
        <p:spPr>
          <a:xfrm>
            <a:off x="745236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6" name="text_14"/>
          <p:cNvSpPr txBox="1"/>
          <p:nvPr/>
        </p:nvSpPr>
        <p:spPr>
          <a:xfrm>
            <a:off x="745236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확률</a:t>
            </a:r>
            <a:endParaRPr lang="en-US" sz="1100" dirty="0"/>
          </a:p>
        </p:txBody>
      </p:sp>
      <p:sp>
        <p:nvSpPr>
          <p:cNvPr id="17" name="tag_15"/>
          <p:cNvSpPr/>
          <p:nvPr/>
        </p:nvSpPr>
        <p:spPr>
          <a:xfrm>
            <a:off x="905256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_16"/>
          <p:cNvSpPr txBox="1"/>
          <p:nvPr/>
        </p:nvSpPr>
        <p:spPr>
          <a:xfrm>
            <a:off x="905256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경사하강</a:t>
            </a:r>
            <a:endParaRPr lang="en-US" sz="1100" dirty="0"/>
          </a:p>
        </p:txBody>
      </p:sp>
      <p:sp>
        <p:nvSpPr>
          <p:cNvPr id="19" name="text_17"/>
          <p:cNvSpPr txBox="1"/>
          <p:nvPr/>
        </p:nvSpPr>
        <p:spPr>
          <a:xfrm>
            <a:off x="105156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강사: 김정인 · 김구수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오늘의 학습 목표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수업이 끝나면 여러분은 다음을 할 수 있습니다</a:t>
            </a:r>
            <a:endParaRPr lang="en-US" sz="1300" dirty="0"/>
          </a:p>
        </p:txBody>
      </p:sp>
      <p:sp>
        <p:nvSpPr>
          <p:cNvPr id="4" name="panel_18"/>
          <p:cNvSpPr/>
          <p:nvPr/>
        </p:nvSpPr>
        <p:spPr>
          <a:xfrm>
            <a:off x="457200" y="1463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badge_19"/>
          <p:cNvSpPr/>
          <p:nvPr/>
        </p:nvSpPr>
        <p:spPr>
          <a:xfrm>
            <a:off x="685800" y="1737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Num_20"/>
          <p:cNvSpPr txBox="1"/>
          <p:nvPr/>
        </p:nvSpPr>
        <p:spPr>
          <a:xfrm>
            <a:off x="685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_21"/>
          <p:cNvSpPr txBox="1"/>
          <p:nvPr/>
        </p:nvSpPr>
        <p:spPr>
          <a:xfrm>
            <a:off x="1234440" y="1691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Colab · AI 개념</a:t>
            </a:r>
            <a:endParaRPr lang="en-US" sz="1700" dirty="0"/>
          </a:p>
        </p:txBody>
      </p:sp>
      <p:sp>
        <p:nvSpPr>
          <p:cNvPr id="8" name="text_22"/>
          <p:cNvSpPr txBox="1"/>
          <p:nvPr/>
        </p:nvSpPr>
        <p:spPr>
          <a:xfrm>
            <a:off x="1234440" y="21214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"학습 = 손실을 최소로 만드는 최적화"를 설명하고 Colab 노트북을 다룬다</a:t>
            </a:r>
            <a:endParaRPr lang="en-US" sz="1250" dirty="0"/>
          </a:p>
        </p:txBody>
      </p:sp>
      <p:sp>
        <p:nvSpPr>
          <p:cNvPr id="9" name="panel_23"/>
          <p:cNvSpPr/>
          <p:nvPr/>
        </p:nvSpPr>
        <p:spPr>
          <a:xfrm>
            <a:off x="6172200" y="1463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0" name="badge_24"/>
          <p:cNvSpPr/>
          <p:nvPr/>
        </p:nvSpPr>
        <p:spPr>
          <a:xfrm>
            <a:off x="6400800" y="1737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5"/>
          <p:cNvSpPr txBox="1"/>
          <p:nvPr/>
        </p:nvSpPr>
        <p:spPr>
          <a:xfrm>
            <a:off x="6400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_26"/>
          <p:cNvSpPr txBox="1"/>
          <p:nvPr/>
        </p:nvSpPr>
        <p:spPr>
          <a:xfrm>
            <a:off x="6949440" y="1691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Python 속성</a:t>
            </a:r>
            <a:endParaRPr lang="en-US" sz="1700" dirty="0"/>
          </a:p>
        </p:txBody>
      </p:sp>
      <p:sp>
        <p:nvSpPr>
          <p:cNvPr id="13" name="text_27"/>
          <p:cNvSpPr txBox="1"/>
          <p:nvPr/>
        </p:nvSpPr>
        <p:spPr>
          <a:xfrm>
            <a:off x="6949440" y="21214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 와 다른 점 — 동적 타입 · 참조 · 리스트 · 딕셔너리 · 클래스를 쓴다</a:t>
            </a:r>
            <a:endParaRPr lang="en-US" sz="1250" dirty="0"/>
          </a:p>
        </p:txBody>
      </p:sp>
      <p:sp>
        <p:nvSpPr>
          <p:cNvPr id="14" name="panel_28"/>
          <p:cNvSpPr/>
          <p:nvPr/>
        </p:nvSpPr>
        <p:spPr>
          <a:xfrm>
            <a:off x="457200" y="30632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5" name="badge_29"/>
          <p:cNvSpPr/>
          <p:nvPr/>
        </p:nvSpPr>
        <p:spPr>
          <a:xfrm>
            <a:off x="685800" y="333756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badgeNum_30"/>
          <p:cNvSpPr txBox="1"/>
          <p:nvPr/>
        </p:nvSpPr>
        <p:spPr>
          <a:xfrm>
            <a:off x="6858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_31"/>
          <p:cNvSpPr txBox="1"/>
          <p:nvPr/>
        </p:nvSpPr>
        <p:spPr>
          <a:xfrm>
            <a:off x="1234440" y="3291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NumPy ndarray</a:t>
            </a:r>
            <a:endParaRPr lang="en-US" sz="1700" dirty="0"/>
          </a:p>
        </p:txBody>
      </p:sp>
      <p:sp>
        <p:nvSpPr>
          <p:cNvPr id="18" name="text_32"/>
          <p:cNvSpPr txBox="1"/>
          <p:nvPr/>
        </p:nvSpPr>
        <p:spPr>
          <a:xfrm>
            <a:off x="1234440" y="37216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shape · axis · keepdims · 브로드캐스팅으로 배열 연산의 결과를 예측한다</a:t>
            </a:r>
            <a:endParaRPr lang="en-US" sz="1250" dirty="0"/>
          </a:p>
        </p:txBody>
      </p:sp>
      <p:sp>
        <p:nvSpPr>
          <p:cNvPr id="19" name="panel_33"/>
          <p:cNvSpPr/>
          <p:nvPr/>
        </p:nvSpPr>
        <p:spPr>
          <a:xfrm>
            <a:off x="6172200" y="30632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badge_34"/>
          <p:cNvSpPr/>
          <p:nvPr/>
        </p:nvSpPr>
        <p:spPr>
          <a:xfrm>
            <a:off x="6400800" y="333756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badgeNum_35"/>
          <p:cNvSpPr txBox="1"/>
          <p:nvPr/>
        </p:nvSpPr>
        <p:spPr>
          <a:xfrm>
            <a:off x="64008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_36"/>
          <p:cNvSpPr txBox="1"/>
          <p:nvPr/>
        </p:nvSpPr>
        <p:spPr>
          <a:xfrm>
            <a:off x="6949440" y="3291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벡터화 · 선형대수</a:t>
            </a:r>
            <a:endParaRPr lang="en-US" sz="1700" dirty="0"/>
          </a:p>
        </p:txBody>
      </p:sp>
      <p:sp>
        <p:nvSpPr>
          <p:cNvPr id="23" name="text_37"/>
          <p:cNvSpPr txBox="1"/>
          <p:nvPr/>
        </p:nvSpPr>
        <p:spPr>
          <a:xfrm>
            <a:off x="6949440" y="37216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for 루프 대신 @ 를 쓰고, X @ W + b 의 shape 를 추적한다</a:t>
            </a:r>
            <a:endParaRPr lang="en-US" sz="1250" dirty="0"/>
          </a:p>
        </p:txBody>
      </p:sp>
      <p:sp>
        <p:nvSpPr>
          <p:cNvPr id="24" name="panel_38"/>
          <p:cNvSpPr/>
          <p:nvPr/>
        </p:nvSpPr>
        <p:spPr>
          <a:xfrm>
            <a:off x="457200" y="46634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badge_39"/>
          <p:cNvSpPr/>
          <p:nvPr/>
        </p:nvSpPr>
        <p:spPr>
          <a:xfrm>
            <a:off x="685800" y="49377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badgeNum_40"/>
          <p:cNvSpPr txBox="1"/>
          <p:nvPr/>
        </p:nvSpPr>
        <p:spPr>
          <a:xfrm>
            <a:off x="6858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_41"/>
          <p:cNvSpPr txBox="1"/>
          <p:nvPr/>
        </p:nvSpPr>
        <p:spPr>
          <a:xfrm>
            <a:off x="1234440" y="4892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미분 · 기울기</a:t>
            </a:r>
            <a:endParaRPr lang="en-US" sz="1700" dirty="0"/>
          </a:p>
        </p:txBody>
      </p:sp>
      <p:sp>
        <p:nvSpPr>
          <p:cNvPr id="28" name="text_42"/>
          <p:cNvSpPr txBox="1"/>
          <p:nvPr/>
        </p:nvSpPr>
        <p:spPr>
          <a:xfrm>
            <a:off x="123444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중앙 차분과 numerical_gradient 를 구현하고 기울기 방향을 설명한다</a:t>
            </a:r>
            <a:endParaRPr lang="en-US" sz="1250" dirty="0"/>
          </a:p>
        </p:txBody>
      </p:sp>
      <p:sp>
        <p:nvSpPr>
          <p:cNvPr id="29" name="panel_43"/>
          <p:cNvSpPr/>
          <p:nvPr/>
        </p:nvSpPr>
        <p:spPr>
          <a:xfrm>
            <a:off x="6172200" y="46634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0" name="badge_44"/>
          <p:cNvSpPr/>
          <p:nvPr/>
        </p:nvSpPr>
        <p:spPr>
          <a:xfrm>
            <a:off x="6400800" y="493776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badgeNum_45"/>
          <p:cNvSpPr txBox="1"/>
          <p:nvPr/>
        </p:nvSpPr>
        <p:spPr>
          <a:xfrm>
            <a:off x="64008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_46"/>
          <p:cNvSpPr txBox="1"/>
          <p:nvPr/>
        </p:nvSpPr>
        <p:spPr>
          <a:xfrm>
            <a:off x="6949440" y="4892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경사하강 프로젝트</a:t>
            </a:r>
            <a:endParaRPr lang="en-US" sz="1700" dirty="0"/>
          </a:p>
        </p:txBody>
      </p:sp>
      <p:sp>
        <p:nvSpPr>
          <p:cNvPr id="33" name="text_47"/>
          <p:cNvSpPr txBox="1"/>
          <p:nvPr/>
        </p:nvSpPr>
        <p:spPr>
          <a:xfrm>
            <a:off x="694944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학습률에 따른 수렴 · 진동 · 발산을 실험으로 확인한다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시간표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8교시 × 50분 · 점심 12:00–13:00 · 오전 도구(Python · NumPy), 오후 수학(선형대수 · 미분 · 확률) → 경사하강 프로젝트</a:t>
            </a:r>
            <a:endParaRPr lang="en-US" sz="1300" dirty="0"/>
          </a:p>
        </p:txBody>
      </p:sp>
      <p:graphicFrame>
        <p:nvGraphicFramePr>
          <p:cNvPr id="4" name="tim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4663440"/>
                <a:gridCol w="1371600"/>
                <a:gridCol w="29535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교시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시간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주제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형태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애니메이션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09:00–09:50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과정 안내 · AI 개념 · Colab 사용법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 Colab 셀 실행 순서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10:00–10:50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 속성 (C 개발자용)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 변수 참조 모델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11:00–11:50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NumPy ndarray — shape · axis · 브로드캐스팅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D1-1 axis · D4-1 브로드캐스팅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13:00–13:50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벡터화 — for 루프 vs @ · 집계 함수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D1-2 행렬곱 추적기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14:00–14:50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선형대수 — 내적 · 노름 · 선형 변환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D1-3 선형 변환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15:00–15:50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미분과 기울기 — 중앙 차분 · numerical_gradient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D1-4 수치 미분 · D1-5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16:00–16:50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확률 기초 — 분포 · 표준화 · log/exp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D1-6 분포 · 표준화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17:00–17:50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 프로젝트 — 경사하강법 · 정리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D1-5 경사하강 등고선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 사용하는 학습 도구 3종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예측 → 애니메이션에서 확인 → Colab 노트북에서 코드로 검증 → 워크시트로 자기 점검</a:t>
            </a:r>
            <a:endParaRPr lang="en-US" sz="1300" dirty="0"/>
          </a:p>
        </p:txBody>
      </p:sp>
      <p:sp>
        <p:nvSpPr>
          <p:cNvPr id="4" name="panel_48"/>
          <p:cNvSpPr/>
          <p:nvPr/>
        </p:nvSpPr>
        <p:spPr>
          <a:xfrm>
            <a:off x="457200" y="1463040"/>
            <a:ext cx="3611880" cy="374904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text_49"/>
          <p:cNvSpPr txBox="1"/>
          <p:nvPr/>
        </p:nvSpPr>
        <p:spPr>
          <a:xfrm>
            <a:off x="68580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강의 노트북</a:t>
            </a:r>
            <a:endParaRPr lang="en-US" sz="1900" dirty="0"/>
          </a:p>
        </p:txBody>
      </p:sp>
      <p:sp>
        <p:nvSpPr>
          <p:cNvPr id="6" name="text_50"/>
          <p:cNvSpPr txBox="1"/>
          <p:nvPr/>
        </p:nvSpPr>
        <p:spPr>
          <a:xfrm>
            <a:off x="6858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NN_Day1_lecture.ipynb</a:t>
            </a:r>
            <a:endParaRPr lang="en-US" sz="1100" dirty="0"/>
          </a:p>
        </p:txBody>
      </p:sp>
      <p:sp>
        <p:nvSpPr>
          <p:cNvPr id="7" name="text_51"/>
          <p:cNvSpPr txBox="1"/>
          <p:nvPr/>
        </p:nvSpPr>
        <p:spPr>
          <a:xfrm>
            <a:off x="685800" y="256032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교시별 섹션 (## N교시)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개념 → 예제 → 빈칸 ____ → assert 확인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빈칸 35개 · 확인 셀이 ✅ 출력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정답본은 수업 후 공개</a:t>
            </a:r>
            <a:endParaRPr lang="en-US" sz="1300" dirty="0"/>
          </a:p>
        </p:txBody>
      </p:sp>
      <p:sp>
        <p:nvSpPr>
          <p:cNvPr id="8" name="panel_52"/>
          <p:cNvSpPr/>
          <p:nvPr/>
        </p:nvSpPr>
        <p:spPr>
          <a:xfrm>
            <a:off x="4251960" y="1463040"/>
            <a:ext cx="3611880" cy="374904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9" name="text_53"/>
          <p:cNvSpPr txBox="1"/>
          <p:nvPr/>
        </p:nvSpPr>
        <p:spPr>
          <a:xfrm>
            <a:off x="448056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애니메이션</a:t>
            </a:r>
            <a:endParaRPr lang="en-US" sz="1900" dirty="0"/>
          </a:p>
        </p:txBody>
      </p:sp>
      <p:sp>
        <p:nvSpPr>
          <p:cNvPr id="10" name="text_54"/>
          <p:cNvSpPr txBox="1"/>
          <p:nvPr/>
        </p:nvSpPr>
        <p:spPr>
          <a:xfrm>
            <a:off x="448056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anim/index.html</a:t>
            </a:r>
            <a:endParaRPr lang="en-US" sz="1100" dirty="0"/>
          </a:p>
        </p:txBody>
      </p:sp>
      <p:sp>
        <p:nvSpPr>
          <p:cNvPr id="11" name="text_55"/>
          <p:cNvSpPr txBox="1"/>
          <p:nvPr/>
        </p:nvSpPr>
        <p:spPr>
          <a:xfrm>
            <a:off x="4480560" y="256032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신규 6개 (D1-1 ~ D1-6)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재사용 3개 (python 과정)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프리셋 · 슬라이더로 직접 조작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교시 시작 전 예측 → 확인</a:t>
            </a:r>
            <a:endParaRPr lang="en-US" sz="1300" dirty="0"/>
          </a:p>
        </p:txBody>
      </p:sp>
      <p:sp>
        <p:nvSpPr>
          <p:cNvPr id="12" name="panel_56"/>
          <p:cNvSpPr/>
          <p:nvPr/>
        </p:nvSpPr>
        <p:spPr>
          <a:xfrm>
            <a:off x="8046720" y="1463040"/>
            <a:ext cx="3611880" cy="374904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3" name="text_57"/>
          <p:cNvSpPr txBox="1"/>
          <p:nvPr/>
        </p:nvSpPr>
        <p:spPr>
          <a:xfrm>
            <a:off x="827532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개념 워크시트</a:t>
            </a:r>
            <a:endParaRPr lang="en-US" sz="1900" dirty="0"/>
          </a:p>
        </p:txBody>
      </p:sp>
      <p:sp>
        <p:nvSpPr>
          <p:cNvPr id="14" name="text_58"/>
          <p:cNvSpPr txBox="1"/>
          <p:nvPr/>
        </p:nvSpPr>
        <p:spPr>
          <a:xfrm>
            <a:off x="827532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anim/worksheet.html</a:t>
            </a:r>
            <a:endParaRPr lang="en-US" sz="1100" dirty="0"/>
          </a:p>
        </p:txBody>
      </p:sp>
      <p:sp>
        <p:nvSpPr>
          <p:cNvPr id="15" name="text_59"/>
          <p:cNvSpPr txBox="1"/>
          <p:nvPr/>
        </p:nvSpPr>
        <p:spPr>
          <a:xfrm>
            <a:off x="8275320" y="256032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교시당 10문항 × 8교시 = 80문항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채점 후 해설 · 결과 코드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제출 → 오답 정리 캡처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노션에 붙여 넣어 제출</a:t>
            </a:r>
            <a:endParaRPr lang="en-US" sz="1300" dirty="0"/>
          </a:p>
        </p:txBody>
      </p:sp>
      <p:sp>
        <p:nvSpPr>
          <p:cNvPr id="16" name="flow_60"/>
          <p:cNvSpPr/>
          <p:nvPr/>
        </p:nvSpPr>
        <p:spPr>
          <a:xfrm>
            <a:off x="457200" y="553212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111A2E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17" name="text_61"/>
          <p:cNvSpPr txBox="1"/>
          <p:nvPr/>
        </p:nvSpPr>
        <p:spPr>
          <a:xfrm>
            <a:off x="457200" y="5532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예측</a:t>
            </a:r>
            <a:endParaRPr lang="en-US" sz="1300" dirty="0"/>
          </a:p>
        </p:txBody>
      </p:sp>
      <p:sp>
        <p:nvSpPr>
          <p:cNvPr id="18" name="text_62"/>
          <p:cNvSpPr txBox="1"/>
          <p:nvPr/>
        </p:nvSpPr>
        <p:spPr>
          <a:xfrm>
            <a:off x="2907792" y="5532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flow_63"/>
          <p:cNvSpPr/>
          <p:nvPr/>
        </p:nvSpPr>
        <p:spPr>
          <a:xfrm>
            <a:off x="3337560" y="553212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111A2E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0" name="text_64"/>
          <p:cNvSpPr txBox="1"/>
          <p:nvPr/>
        </p:nvSpPr>
        <p:spPr>
          <a:xfrm>
            <a:off x="3337560" y="5532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애니메이션 확인</a:t>
            </a:r>
            <a:endParaRPr lang="en-US" sz="1300" dirty="0"/>
          </a:p>
        </p:txBody>
      </p:sp>
      <p:sp>
        <p:nvSpPr>
          <p:cNvPr id="21" name="text_65"/>
          <p:cNvSpPr txBox="1"/>
          <p:nvPr/>
        </p:nvSpPr>
        <p:spPr>
          <a:xfrm>
            <a:off x="5788152" y="5532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flow_66"/>
          <p:cNvSpPr/>
          <p:nvPr/>
        </p:nvSpPr>
        <p:spPr>
          <a:xfrm>
            <a:off x="6217920" y="553212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111A2E"/>
          </a:solidFill>
          <a:ln w="15875">
            <a:solidFill>
              <a:srgbClr val="F5B942"/>
            </a:solidFill>
            <a:prstDash val="solid"/>
          </a:ln>
        </p:spPr>
      </p:sp>
      <p:sp>
        <p:nvSpPr>
          <p:cNvPr id="23" name="text_67"/>
          <p:cNvSpPr txBox="1"/>
          <p:nvPr/>
        </p:nvSpPr>
        <p:spPr>
          <a:xfrm>
            <a:off x="6217920" y="5532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코드 검증</a:t>
            </a:r>
            <a:endParaRPr lang="en-US" sz="1300" dirty="0"/>
          </a:p>
        </p:txBody>
      </p:sp>
      <p:sp>
        <p:nvSpPr>
          <p:cNvPr id="24" name="text_68"/>
          <p:cNvSpPr txBox="1"/>
          <p:nvPr/>
        </p:nvSpPr>
        <p:spPr>
          <a:xfrm>
            <a:off x="8668512" y="5532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flow_69"/>
          <p:cNvSpPr/>
          <p:nvPr/>
        </p:nvSpPr>
        <p:spPr>
          <a:xfrm>
            <a:off x="9098280" y="553212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111A2E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26" name="text_70"/>
          <p:cNvSpPr txBox="1"/>
          <p:nvPr/>
        </p:nvSpPr>
        <p:spPr>
          <a:xfrm>
            <a:off x="9098280" y="5532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워크시트 채점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온라인 자료 링크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브라우저에서 바로 열립니다 — 설치 없음 · 노트북은 "Drive에 사본 저장" 후 작업</a:t>
            </a:r>
            <a:endParaRPr lang="en-US" sz="1300" dirty="0"/>
          </a:p>
        </p:txBody>
      </p:sp>
      <p:sp>
        <p:nvSpPr>
          <p:cNvPr id="4" name="panel_71"/>
          <p:cNvSpPr/>
          <p:nvPr/>
        </p:nvSpPr>
        <p:spPr>
          <a:xfrm>
            <a:off x="457200" y="1463040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text_72"/>
          <p:cNvSpPr txBox="1"/>
          <p:nvPr/>
        </p:nvSpPr>
        <p:spPr>
          <a:xfrm>
            <a:off x="68580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기본 주소 (Day 1)</a:t>
            </a:r>
            <a:endParaRPr lang="en-US" sz="1200" dirty="0"/>
          </a:p>
        </p:txBody>
      </p:sp>
      <p:sp>
        <p:nvSpPr>
          <p:cNvPr id="6" name="text_73"/>
          <p:cNvSpPr txBox="1"/>
          <p:nvPr/>
        </p:nvSpPr>
        <p:spPr>
          <a:xfrm>
            <a:off x="685800" y="1920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https://imguru-mooc.github.io/AI_CAMPUS/NN-day1/anim/</a:t>
            </a:r>
            <a:endParaRPr lang="en-US" sz="1800" dirty="0"/>
          </a:p>
        </p:txBody>
      </p:sp>
      <p:sp>
        <p:nvSpPr>
          <p:cNvPr id="7" name="panel_74"/>
          <p:cNvSpPr/>
          <p:nvPr/>
        </p:nvSpPr>
        <p:spPr>
          <a:xfrm>
            <a:off x="457200" y="278892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8" name="text_75"/>
          <p:cNvSpPr txBox="1"/>
          <p:nvPr/>
        </p:nvSpPr>
        <p:spPr>
          <a:xfrm>
            <a:off x="685800" y="2788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index.html</a:t>
            </a:r>
            <a:endParaRPr lang="en-US" sz="1400" dirty="0"/>
          </a:p>
        </p:txBody>
      </p:sp>
      <p:sp>
        <p:nvSpPr>
          <p:cNvPr id="9" name="text_76"/>
          <p:cNvSpPr txBox="1"/>
          <p:nvPr/>
        </p:nvSpPr>
        <p:spPr>
          <a:xfrm>
            <a:off x="4663440" y="2788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Day 1 애니메이션 목차 (신규 6 + 재사용 3)</a:t>
            </a:r>
            <a:endParaRPr lang="en-US" sz="1300" dirty="0"/>
          </a:p>
        </p:txBody>
      </p:sp>
      <p:sp>
        <p:nvSpPr>
          <p:cNvPr id="10" name="panel_77"/>
          <p:cNvSpPr/>
          <p:nvPr/>
        </p:nvSpPr>
        <p:spPr>
          <a:xfrm>
            <a:off x="457200" y="356616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1" name="text_78"/>
          <p:cNvSpPr txBox="1"/>
          <p:nvPr/>
        </p:nvSpPr>
        <p:spPr>
          <a:xfrm>
            <a:off x="685800" y="3566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400" dirty="0"/>
          </a:p>
        </p:txBody>
      </p:sp>
      <p:sp>
        <p:nvSpPr>
          <p:cNvPr id="12" name="text_79"/>
          <p:cNvSpPr txBox="1"/>
          <p:nvPr/>
        </p:nvSpPr>
        <p:spPr>
          <a:xfrm>
            <a:off x="4663440" y="3566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Day 1 개념 워크시트 (80문항)</a:t>
            </a:r>
            <a:endParaRPr lang="en-US" sz="1300" dirty="0"/>
          </a:p>
        </p:txBody>
      </p:sp>
      <p:sp>
        <p:nvSpPr>
          <p:cNvPr id="13" name="panel_80"/>
          <p:cNvSpPr/>
          <p:nvPr/>
        </p:nvSpPr>
        <p:spPr>
          <a:xfrm>
            <a:off x="457200" y="434340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4" name="text_81"/>
          <p:cNvSpPr txBox="1"/>
          <p:nvPr/>
        </p:nvSpPr>
        <p:spPr>
          <a:xfrm>
            <a:off x="685800" y="4343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NN_Day1_lecture.ipynb</a:t>
            </a:r>
            <a:endParaRPr lang="en-US" sz="1400" dirty="0"/>
          </a:p>
        </p:txBody>
      </p:sp>
      <p:sp>
        <p:nvSpPr>
          <p:cNvPr id="15" name="text_82"/>
          <p:cNvSpPr txBox="1"/>
          <p:nvPr/>
        </p:nvSpPr>
        <p:spPr>
          <a:xfrm>
            <a:off x="4663440" y="43434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강의 노트북 — Open in Colab</a:t>
            </a:r>
            <a:endParaRPr lang="en-US" sz="1300" dirty="0"/>
          </a:p>
        </p:txBody>
      </p:sp>
      <p:sp>
        <p:nvSpPr>
          <p:cNvPr id="16" name="panel_83"/>
          <p:cNvSpPr/>
          <p:nvPr/>
        </p:nvSpPr>
        <p:spPr>
          <a:xfrm>
            <a:off x="457200" y="512064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7" name="text_84"/>
          <p:cNvSpPr txBox="1"/>
          <p:nvPr/>
        </p:nvSpPr>
        <p:spPr>
          <a:xfrm>
            <a:off x="685800" y="5120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NN_Day1_project.ipynb</a:t>
            </a:r>
            <a:endParaRPr lang="en-US" sz="1400" dirty="0"/>
          </a:p>
        </p:txBody>
      </p:sp>
      <p:sp>
        <p:nvSpPr>
          <p:cNvPr id="18" name="text_85"/>
          <p:cNvSpPr txBox="1"/>
          <p:nvPr/>
        </p:nvSpPr>
        <p:spPr>
          <a:xfrm>
            <a:off x="4663440" y="5120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8교시 미니 프로젝트 — Open in Colab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86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adgeNum_87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4" name="text_88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과정 안내 · AI 개념 · Colab 사용법</a:t>
            </a:r>
            <a:endParaRPr lang="en-US" sz="2600" dirty="0"/>
          </a:p>
        </p:txBody>
      </p:sp>
      <p:sp>
        <p:nvSpPr>
          <p:cNvPr id="5" name="text_89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09:00–09:50</a:t>
            </a:r>
            <a:endParaRPr lang="en-US" sz="1200" dirty="0"/>
          </a:p>
        </p:txBody>
      </p:sp>
      <p:sp>
        <p:nvSpPr>
          <p:cNvPr id="6" name="panel_90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91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92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⊃ 머신러닝 ⊃ 딥러닝 관계를 설명한다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학습 = 손실을 최소로 만드는 파라미터 찾기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5일 로드맵: 도구 → 순전파 → 역전파 → 학습 기법 → CNN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Colab 셀 · 런타임 · 단축키 · ! / % 명령을 쓴다</a:t>
            </a:r>
            <a:endParaRPr lang="en-US" sz="1300" dirty="0"/>
          </a:p>
        </p:txBody>
      </p:sp>
      <p:sp>
        <p:nvSpPr>
          <p:cNvPr id="9" name="text_93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94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95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96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in Colab → Drive에 사본 저장</a:t>
            </a:r>
            <a:endParaRPr lang="en-US" sz="1150" dirty="0"/>
          </a:p>
        </p:txBody>
      </p:sp>
      <p:sp>
        <p:nvSpPr>
          <p:cNvPr id="13" name="badge_97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98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99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환경 셀 실행 · Drive 마운트</a:t>
            </a:r>
            <a:endParaRPr lang="en-US" sz="1150" dirty="0"/>
          </a:p>
        </p:txBody>
      </p:sp>
      <p:sp>
        <p:nvSpPr>
          <p:cNvPr id="16" name="badge_100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101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102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연습 1-1  %timeit 측정</a:t>
            </a:r>
            <a:endParaRPr lang="en-US" sz="1150" dirty="0"/>
          </a:p>
        </p:txBody>
      </p:sp>
      <p:sp>
        <p:nvSpPr>
          <p:cNvPr id="19" name="animTag_103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104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07 Colab 셀 실행 순서 (재사용)</a:t>
            </a:r>
            <a:endParaRPr lang="en-US" sz="1100" dirty="0"/>
          </a:p>
        </p:txBody>
      </p:sp>
      <p:sp>
        <p:nvSpPr>
          <p:cNvPr id="21" name="panel_105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106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107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학습의 정의</a:t>
            </a:r>
            <a:endParaRPr lang="en-US" sz="1250" dirty="0"/>
          </a:p>
        </p:txBody>
      </p:sp>
      <p:sp>
        <p:nvSpPr>
          <p:cNvPr id="24" name="codebg_108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109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θ* = argmin L(θ)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손실 L 을 가장 작게 만드는 파라미터 θ</a:t>
            </a:r>
            <a:endParaRPr lang="en-US" sz="1300" dirty="0"/>
          </a:p>
        </p:txBody>
      </p:sp>
      <p:sp>
        <p:nvSpPr>
          <p:cNvPr id="26" name="text_110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셸 명령</a:t>
            </a:r>
            <a:endParaRPr lang="en-US" sz="1250" dirty="0"/>
          </a:p>
        </p:txBody>
      </p:sp>
      <p:sp>
        <p:nvSpPr>
          <p:cNvPr id="27" name="codebg_111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112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 --version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!nproc</a:t>
            </a:r>
            <a:endParaRPr lang="en-US" sz="1300" dirty="0"/>
          </a:p>
        </p:txBody>
      </p:sp>
      <p:sp>
        <p:nvSpPr>
          <p:cNvPr id="29" name="text_113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시간 측정</a:t>
            </a:r>
            <a:endParaRPr lang="en-US" sz="1250" dirty="0"/>
          </a:p>
        </p:txBody>
      </p:sp>
      <p:sp>
        <p:nvSpPr>
          <p:cNvPr id="30" name="codebg_114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115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%timeit sum(range(1000))</a:t>
            </a:r>
            <a:endParaRPr lang="en-US" sz="1300" dirty="0"/>
          </a:p>
        </p:txBody>
      </p:sp>
      <p:sp>
        <p:nvSpPr>
          <p:cNvPr id="32" name="text_116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환경 셀</a:t>
            </a:r>
            <a:endParaRPr lang="en-US" sz="1250" dirty="0"/>
          </a:p>
        </p:txBody>
      </p:sp>
      <p:sp>
        <p:nvSpPr>
          <p:cNvPr id="33" name="codebg_117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118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 = np.random.default_rng(42)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drive.mount('/content/drive')</a:t>
            </a:r>
            <a:endParaRPr lang="en-US" sz="1300" dirty="0"/>
          </a:p>
        </p:txBody>
      </p:sp>
      <p:sp>
        <p:nvSpPr>
          <p:cNvPr id="35" name="text_119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120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런타임이 끊기면 변수가 모두 사라진다 → 환경 셀부터 다시 실행. 셀 실행 번호가 실제 실행 순서다.</a:t>
            </a:r>
            <a:endParaRPr lang="en-US" sz="1150" dirty="0"/>
          </a:p>
        </p:txBody>
      </p:sp>
      <p:sp>
        <p:nvSpPr>
          <p:cNvPr id="38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9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121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badgeNum_122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4" name="text_123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Python 속성 — C 개발자를 위한 정리</a:t>
            </a:r>
            <a:endParaRPr lang="en-US" sz="2600" dirty="0"/>
          </a:p>
        </p:txBody>
      </p:sp>
      <p:sp>
        <p:nvSpPr>
          <p:cNvPr id="5" name="text_124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10:00–10:50</a:t>
            </a:r>
            <a:endParaRPr lang="en-US" sz="1200" dirty="0"/>
          </a:p>
        </p:txBody>
      </p:sp>
      <p:sp>
        <p:nvSpPr>
          <p:cNvPr id="6" name="panel_125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126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127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동적 타입: 변수는 객체를 가리키는 이름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 = a 는 복사가 아닌 참조 → .copy()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리스트 · 딕셔너리 · 함수 · 클래스(self = this)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 코드를 Python 한 줄로 바꿔 쓴다</a:t>
            </a:r>
            <a:endParaRPr lang="en-US" sz="1300" dirty="0"/>
          </a:p>
        </p:txBody>
      </p:sp>
      <p:sp>
        <p:nvSpPr>
          <p:cNvPr id="9" name="text_128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129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130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131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2-1 ~ 2-3  합계 · 교환 · 클래스</a:t>
            </a:r>
            <a:endParaRPr lang="en-US" sz="1150" dirty="0"/>
          </a:p>
        </p:txBody>
      </p:sp>
      <p:sp>
        <p:nvSpPr>
          <p:cNvPr id="13" name="badge_132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133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134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2-4  참조 vs copy()</a:t>
            </a:r>
            <a:endParaRPr lang="en-US" sz="1150" dirty="0"/>
          </a:p>
        </p:txBody>
      </p:sp>
      <p:sp>
        <p:nvSpPr>
          <p:cNvPr id="16" name="badge_135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136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137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2-5 · 보너스  get · 컴프리헨션</a:t>
            </a:r>
            <a:endParaRPr lang="en-US" sz="1150" dirty="0"/>
          </a:p>
        </p:txBody>
      </p:sp>
      <p:sp>
        <p:nvSpPr>
          <p:cNvPr id="19" name="animTag_138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139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02 변수 참조 모델 (재사용)</a:t>
            </a:r>
            <a:endParaRPr lang="en-US" sz="1100" dirty="0"/>
          </a:p>
        </p:txBody>
      </p:sp>
      <p:sp>
        <p:nvSpPr>
          <p:cNvPr id="21" name="panel_140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141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142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동적 타입</a:t>
            </a:r>
            <a:endParaRPr lang="en-US" sz="1250" dirty="0"/>
          </a:p>
        </p:txBody>
      </p:sp>
      <p:sp>
        <p:nvSpPr>
          <p:cNvPr id="24" name="codebg_143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144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3; x = "three"   # 타입은 객체에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** 100              # overflow 없음</a:t>
            </a:r>
            <a:endParaRPr lang="en-US" sz="1300" dirty="0"/>
          </a:p>
        </p:txBody>
      </p:sp>
      <p:sp>
        <p:nvSpPr>
          <p:cNvPr id="26" name="text_145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참조</a:t>
            </a:r>
            <a:endParaRPr lang="en-US" sz="1250" dirty="0"/>
          </a:p>
        </p:txBody>
      </p:sp>
      <p:sp>
        <p:nvSpPr>
          <p:cNvPr id="27" name="codebg_146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147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a; b.append(4)   # a 도 바뀜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a.copy()         # 독립 사본</a:t>
            </a:r>
            <a:endParaRPr lang="en-US" sz="1300" dirty="0"/>
          </a:p>
        </p:txBody>
      </p:sp>
      <p:sp>
        <p:nvSpPr>
          <p:cNvPr id="29" name="text_148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교환 · 합계</a:t>
            </a:r>
            <a:endParaRPr lang="en-US" sz="1250" dirty="0"/>
          </a:p>
        </p:txBody>
      </p:sp>
      <p:sp>
        <p:nvSpPr>
          <p:cNvPr id="30" name="codebg_149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150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= b,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sum(range(1, 101))  # 5050</a:t>
            </a:r>
            <a:endParaRPr lang="en-US" sz="1300" dirty="0"/>
          </a:p>
        </p:txBody>
      </p:sp>
      <p:sp>
        <p:nvSpPr>
          <p:cNvPr id="32" name="text_151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딕셔너리</a:t>
            </a:r>
            <a:endParaRPr lang="en-US" sz="1250" dirty="0"/>
          </a:p>
        </p:txBody>
      </p:sp>
      <p:sp>
        <p:nvSpPr>
          <p:cNvPr id="33" name="codebg_152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153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counts[w] = counts.get(w, 0) + 1</a:t>
            </a:r>
            <a:endParaRPr lang="en-US" sz="1300" dirty="0"/>
          </a:p>
        </p:txBody>
      </p:sp>
      <p:sp>
        <p:nvSpPr>
          <p:cNvPr id="35" name="text_154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155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참조 규칙은 NumPy 배열도 같다 — Day 3 에서 W.copy() 를 빼먹으면 원본 가중치가 바뀐다.</a:t>
            </a:r>
            <a:endParaRPr lang="en-US" sz="1150" dirty="0"/>
          </a:p>
        </p:txBody>
      </p:sp>
      <p:sp>
        <p:nvSpPr>
          <p:cNvPr id="37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8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156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badgeNum_157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4" name="text_158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NumPy ndarray — shape · axis · 브로드캐스팅</a:t>
            </a:r>
            <a:endParaRPr lang="en-US" sz="2600" dirty="0"/>
          </a:p>
        </p:txBody>
      </p:sp>
      <p:sp>
        <p:nvSpPr>
          <p:cNvPr id="5" name="text_159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11:00–11:50</a:t>
            </a:r>
            <a:endParaRPr lang="en-US" sz="1200" dirty="0"/>
          </a:p>
        </p:txBody>
      </p:sp>
      <p:sp>
        <p:nvSpPr>
          <p:cNvPr id="6" name="panel_160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161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162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ndim · shape · size · dtype 을 읽는다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인덱싱 · 슬라이싱 · reshape(-1) · 불리언 마스크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axis = "사라지는 축", keepdims 로 크기 1 유지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브로드캐스팅: 뒤 축부터 같거나 1 이면 결합</a:t>
            </a:r>
            <a:endParaRPr lang="en-US" sz="1300" dirty="0"/>
          </a:p>
        </p:txBody>
      </p:sp>
      <p:sp>
        <p:nvSpPr>
          <p:cNvPr id="9" name="text_163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164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165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166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인덱싱 · 슬라이싱 출력 예측</a:t>
            </a:r>
            <a:endParaRPr lang="en-US" sz="1150" dirty="0"/>
          </a:p>
        </p:txBody>
      </p:sp>
      <p:sp>
        <p:nvSpPr>
          <p:cNvPr id="13" name="badge_167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168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169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shape 맞히기 10문제 (자동 채점)</a:t>
            </a:r>
            <a:endParaRPr lang="en-US" sz="1150" dirty="0"/>
          </a:p>
        </p:txBody>
      </p:sp>
      <p:sp>
        <p:nvSpPr>
          <p:cNvPr id="16" name="badge_170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171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172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 + b 로 행마다 편향 더하기</a:t>
            </a:r>
            <a:endParaRPr lang="en-US" sz="1150" dirty="0"/>
          </a:p>
        </p:txBody>
      </p:sp>
      <p:sp>
        <p:nvSpPr>
          <p:cNvPr id="19" name="animTag_173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174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D1-1 axis · keepdims / D4-1 브로드캐스팅</a:t>
            </a:r>
            <a:endParaRPr lang="en-US" sz="1100" dirty="0"/>
          </a:p>
        </p:txBody>
      </p:sp>
      <p:sp>
        <p:nvSpPr>
          <p:cNvPr id="21" name="panel_175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176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177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axis</a:t>
            </a:r>
            <a:endParaRPr lang="en-US" sz="1250" dirty="0"/>
          </a:p>
        </p:txBody>
      </p:sp>
      <p:sp>
        <p:nvSpPr>
          <p:cNvPr id="24" name="codebg_178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179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np.zeros((3, 4))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A.sum(axis=0).shape   # (4,)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A.sum(axis=1).shape   # (3,)</a:t>
            </a:r>
            <a:endParaRPr lang="en-US" sz="1300" dirty="0"/>
          </a:p>
        </p:txBody>
      </p:sp>
      <p:sp>
        <p:nvSpPr>
          <p:cNvPr id="26" name="text_180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keepdims</a:t>
            </a:r>
            <a:endParaRPr lang="en-US" sz="1250" dirty="0"/>
          </a:p>
        </p:txBody>
      </p:sp>
      <p:sp>
        <p:nvSpPr>
          <p:cNvPr id="27" name="codebg_181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182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A.sum(axis=1, keepdims=True).shape  # (3, 1)</a:t>
            </a:r>
            <a:endParaRPr lang="en-US" sz="1300" dirty="0"/>
          </a:p>
        </p:txBody>
      </p:sp>
      <p:sp>
        <p:nvSpPr>
          <p:cNvPr id="29" name="text_183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브로드캐스팅</a:t>
            </a:r>
            <a:endParaRPr lang="en-US" sz="1250" dirty="0"/>
          </a:p>
        </p:txBody>
      </p:sp>
      <p:sp>
        <p:nvSpPr>
          <p:cNvPr id="30" name="codebg_184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185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(3,4) + (4,)   → (3,4)   # + 편향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(3,1) + (1,4)  → (3,4)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(3,4) + (3,)   → ValueError</a:t>
            </a:r>
            <a:endParaRPr lang="en-US" sz="1300" dirty="0"/>
          </a:p>
        </p:txBody>
      </p:sp>
      <p:sp>
        <p:nvSpPr>
          <p:cNvPr id="32" name="text_186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마스크</a:t>
            </a:r>
            <a:endParaRPr lang="en-US" sz="1250" dirty="0"/>
          </a:p>
        </p:txBody>
      </p:sp>
      <p:sp>
        <p:nvSpPr>
          <p:cNvPr id="33" name="codebg_187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188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A[A &gt; 6]   # Day 3 ReLU mask</a:t>
            </a:r>
            <a:endParaRPr lang="en-US" sz="1300" dirty="0"/>
          </a:p>
        </p:txBody>
      </p:sp>
      <p:sp>
        <p:nvSpPr>
          <p:cNvPr id="35" name="text_189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190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배열을 받으면 먼저 shape 를 출력한다 — NumPy 오류의 대부분은 모양 문제다.</a:t>
            </a:r>
            <a:endParaRPr lang="en-US" sz="1150" dirty="0"/>
          </a:p>
        </p:txBody>
      </p:sp>
      <p:sp>
        <p:nvSpPr>
          <p:cNvPr id="37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8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191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badgeNum_192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4" name="text_193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벡터화 — for 루프 vs @</a:t>
            </a:r>
            <a:endParaRPr lang="en-US" sz="2600" dirty="0"/>
          </a:p>
        </p:txBody>
      </p:sp>
      <p:sp>
        <p:nvSpPr>
          <p:cNvPr id="5" name="text_194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13:00–13:50</a:t>
            </a:r>
            <a:endParaRPr lang="en-US" sz="1200" dirty="0"/>
          </a:p>
        </p:txBody>
      </p:sp>
      <p:sp>
        <p:nvSpPr>
          <p:cNvPr id="6" name="panel_195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196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197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반복문이 NumPy 내부 C · BLAS 로 들어간다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3중 for 루프 행렬곱으로 C_ij = Σ A_ik B_kj 이해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200×200 행렬곱 속도 비교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mean · sum · argmax 의 axis 를 고른다</a:t>
            </a:r>
            <a:endParaRPr lang="en-US" sz="1300" dirty="0"/>
          </a:p>
        </p:txBody>
      </p:sp>
      <p:sp>
        <p:nvSpPr>
          <p:cNvPr id="9" name="text_198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199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00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201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4-1  matmul_loop 완성</a:t>
            </a:r>
            <a:endParaRPr lang="en-US" sz="1150" dirty="0"/>
          </a:p>
        </p:txBody>
      </p:sp>
      <p:sp>
        <p:nvSpPr>
          <p:cNvPr id="13" name="badge_202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203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204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for 루프 vs @ · %timeit 측정</a:t>
            </a:r>
            <a:endParaRPr lang="en-US" sz="1150" dirty="0"/>
          </a:p>
        </p:txBody>
      </p:sp>
      <p:sp>
        <p:nvSpPr>
          <p:cNvPr id="16" name="badge_205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206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207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4-2  점수표 집계</a:t>
            </a:r>
            <a:endParaRPr lang="en-US" sz="1150" dirty="0"/>
          </a:p>
        </p:txBody>
      </p:sp>
      <p:sp>
        <p:nvSpPr>
          <p:cNvPr id="19" name="animTag_208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209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D1-2 행렬곱 추적기</a:t>
            </a:r>
            <a:endParaRPr lang="en-US" sz="1100" dirty="0"/>
          </a:p>
        </p:txBody>
      </p:sp>
      <p:sp>
        <p:nvSpPr>
          <p:cNvPr id="21" name="panel_210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211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212"/>
          <p:cNvSpPr txBox="1"/>
          <p:nvPr/>
        </p:nvSpPr>
        <p:spPr>
          <a:xfrm>
            <a:off x="5047488" y="164592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행렬곱 정의</a:t>
            </a:r>
            <a:endParaRPr lang="en-US" sz="1250" dirty="0"/>
          </a:p>
        </p:txBody>
      </p:sp>
      <p:sp>
        <p:nvSpPr>
          <p:cNvPr id="24" name="codebg_213"/>
          <p:cNvSpPr/>
          <p:nvPr/>
        </p:nvSpPr>
        <p:spPr>
          <a:xfrm>
            <a:off x="6446520" y="164592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214"/>
          <p:cNvSpPr txBox="1"/>
          <p:nvPr/>
        </p:nvSpPr>
        <p:spPr>
          <a:xfrm>
            <a:off x="6556248" y="170078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C[i][j] += A[i][k] * B[k][j]</a:t>
            </a:r>
            <a:endParaRPr lang="en-US" sz="1300" dirty="0"/>
          </a:p>
        </p:txBody>
      </p:sp>
      <p:sp>
        <p:nvSpPr>
          <p:cNvPr id="26" name="text_215"/>
          <p:cNvSpPr txBox="1"/>
          <p:nvPr/>
        </p:nvSpPr>
        <p:spPr>
          <a:xfrm>
            <a:off x="5047488" y="284988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속도 비교</a:t>
            </a:r>
            <a:endParaRPr lang="en-US" sz="1250" dirty="0"/>
          </a:p>
        </p:txBody>
      </p:sp>
      <p:sp>
        <p:nvSpPr>
          <p:cNvPr id="27" name="codebg_216"/>
          <p:cNvSpPr/>
          <p:nvPr/>
        </p:nvSpPr>
        <p:spPr>
          <a:xfrm>
            <a:off x="6446520" y="284988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217"/>
          <p:cNvSpPr txBox="1"/>
          <p:nvPr/>
        </p:nvSpPr>
        <p:spPr>
          <a:xfrm>
            <a:off x="6556248" y="290474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루프 : ~580 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@ B    : ~4 ms   → 약 150배</a:t>
            </a:r>
            <a:endParaRPr lang="en-US" sz="1300" dirty="0"/>
          </a:p>
        </p:txBody>
      </p:sp>
      <p:sp>
        <p:nvSpPr>
          <p:cNvPr id="29" name="text_218"/>
          <p:cNvSpPr txBox="1"/>
          <p:nvPr/>
        </p:nvSpPr>
        <p:spPr>
          <a:xfrm>
            <a:off x="5047488" y="405384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집계</a:t>
            </a:r>
            <a:endParaRPr lang="en-US" sz="1250" dirty="0"/>
          </a:p>
        </p:txBody>
      </p:sp>
      <p:sp>
        <p:nvSpPr>
          <p:cNvPr id="30" name="codebg_219"/>
          <p:cNvSpPr/>
          <p:nvPr/>
        </p:nvSpPr>
        <p:spPr>
          <a:xfrm>
            <a:off x="6446520" y="405384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220"/>
          <p:cNvSpPr txBox="1"/>
          <p:nvPr/>
        </p:nvSpPr>
        <p:spPr>
          <a:xfrm>
            <a:off x="6556248" y="410870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scores.mean(axis=0)     # 과목별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scores.sum(axis=1)      # 학생별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np.argmax(total)        # 1등</a:t>
            </a:r>
            <a:endParaRPr lang="en-US" sz="1300" dirty="0"/>
          </a:p>
        </p:txBody>
      </p:sp>
      <p:sp>
        <p:nvSpPr>
          <p:cNvPr id="32" name="text_221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3" name="text_222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측정값은 Colab CPU 에 따라 다르지만 수백 배 차이는 같다. 신경망은 이런 곱셈이 수백만 번이다.</a:t>
            </a:r>
            <a:endParaRPr lang="en-US" sz="1150" dirty="0"/>
          </a:p>
        </p:txBody>
      </p:sp>
      <p:sp>
        <p:nvSpPr>
          <p:cNvPr id="35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6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223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badgeNum_224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4" name="text_225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선형대수 — 내적 · 노름 · 선형 변환</a:t>
            </a:r>
            <a:endParaRPr lang="en-US" sz="2600" dirty="0"/>
          </a:p>
        </p:txBody>
      </p:sp>
      <p:sp>
        <p:nvSpPr>
          <p:cNvPr id="5" name="text_226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14:00–14:50</a:t>
            </a:r>
            <a:endParaRPr lang="en-US" sz="1200" dirty="0"/>
          </a:p>
        </p:txBody>
      </p:sp>
      <p:sp>
        <p:nvSpPr>
          <p:cNvPr id="6" name="panel_227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228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229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내적 = 두 벡터가 얼마나 같은 방향인가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노름 = 벡터 길이, 코사인 유사도 계산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행렬곱 = 공간의 회전 · 확대 · 찌그러짐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(N,D) @ (D,H) + (H,) = (N,H) shape 규칙</a:t>
            </a:r>
            <a:endParaRPr lang="en-US" sz="1300" dirty="0"/>
          </a:p>
        </p:txBody>
      </p:sp>
      <p:sp>
        <p:nvSpPr>
          <p:cNvPr id="9" name="text_230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231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32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233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5-1  코사인 유사도</a:t>
            </a:r>
            <a:endParaRPr lang="en-US" sz="1150" dirty="0"/>
          </a:p>
        </p:txBody>
      </p:sp>
      <p:sp>
        <p:nvSpPr>
          <p:cNvPr id="13" name="badge_234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235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236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5-2  회전 · 확대 그리기</a:t>
            </a:r>
            <a:endParaRPr lang="en-US" sz="1150" dirty="0"/>
          </a:p>
        </p:txBody>
      </p:sp>
      <p:sp>
        <p:nvSpPr>
          <p:cNvPr id="16" name="badge_237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238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239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5-3  X @ W + b 층 만들기</a:t>
            </a:r>
            <a:endParaRPr lang="en-US" sz="1150" dirty="0"/>
          </a:p>
        </p:txBody>
      </p:sp>
      <p:sp>
        <p:nvSpPr>
          <p:cNvPr id="19" name="animTag_240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241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D1-3 선형 변환 2×2</a:t>
            </a:r>
            <a:endParaRPr lang="en-US" sz="1100" dirty="0"/>
          </a:p>
        </p:txBody>
      </p:sp>
      <p:sp>
        <p:nvSpPr>
          <p:cNvPr id="21" name="panel_242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243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244"/>
          <p:cNvSpPr txBox="1"/>
          <p:nvPr/>
        </p:nvSpPr>
        <p:spPr>
          <a:xfrm>
            <a:off x="5047488" y="164592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내적 · 노름</a:t>
            </a:r>
            <a:endParaRPr lang="en-US" sz="1250" dirty="0"/>
          </a:p>
        </p:txBody>
      </p:sp>
      <p:sp>
        <p:nvSpPr>
          <p:cNvPr id="24" name="codebg_245"/>
          <p:cNvSpPr/>
          <p:nvPr/>
        </p:nvSpPr>
        <p:spPr>
          <a:xfrm>
            <a:off x="6446520" y="164592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246"/>
          <p:cNvSpPr txBox="1"/>
          <p:nvPr/>
        </p:nvSpPr>
        <p:spPr>
          <a:xfrm>
            <a:off x="6556248" y="170078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@ b            # Σ a_i b_i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np.linalg.norm(a)</a:t>
            </a:r>
            <a:endParaRPr lang="en-US" sz="1300" dirty="0"/>
          </a:p>
        </p:txBody>
      </p:sp>
      <p:sp>
        <p:nvSpPr>
          <p:cNvPr id="26" name="text_247"/>
          <p:cNvSpPr txBox="1"/>
          <p:nvPr/>
        </p:nvSpPr>
        <p:spPr>
          <a:xfrm>
            <a:off x="5047488" y="284988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회전 행렬</a:t>
            </a:r>
            <a:endParaRPr lang="en-US" sz="1250" dirty="0"/>
          </a:p>
        </p:txBody>
      </p:sp>
      <p:sp>
        <p:nvSpPr>
          <p:cNvPr id="27" name="codebg_248"/>
          <p:cNvSpPr/>
          <p:nvPr/>
        </p:nvSpPr>
        <p:spPr>
          <a:xfrm>
            <a:off x="6446520" y="284988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249"/>
          <p:cNvSpPr txBox="1"/>
          <p:nvPr/>
        </p:nvSpPr>
        <p:spPr>
          <a:xfrm>
            <a:off x="6556248" y="290474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[[cos θ, -sin θ],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[sin θ,  cos θ]]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P @ R.T</a:t>
            </a:r>
            <a:endParaRPr lang="en-US" sz="1300" dirty="0"/>
          </a:p>
        </p:txBody>
      </p:sp>
      <p:sp>
        <p:nvSpPr>
          <p:cNvPr id="29" name="text_250"/>
          <p:cNvSpPr txBox="1"/>
          <p:nvPr/>
        </p:nvSpPr>
        <p:spPr>
          <a:xfrm>
            <a:off x="5047488" y="405384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신경망 한 층</a:t>
            </a:r>
            <a:endParaRPr lang="en-US" sz="1250" dirty="0"/>
          </a:p>
        </p:txBody>
      </p:sp>
      <p:sp>
        <p:nvSpPr>
          <p:cNvPr id="30" name="codebg_251"/>
          <p:cNvSpPr/>
          <p:nvPr/>
        </p:nvSpPr>
        <p:spPr>
          <a:xfrm>
            <a:off x="6446520" y="405384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252"/>
          <p:cNvSpPr txBox="1"/>
          <p:nvPr/>
        </p:nvSpPr>
        <p:spPr>
          <a:xfrm>
            <a:off x="6556248" y="410870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(4,3) @ W (3,2) + b (2,)  →  Y (4,2)</a:t>
            </a:r>
            <a:endParaRPr lang="en-US" sz="1300" dirty="0"/>
          </a:p>
        </p:txBody>
      </p:sp>
      <p:sp>
        <p:nvSpPr>
          <p:cNvPr id="32" name="text_253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3" name="text_254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신경망의 한 층은 데이터를 새 공간으로 옮기는 변환이다 — Day 2 XOR 에서 은닉층이 하는 일.</a:t>
            </a:r>
            <a:endParaRPr lang="en-US" sz="1150" dirty="0"/>
          </a:p>
        </p:txBody>
      </p:sp>
      <p:sp>
        <p:nvSpPr>
          <p:cNvPr id="34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5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25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" name="badgeNum_25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4" name="text_25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미분과 기울기 — 경사하강의 재료</a:t>
            </a:r>
            <a:endParaRPr lang="en-US" sz="2600" dirty="0"/>
          </a:p>
        </p:txBody>
      </p:sp>
      <p:sp>
        <p:nvSpPr>
          <p:cNvPr id="5" name="text_258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15:00–15:50</a:t>
            </a:r>
            <a:endParaRPr lang="en-US" sz="1200" dirty="0"/>
          </a:p>
        </p:txBody>
      </p:sp>
      <p:sp>
        <p:nvSpPr>
          <p:cNvPr id="6" name="panel_25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26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261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미분 = 순간 변화율, 중앙 차분으로 근사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 가 너무 작으면 반올림 오차가 커진다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편미분을 모은 벡터 = 기울기(gradient)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기울기는 가장 빨리 커지는 방향 → -∇f 로 내려간다</a:t>
            </a:r>
            <a:endParaRPr lang="en-US" sz="1300" dirty="0"/>
          </a:p>
        </p:txBody>
      </p:sp>
      <p:sp>
        <p:nvSpPr>
          <p:cNvPr id="9" name="text_262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263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64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265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6-1  numerical_diff · 접선</a:t>
            </a:r>
            <a:endParaRPr lang="en-US" sz="1150" dirty="0"/>
          </a:p>
        </p:txBody>
      </p:sp>
      <p:sp>
        <p:nvSpPr>
          <p:cNvPr id="13" name="badge_266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267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268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 크기별 오차 표</a:t>
            </a:r>
            <a:endParaRPr lang="en-US" sz="1150" dirty="0"/>
          </a:p>
        </p:txBody>
      </p:sp>
      <p:sp>
        <p:nvSpPr>
          <p:cNvPr id="16" name="badge_269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270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271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6-2  numerical_gradient · 벡터장</a:t>
            </a:r>
            <a:endParaRPr lang="en-US" sz="1150" dirty="0"/>
          </a:p>
        </p:txBody>
      </p:sp>
      <p:sp>
        <p:nvSpPr>
          <p:cNvPr id="19" name="animTag_272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273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D1-4 수치 미분 · D1-5 벡터장</a:t>
            </a:r>
            <a:endParaRPr lang="en-US" sz="1100" dirty="0"/>
          </a:p>
        </p:txBody>
      </p:sp>
      <p:sp>
        <p:nvSpPr>
          <p:cNvPr id="21" name="panel_274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275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276"/>
          <p:cNvSpPr txBox="1"/>
          <p:nvPr/>
        </p:nvSpPr>
        <p:spPr>
          <a:xfrm>
            <a:off x="5047488" y="164592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중앙 차분</a:t>
            </a:r>
            <a:endParaRPr lang="en-US" sz="1250" dirty="0"/>
          </a:p>
        </p:txBody>
      </p:sp>
      <p:sp>
        <p:nvSpPr>
          <p:cNvPr id="24" name="codebg_277"/>
          <p:cNvSpPr/>
          <p:nvPr/>
        </p:nvSpPr>
        <p:spPr>
          <a:xfrm>
            <a:off x="6446520" y="164592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278"/>
          <p:cNvSpPr txBox="1"/>
          <p:nvPr/>
        </p:nvSpPr>
        <p:spPr>
          <a:xfrm>
            <a:off x="6556248" y="170078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(f(x + h) - f(x - h)) / (2 * h)   # h = 1e-4</a:t>
            </a:r>
            <a:endParaRPr lang="en-US" sz="1300" dirty="0"/>
          </a:p>
        </p:txBody>
      </p:sp>
      <p:sp>
        <p:nvSpPr>
          <p:cNvPr id="26" name="text_279"/>
          <p:cNvSpPr txBox="1"/>
          <p:nvPr/>
        </p:nvSpPr>
        <p:spPr>
          <a:xfrm>
            <a:off x="5047488" y="284988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기울기</a:t>
            </a:r>
            <a:endParaRPr lang="en-US" sz="1250" dirty="0"/>
          </a:p>
        </p:txBody>
      </p:sp>
      <p:sp>
        <p:nvSpPr>
          <p:cNvPr id="27" name="codebg_280"/>
          <p:cNvSpPr/>
          <p:nvPr/>
        </p:nvSpPr>
        <p:spPr>
          <a:xfrm>
            <a:off x="6446520" y="284988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281"/>
          <p:cNvSpPr txBox="1"/>
          <p:nvPr/>
        </p:nvSpPr>
        <p:spPr>
          <a:xfrm>
            <a:off x="6556248" y="290474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x0² + x1²  →  ∇f = (2x0, 2x1)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 4) 에서 (6, 8)</a:t>
            </a:r>
            <a:endParaRPr lang="en-US" sz="1300" dirty="0"/>
          </a:p>
        </p:txBody>
      </p:sp>
      <p:sp>
        <p:nvSpPr>
          <p:cNvPr id="29" name="text_282"/>
          <p:cNvSpPr txBox="1"/>
          <p:nvPr/>
        </p:nvSpPr>
        <p:spPr>
          <a:xfrm>
            <a:off x="5047488" y="405384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numerical_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gradient</a:t>
            </a:r>
            <a:endParaRPr lang="en-US" sz="1250" dirty="0"/>
          </a:p>
        </p:txBody>
      </p:sp>
      <p:sp>
        <p:nvSpPr>
          <p:cNvPr id="30" name="codebg_283"/>
          <p:cNvSpPr/>
          <p:nvPr/>
        </p:nvSpPr>
        <p:spPr>
          <a:xfrm>
            <a:off x="6446520" y="405384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284"/>
          <p:cNvSpPr txBox="1"/>
          <p:nvPr/>
        </p:nvSpPr>
        <p:spPr>
          <a:xfrm>
            <a:off x="6556248" y="410870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x[idx] = orig + h; fxh1 = f(x)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x[idx] = orig - h; fxh2 = f(x)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grad[idx] = (fxh1 - fxh2) / (2*h)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x[idx] = orig     # 되돌리기!</a:t>
            </a:r>
            <a:endParaRPr lang="en-US" sz="1200" dirty="0"/>
          </a:p>
        </p:txBody>
      </p:sp>
      <p:sp>
        <p:nvSpPr>
          <p:cNvPr id="32" name="text_285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3" name="text_286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numerical_gradient 는 Day 3 역전파 검증(gradient check)에 그대로 다시 쓴다.</a:t>
            </a:r>
            <a:endParaRPr lang="en-US" sz="1150" dirty="0"/>
          </a:p>
        </p:txBody>
      </p:sp>
      <p:sp>
        <p:nvSpPr>
          <p:cNvPr id="34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5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287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adgeNum_288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4" name="text_289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확률 기초 — 분포 · 표준화 · log/exp</a:t>
            </a:r>
            <a:endParaRPr lang="en-US" sz="2600" dirty="0"/>
          </a:p>
        </p:txBody>
      </p:sp>
      <p:sp>
        <p:nvSpPr>
          <p:cNvPr id="5" name="text_290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16:00–16:50</a:t>
            </a:r>
            <a:endParaRPr lang="en-US" sz="1200" dirty="0"/>
          </a:p>
        </p:txBody>
      </p:sp>
      <p:sp>
        <p:nvSpPr>
          <p:cNvPr id="6" name="panel_291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292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293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균등분포 · 정규분포 난수와 히스토그램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평균 · 분산 · 표준편차, 시행 수와 추정 정확도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표준화 z = (x - μ) / σ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log(0) = -inf, exp 큰 값 overflow</a:t>
            </a:r>
            <a:endParaRPr lang="en-US" sz="1300" dirty="0"/>
          </a:p>
        </p:txBody>
      </p:sp>
      <p:sp>
        <p:nvSpPr>
          <p:cNvPr id="9" name="text_294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295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96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297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분포 히스토그램 그리기</a:t>
            </a:r>
            <a:endParaRPr lang="en-US" sz="1150" dirty="0"/>
          </a:p>
        </p:txBody>
      </p:sp>
      <p:sp>
        <p:nvSpPr>
          <p:cNvPr id="13" name="badge_298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299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300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7-1 · 7-2  주사위 · 표준화</a:t>
            </a:r>
            <a:endParaRPr lang="en-US" sz="1150" dirty="0"/>
          </a:p>
        </p:txBody>
      </p:sp>
      <p:sp>
        <p:nvSpPr>
          <p:cNvPr id="16" name="badge_301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302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303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-log p 그래프 해석</a:t>
            </a:r>
            <a:endParaRPr lang="en-US" sz="1150" dirty="0"/>
          </a:p>
        </p:txBody>
      </p:sp>
      <p:sp>
        <p:nvSpPr>
          <p:cNvPr id="19" name="animTag_304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305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D1-6 분포 · 표준화</a:t>
            </a:r>
            <a:endParaRPr lang="en-US" sz="1100" dirty="0"/>
          </a:p>
        </p:txBody>
      </p:sp>
      <p:sp>
        <p:nvSpPr>
          <p:cNvPr id="21" name="panel_306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307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308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난수</a:t>
            </a:r>
            <a:endParaRPr lang="en-US" sz="1250" dirty="0"/>
          </a:p>
        </p:txBody>
      </p:sp>
      <p:sp>
        <p:nvSpPr>
          <p:cNvPr id="24" name="codebg_309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310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rng.uniform(-1, 1, 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rng.normal(0, 1, 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rng.integers(1, 7, n)   # 주사위</a:t>
            </a:r>
            <a:endParaRPr lang="en-US" sz="1300" dirty="0"/>
          </a:p>
        </p:txBody>
      </p:sp>
      <p:sp>
        <p:nvSpPr>
          <p:cNvPr id="26" name="text_311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확률 추정</a:t>
            </a:r>
            <a:endParaRPr lang="en-US" sz="1250" dirty="0"/>
          </a:p>
        </p:txBody>
      </p:sp>
      <p:sp>
        <p:nvSpPr>
          <p:cNvPr id="27" name="codebg_312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313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np.mean(dice == 3)   # ≈ 1/6</a:t>
            </a:r>
            <a:endParaRPr lang="en-US" sz="1300" dirty="0"/>
          </a:p>
        </p:txBody>
      </p:sp>
      <p:sp>
        <p:nvSpPr>
          <p:cNvPr id="29" name="text_314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표준화</a:t>
            </a:r>
            <a:endParaRPr lang="en-US" sz="1250" dirty="0"/>
          </a:p>
        </p:txBody>
      </p:sp>
      <p:sp>
        <p:nvSpPr>
          <p:cNvPr id="30" name="codebg_315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316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- x.mean()) / x.std()   # 평균 0, 표준편차 1</a:t>
            </a:r>
            <a:endParaRPr lang="en-US" sz="1300" dirty="0"/>
          </a:p>
        </p:txBody>
      </p:sp>
      <p:sp>
        <p:nvSpPr>
          <p:cNvPr id="32" name="text_317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log / exp</a:t>
            </a:r>
            <a:endParaRPr lang="en-US" sz="1250" dirty="0"/>
          </a:p>
        </p:txBody>
      </p:sp>
      <p:sp>
        <p:nvSpPr>
          <p:cNvPr id="33" name="codebg_318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319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np.log(0.0)     # -inf  → + eps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np.exp(1000.0)  # inf   → Day 2</a:t>
            </a:r>
            <a:endParaRPr lang="en-US" sz="1300" dirty="0"/>
          </a:p>
        </p:txBody>
      </p:sp>
      <p:sp>
        <p:nvSpPr>
          <p:cNvPr id="35" name="text_320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321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표준화는 Day 4 BatchNorm, -log p 는 Day 2 Cross-Entropy 로 이어진다.</a:t>
            </a:r>
            <a:endParaRPr lang="en-US" sz="1150" dirty="0"/>
          </a:p>
        </p:txBody>
      </p:sp>
      <p:sp>
        <p:nvSpPr>
          <p:cNvPr id="37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8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322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badgeNum_323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4" name="text_324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미니 프로젝트 — 경사하강법으로 최소점 찾기</a:t>
            </a:r>
            <a:endParaRPr lang="en-US" sz="2600" dirty="0"/>
          </a:p>
        </p:txBody>
      </p:sp>
      <p:sp>
        <p:nvSpPr>
          <p:cNvPr id="5" name="text_325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17:00–17:50</a:t>
            </a:r>
            <a:endParaRPr lang="en-US" sz="1200" dirty="0"/>
          </a:p>
        </p:txBody>
      </p:sp>
      <p:sp>
        <p:nvSpPr>
          <p:cNvPr id="6" name="panel_326"/>
          <p:cNvSpPr/>
          <p:nvPr/>
        </p:nvSpPr>
        <p:spPr>
          <a:xfrm>
            <a:off x="457200" y="1143000"/>
            <a:ext cx="55321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327"/>
          <p:cNvSpPr txBox="1"/>
          <p:nvPr/>
        </p:nvSpPr>
        <p:spPr>
          <a:xfrm>
            <a:off x="658368" y="1280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NN_Day1_project.ipynb  ·  f(x, y) = x² + 3y²</a:t>
            </a:r>
            <a:endParaRPr lang="en-US" sz="1300" dirty="0"/>
          </a:p>
        </p:txBody>
      </p:sp>
      <p:sp>
        <p:nvSpPr>
          <p:cNvPr id="8" name="codebg_328"/>
          <p:cNvSpPr/>
          <p:nvPr/>
        </p:nvSpPr>
        <p:spPr>
          <a:xfrm>
            <a:off x="658368" y="1691640"/>
            <a:ext cx="5120640" cy="45720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9" name="code_329"/>
          <p:cNvSpPr txBox="1"/>
          <p:nvPr/>
        </p:nvSpPr>
        <p:spPr>
          <a:xfrm>
            <a:off x="768096" y="1746504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← p - η ∇f(p)      ∇f = (2x, 6y)</a:t>
            </a:r>
            <a:endParaRPr lang="en-US" sz="1300" dirty="0"/>
          </a:p>
        </p:txBody>
      </p:sp>
      <p:graphicFrame>
        <p:nvGraphicFramePr>
          <p:cNvPr id="14" name="task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77440"/>
          <a:ext cx="51206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822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</a:rPr>
                        <a:t>과제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</a:rPr>
                        <a:t>배점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목표 함수 · 해석적 기울기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수치 기울기와 비교 (오차 &lt; 1e-6)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gradient_descent → history (steps+1, 2)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학습률 4개 경로 비교 그래프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결과 해석 (강사 채점)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11" name="text_330"/>
          <p:cNvSpPr txBox="1"/>
          <p:nvPr/>
        </p:nvSpPr>
        <p:spPr>
          <a:xfrm>
            <a:off x="658368" y="5166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채점 셀 실행 → 자동 채점 90점 + 해석 10점</a:t>
            </a:r>
            <a:endParaRPr lang="en-US" sz="1200" dirty="0"/>
          </a:p>
        </p:txBody>
      </p:sp>
      <p:sp>
        <p:nvSpPr>
          <p:cNvPr id="12" name="text_331"/>
          <p:cNvSpPr txBox="1"/>
          <p:nvPr/>
        </p:nvSpPr>
        <p:spPr>
          <a:xfrm>
            <a:off x="658368" y="5532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▶ D1-5 경사하강 등고선에서 학습률을 먼저 예측해 보고 코드로 확인</a:t>
            </a:r>
            <a:endParaRPr lang="en-US" sz="1150" dirty="0"/>
          </a:p>
        </p:txBody>
      </p:sp>
      <p:sp>
        <p:nvSpPr>
          <p:cNvPr id="13" name="panel_332"/>
          <p:cNvSpPr/>
          <p:nvPr/>
        </p:nvSpPr>
        <p:spPr>
          <a:xfrm>
            <a:off x="6172200" y="1143000"/>
            <a:ext cx="557784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4" name="text_333"/>
          <p:cNvSpPr txBox="1"/>
          <p:nvPr/>
        </p:nvSpPr>
        <p:spPr>
          <a:xfrm>
            <a:off x="6373368" y="1280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학습률별 결과 (출발점 (-4, 2), 30스텝)</a:t>
            </a:r>
            <a:endParaRPr lang="en-US" sz="1300" dirty="0"/>
          </a:p>
        </p:txBody>
      </p:sp>
      <p:sp>
        <p:nvSpPr>
          <p:cNvPr id="15" name="lrRow_334"/>
          <p:cNvSpPr/>
          <p:nvPr/>
        </p:nvSpPr>
        <p:spPr>
          <a:xfrm>
            <a:off x="6373368" y="1737360"/>
            <a:ext cx="5175504" cy="621792"/>
          </a:xfrm>
          <a:prstGeom prst="roundRect">
            <a:avLst>
              <a:gd name="adj" fmla="val 8824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6" name="text_335"/>
          <p:cNvSpPr txBox="1"/>
          <p:nvPr/>
        </p:nvSpPr>
        <p:spPr>
          <a:xfrm>
            <a:off x="6510528" y="1737360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0.01</a:t>
            </a:r>
            <a:endParaRPr lang="en-US" sz="1400" dirty="0"/>
          </a:p>
        </p:txBody>
      </p:sp>
      <p:sp>
        <p:nvSpPr>
          <p:cNvPr id="17" name="text_336"/>
          <p:cNvSpPr txBox="1"/>
          <p:nvPr/>
        </p:nvSpPr>
        <p:spPr>
          <a:xfrm>
            <a:off x="7680960" y="17373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느리게 수렴 — 최소점에 못 미침</a:t>
            </a:r>
            <a:endParaRPr lang="en-US" sz="1200" dirty="0"/>
          </a:p>
        </p:txBody>
      </p:sp>
      <p:sp>
        <p:nvSpPr>
          <p:cNvPr id="18" name="text_337"/>
          <p:cNvSpPr txBox="1"/>
          <p:nvPr/>
        </p:nvSpPr>
        <p:spPr>
          <a:xfrm>
            <a:off x="10332720" y="1737360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5.05</a:t>
            </a:r>
            <a:endParaRPr lang="en-US" sz="1150" dirty="0"/>
          </a:p>
        </p:txBody>
      </p:sp>
      <p:sp>
        <p:nvSpPr>
          <p:cNvPr id="19" name="lrRow_338"/>
          <p:cNvSpPr/>
          <p:nvPr/>
        </p:nvSpPr>
        <p:spPr>
          <a:xfrm>
            <a:off x="6373368" y="2487168"/>
            <a:ext cx="5175504" cy="621792"/>
          </a:xfrm>
          <a:prstGeom prst="roundRect">
            <a:avLst>
              <a:gd name="adj" fmla="val 8824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text_339"/>
          <p:cNvSpPr txBox="1"/>
          <p:nvPr/>
        </p:nvSpPr>
        <p:spPr>
          <a:xfrm>
            <a:off x="6510528" y="248716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0.1</a:t>
            </a:r>
            <a:endParaRPr lang="en-US" sz="1400" dirty="0"/>
          </a:p>
        </p:txBody>
      </p:sp>
      <p:sp>
        <p:nvSpPr>
          <p:cNvPr id="21" name="text_340"/>
          <p:cNvSpPr txBox="1"/>
          <p:nvPr/>
        </p:nvSpPr>
        <p:spPr>
          <a:xfrm>
            <a:off x="7680960" y="248716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부드럽게 수렴</a:t>
            </a:r>
            <a:endParaRPr lang="en-US" sz="1200" dirty="0"/>
          </a:p>
        </p:txBody>
      </p:sp>
      <p:sp>
        <p:nvSpPr>
          <p:cNvPr id="22" name="text_341"/>
          <p:cNvSpPr txBox="1"/>
          <p:nvPr/>
        </p:nvSpPr>
        <p:spPr>
          <a:xfrm>
            <a:off x="10332720" y="248716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2.4e-5</a:t>
            </a:r>
            <a:endParaRPr lang="en-US" sz="1150" dirty="0"/>
          </a:p>
        </p:txBody>
      </p:sp>
      <p:sp>
        <p:nvSpPr>
          <p:cNvPr id="23" name="lrRow_342"/>
          <p:cNvSpPr/>
          <p:nvPr/>
        </p:nvSpPr>
        <p:spPr>
          <a:xfrm>
            <a:off x="6373368" y="3236976"/>
            <a:ext cx="5175504" cy="621792"/>
          </a:xfrm>
          <a:prstGeom prst="roundRect">
            <a:avLst>
              <a:gd name="adj" fmla="val 8824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4" name="text_343"/>
          <p:cNvSpPr txBox="1"/>
          <p:nvPr/>
        </p:nvSpPr>
        <p:spPr>
          <a:xfrm>
            <a:off x="6510528" y="3236976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0.3</a:t>
            </a:r>
            <a:endParaRPr lang="en-US" sz="1400" dirty="0"/>
          </a:p>
        </p:txBody>
      </p:sp>
      <p:sp>
        <p:nvSpPr>
          <p:cNvPr id="25" name="text_344"/>
          <p:cNvSpPr txBox="1"/>
          <p:nvPr/>
        </p:nvSpPr>
        <p:spPr>
          <a:xfrm>
            <a:off x="7680960" y="323697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 가 지그재그로 진동하며 수렴</a:t>
            </a:r>
            <a:endParaRPr lang="en-US" sz="1200" dirty="0"/>
          </a:p>
        </p:txBody>
      </p:sp>
      <p:sp>
        <p:nvSpPr>
          <p:cNvPr id="26" name="text_345"/>
          <p:cNvSpPr txBox="1"/>
          <p:nvPr/>
        </p:nvSpPr>
        <p:spPr>
          <a:xfrm>
            <a:off x="10332720" y="3236976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1.8e-5</a:t>
            </a:r>
            <a:endParaRPr lang="en-US" sz="1150" dirty="0"/>
          </a:p>
        </p:txBody>
      </p:sp>
      <p:sp>
        <p:nvSpPr>
          <p:cNvPr id="27" name="lrRow_346"/>
          <p:cNvSpPr/>
          <p:nvPr/>
        </p:nvSpPr>
        <p:spPr>
          <a:xfrm>
            <a:off x="6373368" y="3986784"/>
            <a:ext cx="5175504" cy="621792"/>
          </a:xfrm>
          <a:prstGeom prst="roundRect">
            <a:avLst>
              <a:gd name="adj" fmla="val 8824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text_347"/>
          <p:cNvSpPr txBox="1"/>
          <p:nvPr/>
        </p:nvSpPr>
        <p:spPr>
          <a:xfrm>
            <a:off x="6510528" y="3986784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0.35</a:t>
            </a:r>
            <a:endParaRPr lang="en-US" sz="1400" dirty="0"/>
          </a:p>
        </p:txBody>
      </p:sp>
      <p:sp>
        <p:nvSpPr>
          <p:cNvPr id="29" name="text_348"/>
          <p:cNvSpPr txBox="1"/>
          <p:nvPr/>
        </p:nvSpPr>
        <p:spPr>
          <a:xfrm>
            <a:off x="7680960" y="398678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발산 — y 가 매 스텝 1.1배</a:t>
            </a:r>
            <a:endParaRPr lang="en-US" sz="1200" dirty="0"/>
          </a:p>
        </p:txBody>
      </p:sp>
      <p:sp>
        <p:nvSpPr>
          <p:cNvPr id="30" name="text_349"/>
          <p:cNvSpPr txBox="1"/>
          <p:nvPr/>
        </p:nvSpPr>
        <p:spPr>
          <a:xfrm>
            <a:off x="10332720" y="3986784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3.7e+3</a:t>
            </a:r>
            <a:endParaRPr lang="en-US" sz="1150" dirty="0"/>
          </a:p>
        </p:txBody>
      </p:sp>
      <p:sp>
        <p:nvSpPr>
          <p:cNvPr id="31" name="text_350"/>
          <p:cNvSpPr txBox="1"/>
          <p:nvPr/>
        </p:nvSpPr>
        <p:spPr>
          <a:xfrm>
            <a:off x="6373368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핵심 관찰</a:t>
            </a:r>
            <a:endParaRPr lang="en-US" sz="1200" dirty="0"/>
          </a:p>
        </p:txBody>
      </p:sp>
      <p:sp>
        <p:nvSpPr>
          <p:cNvPr id="32" name="text_351"/>
          <p:cNvSpPr txBox="1"/>
          <p:nvPr/>
        </p:nvSpPr>
        <p:spPr>
          <a:xfrm>
            <a:off x="6373368" y="513892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 ← (1 - 6η) y  →  |1 - 6η| &lt; 1  ⇔  η &lt; 1/3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가장 가파른 방향이 학습률 상한을 정한다 → Day 4 Momentum · Adam</a:t>
            </a:r>
            <a:endParaRPr lang="en-US" sz="1200" dirty="0"/>
          </a:p>
        </p:txBody>
      </p:sp>
      <p:sp>
        <p:nvSpPr>
          <p:cNvPr id="34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5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오늘의 핵심 정리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각 항목 옆 번호는 다시 볼 애니메이션</a:t>
            </a:r>
            <a:endParaRPr lang="en-US" sz="1300" dirty="0"/>
          </a:p>
        </p:txBody>
      </p:sp>
      <p:sp>
        <p:nvSpPr>
          <p:cNvPr id="4" name="panel_352"/>
          <p:cNvSpPr/>
          <p:nvPr/>
        </p:nvSpPr>
        <p:spPr>
          <a:xfrm>
            <a:off x="457200" y="1417320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text_353"/>
          <p:cNvSpPr txBox="1"/>
          <p:nvPr/>
        </p:nvSpPr>
        <p:spPr>
          <a:xfrm>
            <a:off x="685800" y="14173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학습</a:t>
            </a:r>
            <a:endParaRPr lang="en-US" sz="1400" dirty="0"/>
          </a:p>
        </p:txBody>
      </p:sp>
      <p:sp>
        <p:nvSpPr>
          <p:cNvPr id="6" name="text_354"/>
          <p:cNvSpPr txBox="1"/>
          <p:nvPr/>
        </p:nvSpPr>
        <p:spPr>
          <a:xfrm>
            <a:off x="2606040" y="141732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손실을 최소로 만드는 파라미터 찾기 — 5일 동안 직접 구현</a:t>
            </a:r>
            <a:endParaRPr lang="en-US" sz="1300" dirty="0"/>
          </a:p>
        </p:txBody>
      </p:sp>
      <p:sp>
        <p:nvSpPr>
          <p:cNvPr id="7" name="text_355"/>
          <p:cNvSpPr txBox="1"/>
          <p:nvPr/>
        </p:nvSpPr>
        <p:spPr>
          <a:xfrm>
            <a:off x="10058400" y="141732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</a:t>
            </a:r>
            <a:endParaRPr lang="en-US" sz="1200" dirty="0"/>
          </a:p>
        </p:txBody>
      </p:sp>
      <p:sp>
        <p:nvSpPr>
          <p:cNvPr id="8" name="panel_356"/>
          <p:cNvSpPr/>
          <p:nvPr/>
        </p:nvSpPr>
        <p:spPr>
          <a:xfrm>
            <a:off x="457200" y="2020824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9" name="text_357"/>
          <p:cNvSpPr txBox="1"/>
          <p:nvPr/>
        </p:nvSpPr>
        <p:spPr>
          <a:xfrm>
            <a:off x="685800" y="202082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참조</a:t>
            </a:r>
            <a:endParaRPr lang="en-US" sz="1400" dirty="0"/>
          </a:p>
        </p:txBody>
      </p:sp>
      <p:sp>
        <p:nvSpPr>
          <p:cNvPr id="10" name="text_358"/>
          <p:cNvSpPr txBox="1"/>
          <p:nvPr/>
        </p:nvSpPr>
        <p:spPr>
          <a:xfrm>
            <a:off x="2606040" y="2020824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 = a 는 같은 객체, 독립 사본은 .copy()</a:t>
            </a:r>
            <a:endParaRPr lang="en-US" sz="1300" dirty="0"/>
          </a:p>
        </p:txBody>
      </p:sp>
      <p:sp>
        <p:nvSpPr>
          <p:cNvPr id="11" name="text_359"/>
          <p:cNvSpPr txBox="1"/>
          <p:nvPr/>
        </p:nvSpPr>
        <p:spPr>
          <a:xfrm>
            <a:off x="10058400" y="20208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panel_360"/>
          <p:cNvSpPr/>
          <p:nvPr/>
        </p:nvSpPr>
        <p:spPr>
          <a:xfrm>
            <a:off x="457200" y="2624328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3" name="text_361"/>
          <p:cNvSpPr txBox="1"/>
          <p:nvPr/>
        </p:nvSpPr>
        <p:spPr>
          <a:xfrm>
            <a:off x="685800" y="26243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axis</a:t>
            </a:r>
            <a:endParaRPr lang="en-US" sz="1400" dirty="0"/>
          </a:p>
        </p:txBody>
      </p:sp>
      <p:sp>
        <p:nvSpPr>
          <p:cNvPr id="14" name="text_362"/>
          <p:cNvSpPr txBox="1"/>
          <p:nvPr/>
        </p:nvSpPr>
        <p:spPr>
          <a:xfrm>
            <a:off x="2606040" y="26243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axis 는 사라지는 축, keepdims 로 크기 1 유지</a:t>
            </a:r>
            <a:endParaRPr lang="en-US" sz="1300" dirty="0"/>
          </a:p>
        </p:txBody>
      </p:sp>
      <p:sp>
        <p:nvSpPr>
          <p:cNvPr id="15" name="text_363"/>
          <p:cNvSpPr txBox="1"/>
          <p:nvPr/>
        </p:nvSpPr>
        <p:spPr>
          <a:xfrm>
            <a:off x="10058400" y="262432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D1-1</a:t>
            </a:r>
            <a:endParaRPr lang="en-US" sz="1200" dirty="0"/>
          </a:p>
        </p:txBody>
      </p:sp>
      <p:sp>
        <p:nvSpPr>
          <p:cNvPr id="16" name="panel_364"/>
          <p:cNvSpPr/>
          <p:nvPr/>
        </p:nvSpPr>
        <p:spPr>
          <a:xfrm>
            <a:off x="457200" y="3227832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7" name="text_365"/>
          <p:cNvSpPr txBox="1"/>
          <p:nvPr/>
        </p:nvSpPr>
        <p:spPr>
          <a:xfrm>
            <a:off x="685800" y="322783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브로드캐스팅</a:t>
            </a:r>
            <a:endParaRPr lang="en-US" sz="1400" dirty="0"/>
          </a:p>
        </p:txBody>
      </p:sp>
      <p:sp>
        <p:nvSpPr>
          <p:cNvPr id="18" name="text_366"/>
          <p:cNvSpPr txBox="1"/>
          <p:nvPr/>
        </p:nvSpPr>
        <p:spPr>
          <a:xfrm>
            <a:off x="2606040" y="322783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뒤 축부터 같거나 1 이면 결합 — X @ W + b 의 + b</a:t>
            </a:r>
            <a:endParaRPr lang="en-US" sz="1300" dirty="0"/>
          </a:p>
        </p:txBody>
      </p:sp>
      <p:sp>
        <p:nvSpPr>
          <p:cNvPr id="19" name="text_367"/>
          <p:cNvSpPr txBox="1"/>
          <p:nvPr/>
        </p:nvSpPr>
        <p:spPr>
          <a:xfrm>
            <a:off x="10058400" y="322783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D4-1</a:t>
            </a:r>
            <a:endParaRPr lang="en-US" sz="1200" dirty="0"/>
          </a:p>
        </p:txBody>
      </p:sp>
      <p:sp>
        <p:nvSpPr>
          <p:cNvPr id="20" name="panel_368"/>
          <p:cNvSpPr/>
          <p:nvPr/>
        </p:nvSpPr>
        <p:spPr>
          <a:xfrm>
            <a:off x="457200" y="3831336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1" name="text_369"/>
          <p:cNvSpPr txBox="1"/>
          <p:nvPr/>
        </p:nvSpPr>
        <p:spPr>
          <a:xfrm>
            <a:off x="685800" y="383133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벡터화</a:t>
            </a:r>
            <a:endParaRPr lang="en-US" sz="1400" dirty="0"/>
          </a:p>
        </p:txBody>
      </p:sp>
      <p:sp>
        <p:nvSpPr>
          <p:cNvPr id="22" name="text_370"/>
          <p:cNvSpPr txBox="1"/>
          <p:nvPr/>
        </p:nvSpPr>
        <p:spPr>
          <a:xfrm>
            <a:off x="2606040" y="3831336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 루프 대신 @ — 수백 배 빠르다</a:t>
            </a:r>
            <a:endParaRPr lang="en-US" sz="1300" dirty="0"/>
          </a:p>
        </p:txBody>
      </p:sp>
      <p:sp>
        <p:nvSpPr>
          <p:cNvPr id="23" name="text_371"/>
          <p:cNvSpPr txBox="1"/>
          <p:nvPr/>
        </p:nvSpPr>
        <p:spPr>
          <a:xfrm>
            <a:off x="10058400" y="38313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D1-2</a:t>
            </a:r>
            <a:endParaRPr lang="en-US" sz="1200" dirty="0"/>
          </a:p>
        </p:txBody>
      </p:sp>
      <p:sp>
        <p:nvSpPr>
          <p:cNvPr id="24" name="panel_372"/>
          <p:cNvSpPr/>
          <p:nvPr/>
        </p:nvSpPr>
        <p:spPr>
          <a:xfrm>
            <a:off x="457200" y="4434840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text_373"/>
          <p:cNvSpPr txBox="1"/>
          <p:nvPr/>
        </p:nvSpPr>
        <p:spPr>
          <a:xfrm>
            <a:off x="685800" y="443484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선형 변환</a:t>
            </a:r>
            <a:endParaRPr lang="en-US" sz="1400" dirty="0"/>
          </a:p>
        </p:txBody>
      </p:sp>
      <p:sp>
        <p:nvSpPr>
          <p:cNvPr id="26" name="text_374"/>
          <p:cNvSpPr txBox="1"/>
          <p:nvPr/>
        </p:nvSpPr>
        <p:spPr>
          <a:xfrm>
            <a:off x="2606040" y="443484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행렬곱은 공간을 옮긴다, (N,D)@(D,H) → (N,H)</a:t>
            </a:r>
            <a:endParaRPr lang="en-US" sz="1300" dirty="0"/>
          </a:p>
        </p:txBody>
      </p:sp>
      <p:sp>
        <p:nvSpPr>
          <p:cNvPr id="27" name="text_375"/>
          <p:cNvSpPr txBox="1"/>
          <p:nvPr/>
        </p:nvSpPr>
        <p:spPr>
          <a:xfrm>
            <a:off x="10058400" y="44348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D1-3</a:t>
            </a:r>
            <a:endParaRPr lang="en-US" sz="1200" dirty="0"/>
          </a:p>
        </p:txBody>
      </p:sp>
      <p:sp>
        <p:nvSpPr>
          <p:cNvPr id="28" name="panel_376"/>
          <p:cNvSpPr/>
          <p:nvPr/>
        </p:nvSpPr>
        <p:spPr>
          <a:xfrm>
            <a:off x="457200" y="5038344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9" name="text_377"/>
          <p:cNvSpPr txBox="1"/>
          <p:nvPr/>
        </p:nvSpPr>
        <p:spPr>
          <a:xfrm>
            <a:off x="685800" y="503834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기울기</a:t>
            </a:r>
            <a:endParaRPr lang="en-US" sz="1400" dirty="0"/>
          </a:p>
        </p:txBody>
      </p:sp>
      <p:sp>
        <p:nvSpPr>
          <p:cNvPr id="30" name="text_378"/>
          <p:cNvSpPr txBox="1"/>
          <p:nvPr/>
        </p:nvSpPr>
        <p:spPr>
          <a:xfrm>
            <a:off x="2606040" y="5038344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중앙 차분 · numerical_gradient, -∇f 방향으로 내려간다</a:t>
            </a:r>
            <a:endParaRPr lang="en-US" sz="1300" dirty="0"/>
          </a:p>
        </p:txBody>
      </p:sp>
      <p:sp>
        <p:nvSpPr>
          <p:cNvPr id="31" name="text_379"/>
          <p:cNvSpPr txBox="1"/>
          <p:nvPr/>
        </p:nvSpPr>
        <p:spPr>
          <a:xfrm>
            <a:off x="10058400" y="5038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D1-4 · D1-5</a:t>
            </a:r>
            <a:endParaRPr lang="en-US" sz="1200" dirty="0"/>
          </a:p>
        </p:txBody>
      </p:sp>
      <p:sp>
        <p:nvSpPr>
          <p:cNvPr id="32" name="panel_380"/>
          <p:cNvSpPr/>
          <p:nvPr/>
        </p:nvSpPr>
        <p:spPr>
          <a:xfrm>
            <a:off x="457200" y="5641848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3" name="text_381"/>
          <p:cNvSpPr txBox="1"/>
          <p:nvPr/>
        </p:nvSpPr>
        <p:spPr>
          <a:xfrm>
            <a:off x="685800" y="56418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표준화</a:t>
            </a:r>
            <a:endParaRPr lang="en-US" sz="1400" dirty="0"/>
          </a:p>
        </p:txBody>
      </p:sp>
      <p:sp>
        <p:nvSpPr>
          <p:cNvPr id="34" name="text_382"/>
          <p:cNvSpPr txBox="1"/>
          <p:nvPr/>
        </p:nvSpPr>
        <p:spPr>
          <a:xfrm>
            <a:off x="2606040" y="564184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(x - μ) / σ — 입력 정규화와 BatchNorm 의 핵심</a:t>
            </a:r>
            <a:endParaRPr lang="en-US" sz="1300" dirty="0"/>
          </a:p>
        </p:txBody>
      </p:sp>
      <p:sp>
        <p:nvSpPr>
          <p:cNvPr id="35" name="text_383"/>
          <p:cNvSpPr txBox="1"/>
          <p:nvPr/>
        </p:nvSpPr>
        <p:spPr>
          <a:xfrm>
            <a:off x="10058400" y="564184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D1-6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Day 2 로 가는 다리 — 뉴런 · 순전파 · 손실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오늘 만든 도구가 내일 그대로 신경망이 됩니다</a:t>
            </a:r>
            <a:endParaRPr lang="en-US" sz="1300" dirty="0"/>
          </a:p>
        </p:txBody>
      </p:sp>
      <p:sp>
        <p:nvSpPr>
          <p:cNvPr id="4" name="panel_384"/>
          <p:cNvSpPr/>
          <p:nvPr/>
        </p:nvSpPr>
        <p:spPr>
          <a:xfrm>
            <a:off x="457200" y="1463040"/>
            <a:ext cx="11274552" cy="3840480"/>
          </a:xfrm>
          <a:prstGeom prst="roundRect">
            <a:avLst>
              <a:gd name="adj" fmla="val 1905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text_385"/>
          <p:cNvSpPr txBox="1"/>
          <p:nvPr/>
        </p:nvSpPr>
        <p:spPr>
          <a:xfrm>
            <a:off x="7315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Day 1 (오늘)</a:t>
            </a:r>
            <a:endParaRPr lang="en-US" sz="1300" dirty="0"/>
          </a:p>
        </p:txBody>
      </p:sp>
      <p:sp>
        <p:nvSpPr>
          <p:cNvPr id="6" name="text_386"/>
          <p:cNvSpPr txBox="1"/>
          <p:nvPr/>
        </p:nvSpPr>
        <p:spPr>
          <a:xfrm>
            <a:off x="64465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2 (내일)</a:t>
            </a:r>
            <a:endParaRPr lang="en-US" sz="1300" dirty="0"/>
          </a:p>
        </p:txBody>
      </p:sp>
      <p:sp>
        <p:nvSpPr>
          <p:cNvPr id="7" name="codebg_387"/>
          <p:cNvSpPr/>
          <p:nvPr/>
        </p:nvSpPr>
        <p:spPr>
          <a:xfrm>
            <a:off x="731520" y="2057400"/>
            <a:ext cx="4937760" cy="475488"/>
          </a:xfrm>
          <a:prstGeom prst="roundRect">
            <a:avLst>
              <a:gd name="adj" fmla="val 9615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8" name="code_388"/>
          <p:cNvSpPr txBox="1"/>
          <p:nvPr/>
        </p:nvSpPr>
        <p:spPr>
          <a:xfrm>
            <a:off x="841248" y="2112264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@ W + b · 브로드캐스팅</a:t>
            </a:r>
            <a:endParaRPr lang="en-US" sz="1200" dirty="0"/>
          </a:p>
        </p:txBody>
      </p:sp>
      <p:sp>
        <p:nvSpPr>
          <p:cNvPr id="9" name="text_389"/>
          <p:cNvSpPr txBox="1"/>
          <p:nvPr/>
        </p:nvSpPr>
        <p:spPr>
          <a:xfrm>
            <a:off x="5760720" y="205740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_390"/>
          <p:cNvSpPr txBox="1"/>
          <p:nvPr/>
        </p:nvSpPr>
        <p:spPr>
          <a:xfrm>
            <a:off x="6446520" y="20574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층 = 행렬 순전파, 3층 신경망 shape 추적</a:t>
            </a:r>
            <a:endParaRPr lang="en-US" sz="1350" dirty="0"/>
          </a:p>
        </p:txBody>
      </p:sp>
      <p:sp>
        <p:nvSpPr>
          <p:cNvPr id="11" name="codebg_391"/>
          <p:cNvSpPr/>
          <p:nvPr/>
        </p:nvSpPr>
        <p:spPr>
          <a:xfrm>
            <a:off x="731520" y="2679192"/>
            <a:ext cx="4937760" cy="475488"/>
          </a:xfrm>
          <a:prstGeom prst="roundRect">
            <a:avLst>
              <a:gd name="adj" fmla="val 9615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2" name="code_392"/>
          <p:cNvSpPr txBox="1"/>
          <p:nvPr/>
        </p:nvSpPr>
        <p:spPr>
          <a:xfrm>
            <a:off x="841248" y="2734056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np.exp · overflow</a:t>
            </a:r>
            <a:endParaRPr lang="en-US" sz="1200" dirty="0"/>
          </a:p>
        </p:txBody>
      </p:sp>
      <p:sp>
        <p:nvSpPr>
          <p:cNvPr id="13" name="text_393"/>
          <p:cNvSpPr txBox="1"/>
          <p:nvPr/>
        </p:nvSpPr>
        <p:spPr>
          <a:xfrm>
            <a:off x="5760720" y="267919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_394"/>
          <p:cNvSpPr txBox="1"/>
          <p:nvPr/>
        </p:nvSpPr>
        <p:spPr>
          <a:xfrm>
            <a:off x="6446520" y="267919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Softmax 와 최댓값 빼기 수치 안정화</a:t>
            </a:r>
            <a:endParaRPr lang="en-US" sz="1350" dirty="0"/>
          </a:p>
        </p:txBody>
      </p:sp>
      <p:sp>
        <p:nvSpPr>
          <p:cNvPr id="15" name="codebg_395"/>
          <p:cNvSpPr/>
          <p:nvPr/>
        </p:nvSpPr>
        <p:spPr>
          <a:xfrm>
            <a:off x="731520" y="3300984"/>
            <a:ext cx="4937760" cy="475488"/>
          </a:xfrm>
          <a:prstGeom prst="roundRect">
            <a:avLst>
              <a:gd name="adj" fmla="val 9615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6" name="code_396"/>
          <p:cNvSpPr txBox="1"/>
          <p:nvPr/>
        </p:nvSpPr>
        <p:spPr>
          <a:xfrm>
            <a:off x="841248" y="3355848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np.log · -log p 그래프</a:t>
            </a:r>
            <a:endParaRPr lang="en-US" sz="1200" dirty="0"/>
          </a:p>
        </p:txBody>
      </p:sp>
      <p:sp>
        <p:nvSpPr>
          <p:cNvPr id="17" name="text_397"/>
          <p:cNvSpPr txBox="1"/>
          <p:nvPr/>
        </p:nvSpPr>
        <p:spPr>
          <a:xfrm>
            <a:off x="5760720" y="330098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_398"/>
          <p:cNvSpPr txBox="1"/>
          <p:nvPr/>
        </p:nvSpPr>
        <p:spPr>
          <a:xfrm>
            <a:off x="6446520" y="330098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Cross-Entropy 손실</a:t>
            </a:r>
            <a:endParaRPr lang="en-US" sz="1350" dirty="0"/>
          </a:p>
        </p:txBody>
      </p:sp>
      <p:sp>
        <p:nvSpPr>
          <p:cNvPr id="19" name="codebg_399"/>
          <p:cNvSpPr/>
          <p:nvPr/>
        </p:nvSpPr>
        <p:spPr>
          <a:xfrm>
            <a:off x="731520" y="3922776"/>
            <a:ext cx="4937760" cy="475488"/>
          </a:xfrm>
          <a:prstGeom prst="roundRect">
            <a:avLst>
              <a:gd name="adj" fmla="val 9615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code_400"/>
          <p:cNvSpPr txBox="1"/>
          <p:nvPr/>
        </p:nvSpPr>
        <p:spPr>
          <a:xfrm>
            <a:off x="841248" y="397764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numerical_gradient</a:t>
            </a:r>
            <a:endParaRPr lang="en-US" sz="1200" dirty="0"/>
          </a:p>
        </p:txBody>
      </p:sp>
      <p:sp>
        <p:nvSpPr>
          <p:cNvPr id="21" name="text_401"/>
          <p:cNvSpPr txBox="1"/>
          <p:nvPr/>
        </p:nvSpPr>
        <p:spPr>
          <a:xfrm>
            <a:off x="5760720" y="392277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_402"/>
          <p:cNvSpPr txBox="1"/>
          <p:nvPr/>
        </p:nvSpPr>
        <p:spPr>
          <a:xfrm>
            <a:off x="6446520" y="392277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로지스틱 회귀를 수치 미분으로 학습</a:t>
            </a:r>
            <a:endParaRPr lang="en-US" sz="1350" dirty="0"/>
          </a:p>
        </p:txBody>
      </p:sp>
      <p:sp>
        <p:nvSpPr>
          <p:cNvPr id="23" name="codebg_403"/>
          <p:cNvSpPr/>
          <p:nvPr/>
        </p:nvSpPr>
        <p:spPr>
          <a:xfrm>
            <a:off x="731520" y="4544568"/>
            <a:ext cx="4937760" cy="475488"/>
          </a:xfrm>
          <a:prstGeom prst="roundRect">
            <a:avLst>
              <a:gd name="adj" fmla="val 9615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4" name="code_404"/>
          <p:cNvSpPr txBox="1"/>
          <p:nvPr/>
        </p:nvSpPr>
        <p:spPr>
          <a:xfrm>
            <a:off x="841248" y="4599432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경사하강 · 학습률</a:t>
            </a:r>
            <a:endParaRPr lang="en-US" sz="1200" dirty="0"/>
          </a:p>
        </p:txBody>
      </p:sp>
      <p:sp>
        <p:nvSpPr>
          <p:cNvPr id="25" name="text_405"/>
          <p:cNvSpPr txBox="1"/>
          <p:nvPr/>
        </p:nvSpPr>
        <p:spPr>
          <a:xfrm>
            <a:off x="5760720" y="454456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text_406"/>
          <p:cNvSpPr txBox="1"/>
          <p:nvPr/>
        </p:nvSpPr>
        <p:spPr>
          <a:xfrm>
            <a:off x="6446520" y="454456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선형 회귀 · 로지스틱 회귀 학습 루프</a:t>
            </a:r>
            <a:endParaRPr lang="en-US" sz="1350" dirty="0"/>
          </a:p>
        </p:txBody>
      </p:sp>
      <p:sp>
        <p:nvSpPr>
          <p:cNvPr id="27" name="text_407"/>
          <p:cNvSpPr txBox="1"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퍼셉트론 → XOR → 활성화 함수 → 행렬 순전파 → Softmax · Cross-Entropy → 로지스틱 회귀</a:t>
            </a:r>
            <a:endParaRPr lang="en-US" sz="1400" dirty="0"/>
          </a:p>
        </p:txBody>
      </p:sp>
      <p:sp>
        <p:nvSpPr>
          <p:cNvPr id="28" name="text_408"/>
          <p:cNvSpPr txBox="1"/>
          <p:nvPr/>
        </p:nvSpPr>
        <p:spPr>
          <a:xfrm>
            <a:off x="457200" y="5943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제출: 미니 프로젝트 노트북 (채점 셀 결과 포함) · 워크시트 오답 정리 캡처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Campus Dark">
  <a:themeElements>
    <a:clrScheme name="AI Campus Dark">
      <a:dk1>
        <a:srgbClr val="DBE4F0"/>
      </a:dk1>
      <a:lt1>
        <a:srgbClr val="0B1220"/>
      </a:lt1>
      <a:dk2>
        <a:srgbClr val="8A9BB8"/>
      </a:dk2>
      <a:lt2>
        <a:srgbClr val="111A2E"/>
      </a:lt2>
      <a:accent1>
        <a:srgbClr val="F5B942"/>
      </a:accent1>
      <a:accent2>
        <a:srgbClr val="2DD4BF"/>
      </a:accent2>
      <a:accent3>
        <a:srgbClr val="60A5FA"/>
      </a:accent3>
      <a:accent4>
        <a:srgbClr val="4ADE80"/>
      </a:accent4>
      <a:accent5>
        <a:srgbClr val="F87171"/>
      </a:accent5>
      <a:accent6>
        <a:srgbClr val="C084FC"/>
      </a:accent6>
      <a:hlink>
        <a:srgbClr val="60A5FA"/>
      </a:hlink>
      <a:folHlink>
        <a:srgbClr val="C084FC"/>
      </a:folHlink>
    </a:clrScheme>
    <a:fontScheme name="AI Campus Dark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Day 1 — Python · NumPy와 AI 수학</dc:title>
  <dc:subject>PptxGenJS Presentation</dc:subject>
  <dc:creator>김정인</dc:creator>
  <cp:lastModifiedBy>김정인</cp:lastModifiedBy>
  <cp:revision>1</cp:revision>
  <dcterms:created xsi:type="dcterms:W3CDTF">2026-10-17T16:10:07Z</dcterms:created>
  <dcterms:modified xsi:type="dcterms:W3CDTF">2026-10-17T16:10:07Z</dcterms:modified>
</cp:coreProperties>
</file>